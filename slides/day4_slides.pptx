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52539b26ff420c" /><Relationship Type="http://schemas.openxmlformats.org/officeDocument/2006/relationships/extended-properties" Target="/docProps/app.xml" Id="R38b1bb3444b94c5e" /><Relationship Type="http://schemas.openxmlformats.org/officeDocument/2006/relationships/officeDocument" Target="/ppt/presentation.xml" Id="R1e5863b4c7e945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fc36228ed946ce"/>
  </p:sldMasterIdLst>
  <p:notesMasterIdLst>
    <p:notesMasterId xmlns:r="http://schemas.openxmlformats.org/officeDocument/2006/relationships" r:id="R4a4999bdb8c642f7"/>
  </p:notesMasterIdLst>
  <p:sldIdLst>
    <p:sldId xmlns:r="http://schemas.openxmlformats.org/officeDocument/2006/relationships" id="256" r:id="R90e0668f10b94fd5"/>
    <p:sldId xmlns:r="http://schemas.openxmlformats.org/officeDocument/2006/relationships" id="257" r:id="R51c1d0c0cb504b5b"/>
    <p:sldId xmlns:r="http://schemas.openxmlformats.org/officeDocument/2006/relationships" id="258" r:id="R73d7182165fa4ad6"/>
    <p:sldId xmlns:r="http://schemas.openxmlformats.org/officeDocument/2006/relationships" id="259" r:id="R9770ec7ba89148c2"/>
    <p:sldId xmlns:r="http://schemas.openxmlformats.org/officeDocument/2006/relationships" id="260" r:id="R292b9c200a1d4c25"/>
    <p:sldId xmlns:r="http://schemas.openxmlformats.org/officeDocument/2006/relationships" id="261" r:id="R0a2a7798129d416c"/>
    <p:sldId xmlns:r="http://schemas.openxmlformats.org/officeDocument/2006/relationships" id="262" r:id="Rb026a00b96774aab"/>
    <p:sldId xmlns:r="http://schemas.openxmlformats.org/officeDocument/2006/relationships" id="263" r:id="R2c62ba2c5fe34e9a"/>
    <p:sldId xmlns:r="http://schemas.openxmlformats.org/officeDocument/2006/relationships" id="264" r:id="R71aa5a321ba44d9b"/>
    <p:sldId xmlns:r="http://schemas.openxmlformats.org/officeDocument/2006/relationships" id="265" r:id="R1b1e634f4d1b4efe"/>
    <p:sldId xmlns:r="http://schemas.openxmlformats.org/officeDocument/2006/relationships" id="266" r:id="R11c46986e67949b4"/>
    <p:sldId xmlns:r="http://schemas.openxmlformats.org/officeDocument/2006/relationships" id="267" r:id="R70bbcf2d9dbb4abb"/>
    <p:sldId xmlns:r="http://schemas.openxmlformats.org/officeDocument/2006/relationships" id="268" r:id="Rd949fdf9ae6f4b20"/>
    <p:sldId xmlns:r="http://schemas.openxmlformats.org/officeDocument/2006/relationships" id="269" r:id="Rf8d820cdd00f40ea"/>
    <p:sldId xmlns:r="http://schemas.openxmlformats.org/officeDocument/2006/relationships" id="270" r:id="Re4ef3b95e0b34af1"/>
    <p:sldId xmlns:r="http://schemas.openxmlformats.org/officeDocument/2006/relationships" id="271" r:id="R55572760a4d14812"/>
    <p:sldId xmlns:r="http://schemas.openxmlformats.org/officeDocument/2006/relationships" id="272" r:id="R57b652675e184aeb"/>
    <p:sldId xmlns:r="http://schemas.openxmlformats.org/officeDocument/2006/relationships" id="273" r:id="R93af9803531a4e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06a59dab7e4b8d" /><Relationship Type="http://schemas.openxmlformats.org/officeDocument/2006/relationships/slideMaster" Target="/ppt/slideMasters/slideMaster1.xml" Id="R7efc36228ed946ce" /><Relationship Type="http://schemas.openxmlformats.org/officeDocument/2006/relationships/notesMaster" Target="/ppt/notesMasters/notesMaster1.xml" Id="R4a4999bdb8c642f7" /><Relationship Type="http://schemas.openxmlformats.org/officeDocument/2006/relationships/presProps" Target="/ppt/presProps.xml" Id="R9abb37acd07247b7" /><Relationship Type="http://schemas.openxmlformats.org/officeDocument/2006/relationships/viewProps" Target="/ppt/viewProps.xml" Id="Rdfe5a4bdb2954ffd" /><Relationship Type="http://schemas.openxmlformats.org/officeDocument/2006/relationships/tableStyles" Target="/ppt/tableStyles.xml" Id="R53babfda7adf4ff8" /><Relationship Type="http://schemas.openxmlformats.org/officeDocument/2006/relationships/slide" Target="/ppt/slides/slide1.xml" Id="R90e0668f10b94fd5" /><Relationship Type="http://schemas.openxmlformats.org/officeDocument/2006/relationships/slide" Target="/ppt/slides/slide2.xml" Id="R51c1d0c0cb504b5b" /><Relationship Type="http://schemas.openxmlformats.org/officeDocument/2006/relationships/slide" Target="/ppt/slides/slide3.xml" Id="R73d7182165fa4ad6" /><Relationship Type="http://schemas.openxmlformats.org/officeDocument/2006/relationships/slide" Target="/ppt/slides/slide4.xml" Id="R9770ec7ba89148c2" /><Relationship Type="http://schemas.openxmlformats.org/officeDocument/2006/relationships/slide" Target="/ppt/slides/slide5.xml" Id="R292b9c200a1d4c25" /><Relationship Type="http://schemas.openxmlformats.org/officeDocument/2006/relationships/slide" Target="/ppt/slides/slide6.xml" Id="R0a2a7798129d416c" /><Relationship Type="http://schemas.openxmlformats.org/officeDocument/2006/relationships/slide" Target="/ppt/slides/slide7.xml" Id="Rb026a00b96774aab" /><Relationship Type="http://schemas.openxmlformats.org/officeDocument/2006/relationships/slide" Target="/ppt/slides/slide8.xml" Id="R2c62ba2c5fe34e9a" /><Relationship Type="http://schemas.openxmlformats.org/officeDocument/2006/relationships/slide" Target="/ppt/slides/slide9.xml" Id="R71aa5a321ba44d9b" /><Relationship Type="http://schemas.openxmlformats.org/officeDocument/2006/relationships/slide" Target="/ppt/slides/slide10.xml" Id="R1b1e634f4d1b4efe" /><Relationship Type="http://schemas.openxmlformats.org/officeDocument/2006/relationships/slide" Target="/ppt/slides/slide11.xml" Id="R11c46986e67949b4" /><Relationship Type="http://schemas.openxmlformats.org/officeDocument/2006/relationships/slide" Target="/ppt/slides/slide12.xml" Id="R70bbcf2d9dbb4abb" /><Relationship Type="http://schemas.openxmlformats.org/officeDocument/2006/relationships/slide" Target="/ppt/slides/slide13.xml" Id="Rd949fdf9ae6f4b20" /><Relationship Type="http://schemas.openxmlformats.org/officeDocument/2006/relationships/slide" Target="/ppt/slides/slide14.xml" Id="Rf8d820cdd00f40ea" /><Relationship Type="http://schemas.openxmlformats.org/officeDocument/2006/relationships/slide" Target="/ppt/slides/slide15.xml" Id="Re4ef3b95e0b34af1" /><Relationship Type="http://schemas.openxmlformats.org/officeDocument/2006/relationships/slide" Target="/ppt/slides/slide16.xml" Id="R55572760a4d14812" /><Relationship Type="http://schemas.openxmlformats.org/officeDocument/2006/relationships/slide" Target="/ppt/slides/slide17.xml" Id="R57b652675e184aeb" /><Relationship Type="http://schemas.openxmlformats.org/officeDocument/2006/relationships/slide" Target="/ppt/slides/slide18.xml" Id="R93af9803531a4e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1380067e3e4a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f776321fef4339" /><Relationship Type="http://schemas.openxmlformats.org/officeDocument/2006/relationships/notesMaster" Target="/ppt/notesMasters/notesMaster1.xml" Id="R3935b468b2f44a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d120eaf2784421" /><Relationship Type="http://schemas.openxmlformats.org/officeDocument/2006/relationships/notesMaster" Target="/ppt/notesMasters/notesMaster1.xml" Id="R5914626aeb0442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0fe10fe33a40b0" /><Relationship Type="http://schemas.openxmlformats.org/officeDocument/2006/relationships/notesMaster" Target="/ppt/notesMasters/notesMaster1.xml" Id="R38a5dc47676046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47a47d98cc424f" /><Relationship Type="http://schemas.openxmlformats.org/officeDocument/2006/relationships/notesMaster" Target="/ppt/notesMasters/notesMaster1.xml" Id="R55de0f646a2249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13f23a3dff413b" /><Relationship Type="http://schemas.openxmlformats.org/officeDocument/2006/relationships/notesMaster" Target="/ppt/notesMasters/notesMaster1.xml" Id="Rb1632b4da2cf4f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ab40bd3dbb4507" /><Relationship Type="http://schemas.openxmlformats.org/officeDocument/2006/relationships/notesMaster" Target="/ppt/notesMasters/notesMaster1.xml" Id="Re60198f233234f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75e00409244405" /><Relationship Type="http://schemas.openxmlformats.org/officeDocument/2006/relationships/notesMaster" Target="/ppt/notesMasters/notesMaster1.xml" Id="R5b2bd870a6904a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d8691b10fb4d88" /><Relationship Type="http://schemas.openxmlformats.org/officeDocument/2006/relationships/notesMaster" Target="/ppt/notesMasters/notesMaster1.xml" Id="R46a1d7d2ae0644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bd36898d93474c" /><Relationship Type="http://schemas.openxmlformats.org/officeDocument/2006/relationships/notesMaster" Target="/ppt/notesMasters/notesMaster1.xml" Id="R7f8752d52cc44e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3b14a776dc42a5" /><Relationship Type="http://schemas.openxmlformats.org/officeDocument/2006/relationships/notesMaster" Target="/ppt/notesMasters/notesMaster1.xml" Id="R567854fbdb374b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de015b48c8e4444" /><Relationship Type="http://schemas.openxmlformats.org/officeDocument/2006/relationships/notesMaster" Target="/ppt/notesMasters/notesMaster1.xml" Id="Rc74e386e2a3444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f6db8f26e54b94" /><Relationship Type="http://schemas.openxmlformats.org/officeDocument/2006/relationships/notesMaster" Target="/ppt/notesMasters/notesMaster1.xml" Id="R458841dfd852471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e052e604064834" /><Relationship Type="http://schemas.openxmlformats.org/officeDocument/2006/relationships/notesMaster" Target="/ppt/notesMasters/notesMaster1.xml" Id="Rd624f19d632e4d9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5634936555f4a7d" /><Relationship Type="http://schemas.openxmlformats.org/officeDocument/2006/relationships/notesMaster" Target="/ppt/notesMasters/notesMaster1.xml" Id="Ra2d2f577b61b4a3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06ca37e77954330" /><Relationship Type="http://schemas.openxmlformats.org/officeDocument/2006/relationships/notesMaster" Target="/ppt/notesMasters/notesMaster1.xml" Id="Ra71be3b4260d435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f9be16f13c84a73" /><Relationship Type="http://schemas.openxmlformats.org/officeDocument/2006/relationships/notesMaster" Target="/ppt/notesMasters/notesMaster1.xml" Id="R43e5d219289a450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ec0ef68ff2d4a4d" /><Relationship Type="http://schemas.openxmlformats.org/officeDocument/2006/relationships/notesMaster" Target="/ppt/notesMasters/notesMaster1.xml" Id="Rc718648b52cb42a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88751eb493545ff" /><Relationship Type="http://schemas.openxmlformats.org/officeDocument/2006/relationships/notesMaster" Target="/ppt/notesMasters/notesMaster1.xml" Id="R66242a71239047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我會先跟你們說，今天不是只跑一個模型，而是把三份 notebook 串成完整分析流程。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我們先把影片放到固定位置，再確認球模型真的抓到球；接著鎖定投籃者與人體骨架，最後才判定投球事件、release frame 和 2D 起飛角。每一個數字都要回到畫面做人工確認。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day4/d4_01_ball_detector_bytetrack_preview.ipynb</a:t>
            </a:r>
            <a:endParaRPr/>
          </a:p>
          <a:p xmlns:a="http://schemas.openxmlformats.org/drawingml/2006/main">
            <a:r>
              <a:t>- day4/d4_03_ball_tracking_and_release_point_lab.ipynb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我會把三份 notebook 的分工先講清楚。Day 4-01 回答「球看不看得到、追不追得起來」；Day 4-02 回答「投籃者是誰、關節在哪裡」；Day 4-03 才回答「哪一段是投籃、球何時離手、起飛方向是多少」。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請你們注意，後一份 notebook 都依賴前一份輸出，所以影片路徑和 frame 範圍必須一致。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day4/d4_01_ball_detector_bytetrack_preview.ipynb</a:t>
            </a:r>
            <a:endParaRPr/>
          </a:p>
          <a:p xmlns:a="http://schemas.openxmlformats.org/drawingml/2006/main">
            <a:r>
              <a:t>- day4/d4_02_yolo_pose_and_shot_lab.ipynb</a:t>
            </a:r>
            <a:endParaRPr/>
          </a:p>
          <a:p xmlns:a="http://schemas.openxmlformats.org/drawingml/2006/main">
            <a:r>
              <a:t>- day4/d4_03_ball_tracking_and_release_point_lab.ipynb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這一頁我會直接帶你們找到資料夾。推薦做法是在 Google Drive 進入「我的雲端硬碟／basketball_hackathon／course／assets／raw」，把影片拖進去，再把檔名填到 VIDEO_FILENAME。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如果檔案還在電腦，就把 USE_BROWSER_UPLOAD 改成 True。這個上傳格會先把影片寫進 Drive，再轉成 student_video.mp4，所以 Colab 斷線後檔案仍在。兩個設定都不改時，會使用課程內建影片。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day4/d4_01_ball_detector_bytetrack_preview.ipynb</a:t>
            </a:r>
            <a:endParaRPr/>
          </a:p>
          <a:p xmlns:a="http://schemas.openxmlformats.org/drawingml/2006/main">
            <a:r>
              <a:t>- README.md#學生影片上傳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我會先把模型角色分開，避免你們看到三個權重就混在一起。球模型負責物件，shot 模型負責投籃候選和人物提示，pose 模型負責人體關節。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ByteTrack 不是另一個球模型，它只把前後 frame 的偵測做關聯。release frame 和 2D 起飛角則是我們在模型輸出之上設計的分析規則。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assets/README.md#Day-4-投籃分析模型</a:t>
            </a:r>
            <a:endParaRPr/>
          </a:p>
          <a:p xmlns:a="http://schemas.openxmlformats.org/drawingml/2006/main">
            <a:r>
              <a:t>- src/shot_event_utils.py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 4-01 我不會一開始就談事件角度，先把最基本的球偵測檢查好。五張單幀圖只看 detector，預覽影片才看 ByteTrack。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如果單幀就沒有球框，調 tracker 沒有用；如果單幀有框但影片中的 ID 一直重置，才是跨 frame 關聯的問題。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day4/d4_01_ball_detector_bytetrack_preview.ipynb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第一個核心格只有兩個學生設定：USE_BROWSER_UPLOAD 和 VIDEO_FILENAME。第二個格才載入球模型，並把 confidence、推論尺寸和保留類別集中在一起。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接著我們抽五個 frame。每一張只留最高 confidence 的球候選，是為了快速確認框的位置；最後的 ByteTrack 格才把逐 frame 偵測接起來並輸出 JSON。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day4/d4_01_ball_detector_bytetrack_preview.ipynb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請你們先看右圖的粉紅色框。這裡真正重要的是框落在球上，而不是 0.80 這個數字本身。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如果五張抽樣圖都沒有球，先記錄 frame、球大小和模糊程度；如果單幀有球，才進入 ByteTrack 預覽，看 ID 是否連續。這個順序能快速分辨問題在哪一層。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assets/results/d4_01_frame_090_bgr_ball_model.png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 4-02 同時使用 shot 和 pose 兩個模型。shot 模型幫我們找到投籃候選和人物位置，pose 模型則提供人體 keypoints。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最後一定要看 overlay：骨架如果跳到其他人，後面的角度再完整也不能解讀。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day4/d4_02_yolo_pose_and_shot_lab.ipynb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extract_yolo_shot_pose_sequence 是這一節的核心。它逐 frame 整理 shot score、人物框、左右 keypoints 和角度。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CSV 會保留左右兩側；簡化欄位只選一側顯示。計算角度的概念就是三個點形成的夾角，但 2D keypoint 會受遮擋和側身影響，所以曲線異常要回到影片確認。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day4/d4_02_yolo_pose_and_shot_lab.ipynb</a:t>
            </a:r>
            <a:endParaRPr/>
          </a:p>
          <a:p xmlns:a="http://schemas.openxmlformats.org/drawingml/2006/main">
            <a:r>
              <a:t>- src/shot_event_utils.py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這一頁要特別澄清粉紅色標記。wrist 代表 pose 模型找到的手腕，不是籃球，也沒有畫歷史線。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我會請你們看白色骨架是否一直跟著左側投籃者，並確認手腕點落在手上。只要人物跳錯，後面的事件分析就失去基礎。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.tmp/presentation-day4/d4_02_identity_fix_frame38.png</a:t>
            </a:r>
            <a:endParaRPr/>
          </a:p>
          <a:p xmlns:a="http://schemas.openxmlformats.org/drawingml/2006/main">
            <a:r>
              <a:t>- src/shooting_utils.py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Day 4-03 會重新執行球模型，而且保留每個 frame 的所有球候選。原因是畫面可能同時有多顆球，最高 confidence 不一定屬於這次投籃。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我們會從投籃者手腕附近開始選球，再用移動連續性接成每個事件自己的軌跡。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day4/d4_03_ball_tracking_and_release_point_lab.ipynb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請你們把 event 和 release 分開。事件區段是 shot 模型告訴我們「這附近像投籃」；release 則是球和手腕關係的轉折。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ball_conf 設得比較低，是為了保留小球與模糊球候選，但候選還要通過手腕距離、位置連續性和移動方向，才會成為 event ball。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src/shot_event_utils.py</a:t>
            </a:r>
            <a:endParaRPr/>
          </a:p>
          <a:p xmlns:a="http://schemas.openxmlformats.org/drawingml/2006/main">
            <a:r>
              <a:t>- day4/d4_03_ball_tracking_and_release_point_lab.ipynb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右圖把 shot score、事件區段和角度時間序列放在一起。release 不一定等於 shot score 最高點，因為兩者回答不同問題。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起飛角不是用單一 frame 算的，而是使用 release 後最初幾個球位置擬合方向。這仍然是 2D 影像角度，因此只適合固定機位下做相對比較。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assets/results/d4_03_shot_angle_plot.png</a:t>
            </a:r>
            <a:endParaRPr/>
          </a:p>
          <a:p xmlns:a="http://schemas.openxmlformats.org/drawingml/2006/main">
            <a:r>
              <a:t>- src/shot_event_utils.py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這支範例影片偵測到兩個投籃事件。Event 1 的 release 在 frame 43，2D 起飛角約 47.74 度；Event 2 的 release 在 frame 149，約 41.30 度。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我不會直接用兩個角度評價動作，先看下一頁的 release 檢查圖，確認紅色 event ball 真的從手附近離開。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assets/results/d4_03_shot_events.csv</a:t>
            </a:r>
            <a:endParaRPr/>
          </a:p>
          <a:p xmlns:a="http://schemas.openxmlformats.org/drawingml/2006/main">
            <a:r>
              <a:t>- assets/results/d4_03_shot_event_check.png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右圖上排是 Event 1，下排是 Event 2。每排從左到右依序是 release 前、當下和之後。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我會請你們追著紅色 event ball 看：它要從手附近出現，接著往實際球路移動。中間畫面的綠色箭頭是用初段軌跡估計的起飛方向。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assets/results/d4_03_shot_event_check.png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遇到結果不合理時，我會請你們照這個順序查，不要直接調最後的角度公式。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先確認影片，再確認 detector；接著看 pose 是否鎖定同一個人；然後看 event ball 是否接到正確球；最後才看 release。這樣每次只處理一層，最容易找到原因。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day4/d4_01_ball_detector_bytetrack_preview.ipynb</a:t>
            </a:r>
            <a:endParaRPr/>
          </a:p>
          <a:p xmlns:a="http://schemas.openxmlformats.org/drawingml/2006/main">
            <a:r>
              <a:t>- day4/d4_03_ball_tracking_and_release_point_lab.ipynb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這一頁可以當成上課操作清單。先跑 init_colab，再依序跑三份 notebook，不要跳著跑。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每完成一份，我都會停下來做一次人工檢查。所有結果都寫進 Google Drive 的 course/assets/results，所以即使 Colab runtime 重啟，輸出仍然保留。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init_colab.ipynb</a:t>
            </a:r>
            <a:endParaRPr/>
          </a:p>
          <a:p xmlns:a="http://schemas.openxmlformats.org/drawingml/2006/main">
            <a:r>
              <a:t>- src/course_setup.py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最後我會請你們用一句話回顧：我們不是看到一個角度就結束，而是從影片、球框、骨架、事件球到 release 一層一層確認。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能把每一層的輸入、輸出和限制講清楚，這份分析才真的能被別人理解和重跑。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day4/d4_01_ball_detector_bytetrack_preview.ipynb</a:t>
            </a:r>
            <a:endParaRPr/>
          </a:p>
          <a:p xmlns:a="http://schemas.openxmlformats.org/drawingml/2006/main">
            <a:r>
              <a:t>- day4/d4_02_yolo_pose_and_shot_lab.ipynb</a:t>
            </a:r>
            <a:endParaRPr/>
          </a:p>
          <a:p xmlns:a="http://schemas.openxmlformats.org/drawingml/2006/main">
            <a:r>
              <a:t>- day4/d4_03_ball_tracking_and_release_point_lab.ipynb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033cb32c3e486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74246943954147" /><Relationship Type="http://schemas.openxmlformats.org/officeDocument/2006/relationships/slideLayout" Target="/ppt/slideLayouts/slideLayout1.xml" Id="R6d23e176a0cb498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23e176a0cb498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0ef635a1944ce" /><Relationship Type="http://schemas.openxmlformats.org/officeDocument/2006/relationships/image" Target="/ppt/media/image.png" Id="R02c26420b6f44e7b" /><Relationship Type="http://schemas.openxmlformats.org/officeDocument/2006/relationships/notesSlide" Target="/ppt/notesSlides/notesSlide1.xml" Id="R4401ce1fbc6543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ccfa8a258421a" /><Relationship Type="http://schemas.openxmlformats.org/officeDocument/2006/relationships/image" Target="/ppt/media/image2.png" Id="Rd561e8cc4696492a" /><Relationship Type="http://schemas.openxmlformats.org/officeDocument/2006/relationships/image" Target="/ppt/media/image3.png" Id="R9fec37c2f5c24aaa" /><Relationship Type="http://schemas.openxmlformats.org/officeDocument/2006/relationships/notesSlide" Target="/ppt/notesSlides/notesSlide2.xml" Id="Rb6c45de93fbf4f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8f26e1d354557" /><Relationship Type="http://schemas.openxmlformats.org/officeDocument/2006/relationships/image" Target="/ppt/media/image4.png" Id="R0a683b4314f940c2" /><Relationship Type="http://schemas.openxmlformats.org/officeDocument/2006/relationships/image" Target="/ppt/media/image5.png" Id="Rfbfae0811fb44b75" /><Relationship Type="http://schemas.openxmlformats.org/officeDocument/2006/relationships/image" Target="/ppt/media/image6.png" Id="Rd9018b1ccdc248cb" /><Relationship Type="http://schemas.openxmlformats.org/officeDocument/2006/relationships/image" Target="/ppt/media/image7.png" Id="R63a31cb35377412f" /><Relationship Type="http://schemas.openxmlformats.org/officeDocument/2006/relationships/notesSlide" Target="/ppt/notesSlides/notesSlide3.xml" Id="R60257e38d7164d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4c069f1774e7c" /><Relationship Type="http://schemas.openxmlformats.org/officeDocument/2006/relationships/image" Target="/ppt/media/image8.png" Id="R29ac06bccf544fd8" /><Relationship Type="http://schemas.openxmlformats.org/officeDocument/2006/relationships/image" Target="/ppt/media/image9.png" Id="Rfed6fc3098c54039" /><Relationship Type="http://schemas.openxmlformats.org/officeDocument/2006/relationships/image" Target="/ppt/media/image10.png" Id="Rc32d2edea460440d" /><Relationship Type="http://schemas.openxmlformats.org/officeDocument/2006/relationships/image" Target="/ppt/media/image11.png" Id="Rf31c4ed790014a1a" /><Relationship Type="http://schemas.openxmlformats.org/officeDocument/2006/relationships/image" Target="/ppt/media/image12.png" Id="Ra75870299bb4410e" /><Relationship Type="http://schemas.openxmlformats.org/officeDocument/2006/relationships/image" Target="/ppt/media/image13.png" Id="Rf8cf4dcdf6ed4de4" /><Relationship Type="http://schemas.openxmlformats.org/officeDocument/2006/relationships/image" Target="/ppt/media/image14.png" Id="R5c9c6175155547e4" /><Relationship Type="http://schemas.openxmlformats.org/officeDocument/2006/relationships/notesSlide" Target="/ppt/notesSlides/notesSlide4.xml" Id="R55879381ba344d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9a8a1661c444f" /><Relationship Type="http://schemas.openxmlformats.org/officeDocument/2006/relationships/image" Target="/ppt/media/image4.png" Id="R819c9b2dc2e34260" /><Relationship Type="http://schemas.openxmlformats.org/officeDocument/2006/relationships/image" Target="/ppt/media/image5.png" Id="R499be5a6e9614867" /><Relationship Type="http://schemas.openxmlformats.org/officeDocument/2006/relationships/image" Target="/ppt/media/image6.png" Id="R7e7bb04e427f4002" /><Relationship Type="http://schemas.openxmlformats.org/officeDocument/2006/relationships/image" Target="/ppt/media/image7.png" Id="Rf9f0aaebd06646fb" /><Relationship Type="http://schemas.openxmlformats.org/officeDocument/2006/relationships/notesSlide" Target="/ppt/notesSlides/notesSlide5.xml" Id="R4944d0fb7da743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c6c37c2d34f27" /><Relationship Type="http://schemas.openxmlformats.org/officeDocument/2006/relationships/image" Target="/ppt/media/image4.png" Id="R2d8eca4fc8e245c6" /><Relationship Type="http://schemas.openxmlformats.org/officeDocument/2006/relationships/image" Target="/ppt/media/image5.png" Id="Rd8a5d72e94704875" /><Relationship Type="http://schemas.openxmlformats.org/officeDocument/2006/relationships/image" Target="/ppt/media/image6.png" Id="Rb0bcd93fbe3d48e3" /><Relationship Type="http://schemas.openxmlformats.org/officeDocument/2006/relationships/image" Target="/ppt/media/image7.png" Id="R0ed6209fe5634e4e" /><Relationship Type="http://schemas.openxmlformats.org/officeDocument/2006/relationships/notesSlide" Target="/ppt/notesSlides/notesSlide6.xml" Id="Rd902a7874bd249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81fb6b9304137" /><Relationship Type="http://schemas.openxmlformats.org/officeDocument/2006/relationships/image" Target="/ppt/media/image15.png" Id="R52abcb6e4dad47f6" /><Relationship Type="http://schemas.openxmlformats.org/officeDocument/2006/relationships/image" Target="/ppt/media/image16.png" Id="Rf0cfcee3988f4d1c" /><Relationship Type="http://schemas.openxmlformats.org/officeDocument/2006/relationships/notesSlide" Target="/ppt/notesSlides/notesSlide7.xml" Id="Rcf9919a6681d41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c2078a95f14a6b" /><Relationship Type="http://schemas.openxmlformats.org/officeDocument/2006/relationships/image" Target="/ppt/media/image17.png" Id="R2080d3935d364655" /><Relationship Type="http://schemas.openxmlformats.org/officeDocument/2006/relationships/image" Target="/ppt/media/image18.png" Id="R0dfb467217dc4686" /><Relationship Type="http://schemas.openxmlformats.org/officeDocument/2006/relationships/image" Target="/ppt/media/image19.png" Id="R2995c7b04c204e70" /><Relationship Type="http://schemas.openxmlformats.org/officeDocument/2006/relationships/image" Target="/ppt/media/image20.png" Id="R90f9f939deff4c8b" /><Relationship Type="http://schemas.openxmlformats.org/officeDocument/2006/relationships/notesSlide" Target="/ppt/notesSlides/notesSlide8.xml" Id="R51c593f79596432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d7d030f734b52" /><Relationship Type="http://schemas.openxmlformats.org/officeDocument/2006/relationships/image" Target="/ppt/media/image4.png" Id="Rcdd460c3c6f24f53" /><Relationship Type="http://schemas.openxmlformats.org/officeDocument/2006/relationships/image" Target="/ppt/media/image5.png" Id="Rbac025a183a34e3b" /><Relationship Type="http://schemas.openxmlformats.org/officeDocument/2006/relationships/image" Target="/ppt/media/image6.png" Id="R6a187cc43cce47d6" /><Relationship Type="http://schemas.openxmlformats.org/officeDocument/2006/relationships/image" Target="/ppt/media/image7.png" Id="R6891104f170e4e41" /><Relationship Type="http://schemas.openxmlformats.org/officeDocument/2006/relationships/notesSlide" Target="/ppt/notesSlides/notesSlide9.xml" Id="R02d406476e1d476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5cf89bdfd434d" /><Relationship Type="http://schemas.openxmlformats.org/officeDocument/2006/relationships/image" Target="/ppt/media/image15.png" Id="Rac408f0802fc46f5" /><Relationship Type="http://schemas.openxmlformats.org/officeDocument/2006/relationships/image" Target="/ppt/media/image21.png" Id="R6390e2d8dc3142dd" /><Relationship Type="http://schemas.openxmlformats.org/officeDocument/2006/relationships/notesSlide" Target="/ppt/notesSlides/notesSlide10.xml" Id="Rda9983a5b44949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f5332921145d0" /><Relationship Type="http://schemas.openxmlformats.org/officeDocument/2006/relationships/image" Target="/ppt/media/image22.png" Id="R4f0d9602816744a0" /><Relationship Type="http://schemas.openxmlformats.org/officeDocument/2006/relationships/image" Target="/ppt/media/image23.png" Id="R1140d99c61914c7c" /><Relationship Type="http://schemas.openxmlformats.org/officeDocument/2006/relationships/image" Target="/ppt/media/image24.png" Id="R37da0268bfa2432a" /><Relationship Type="http://schemas.openxmlformats.org/officeDocument/2006/relationships/image" Target="/ppt/media/image25.png" Id="Rb77393c5e0e2409d" /><Relationship Type="http://schemas.openxmlformats.org/officeDocument/2006/relationships/notesSlide" Target="/ppt/notesSlides/notesSlide11.xml" Id="R0ffd423a4caf478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68b9dd8aa4952" /><Relationship Type="http://schemas.openxmlformats.org/officeDocument/2006/relationships/image" Target="/ppt/media/image4.png" Id="R4141e4fd77834482" /><Relationship Type="http://schemas.openxmlformats.org/officeDocument/2006/relationships/image" Target="/ppt/media/image5.png" Id="Rd85166f8987e4271" /><Relationship Type="http://schemas.openxmlformats.org/officeDocument/2006/relationships/image" Target="/ppt/media/image6.png" Id="R04a7e82196e54e80" /><Relationship Type="http://schemas.openxmlformats.org/officeDocument/2006/relationships/image" Target="/ppt/media/image7.png" Id="R98234e7f3e494b02" /><Relationship Type="http://schemas.openxmlformats.org/officeDocument/2006/relationships/notesSlide" Target="/ppt/notesSlides/notesSlide12.xml" Id="R8295a7be8b2c490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776cda0384570" /><Relationship Type="http://schemas.openxmlformats.org/officeDocument/2006/relationships/image" Target="/ppt/media/image15.png" Id="Rb047750a45d44e6a" /><Relationship Type="http://schemas.openxmlformats.org/officeDocument/2006/relationships/image" Target="/ppt/media/image26.png" Id="Rdada026871434e8a" /><Relationship Type="http://schemas.openxmlformats.org/officeDocument/2006/relationships/notesSlide" Target="/ppt/notesSlides/notesSlide13.xml" Id="R55af0b7da5854e1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4088866774f44" /><Relationship Type="http://schemas.openxmlformats.org/officeDocument/2006/relationships/image" Target="/ppt/media/image2.png" Id="R7a32648ce3064561" /><Relationship Type="http://schemas.openxmlformats.org/officeDocument/2006/relationships/image" Target="/ppt/media/image3.png" Id="R5890cdbcb2494ad9" /><Relationship Type="http://schemas.openxmlformats.org/officeDocument/2006/relationships/notesSlide" Target="/ppt/notesSlides/notesSlide14.xml" Id="Rcbdedecbfdf04cd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36b9613a64dd1" /><Relationship Type="http://schemas.openxmlformats.org/officeDocument/2006/relationships/image" Target="/ppt/media/image15.png" Id="Reffa832245b04d04" /><Relationship Type="http://schemas.openxmlformats.org/officeDocument/2006/relationships/image" Target="/ppt/media/image27.png" Id="R9a491f8644c546fd" /><Relationship Type="http://schemas.openxmlformats.org/officeDocument/2006/relationships/notesSlide" Target="/ppt/notesSlides/notesSlide15.xml" Id="R190c963f3d58435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53628b12f4086" /><Relationship Type="http://schemas.openxmlformats.org/officeDocument/2006/relationships/image" Target="/ppt/media/image28.png" Id="R8aea141cf9f4426b" /><Relationship Type="http://schemas.openxmlformats.org/officeDocument/2006/relationships/image" Target="/ppt/media/image29.png" Id="R828e9047b0204671" /><Relationship Type="http://schemas.openxmlformats.org/officeDocument/2006/relationships/image" Target="/ppt/media/image30.png" Id="Rb35e7d9492cc4bde" /><Relationship Type="http://schemas.openxmlformats.org/officeDocument/2006/relationships/image" Target="/ppt/media/image31.png" Id="R713ddb5175ee4287" /><Relationship Type="http://schemas.openxmlformats.org/officeDocument/2006/relationships/image" Target="/ppt/media/image32.png" Id="R1a6d0b22dbb04f36" /><Relationship Type="http://schemas.openxmlformats.org/officeDocument/2006/relationships/notesSlide" Target="/ppt/notesSlides/notesSlide16.xml" Id="Rdb2f4f76683a49b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226515b5b4a20" /><Relationship Type="http://schemas.openxmlformats.org/officeDocument/2006/relationships/image" Target="/ppt/media/image2.png" Id="R341e82cfa0de41c1" /><Relationship Type="http://schemas.openxmlformats.org/officeDocument/2006/relationships/image" Target="/ppt/media/image3.png" Id="R41a43f9d29e1416b" /><Relationship Type="http://schemas.openxmlformats.org/officeDocument/2006/relationships/notesSlide" Target="/ppt/notesSlides/notesSlide17.xml" Id="R8897e7aedf0c46d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a62b439bc4821" /><Relationship Type="http://schemas.openxmlformats.org/officeDocument/2006/relationships/notesSlide" Target="/ppt/notesSlides/notesSlide18.xml" Id="R2fb7daba5ff247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C25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26420b6f44e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95560" y="137160"/>
            <a:ext cx="1737360" cy="1737360"/>
          </a:xfrm>
          <a:prstGeom xmlns:a="http://schemas.openxmlformats.org/drawingml/2006/main" prst="rect">
            <a:avLst/>
          </a:prstGeom>
        </p:spPr>
      </p:pic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5F376B72-8AF4-4E49-9563-B93315D3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85800"/>
            <a:ext cx="141732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622D"/>
          </a:solidFill>
        </p:spPr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FAB719F-282D-4DAA-AB71-E937DCCB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85800"/>
            <a:ext cx="1417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 spc="1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DAY 4</a:t>
            </a:r>
            <a:endParaRPr sz="15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9644105-1086-4F74-8B3D-DE43B1A8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31720"/>
            <a:ext cx="877824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投籃事件</a:t>
            </a:r>
            <a:endParaRPr sz="3800"/>
          </a:p>
          <a:p xmlns:a="http://schemas.openxmlformats.org/drawingml/2006/main">
            <a:pPr marL="0" indent="0">
              <a:lnSpc>
                <a:spcPct val="108000"/>
              </a:lnSpc>
              <a:buNone/>
            </a:pPr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與出手角度分析</a:t>
            </a:r>
            <a:endParaRPr sz="38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DF04528-E738-4946-AD3C-10353943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8778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從影片上傳到球軌跡、人體骨架與 2D 起飛角</a:t>
            </a:r>
            <a:endParaRPr sz="18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B54025F-4698-4805-8A13-8BA34EAB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4" y="5266944"/>
            <a:ext cx="1016172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B3A67"/>
            </a:solidFill>
            <a:prstDash val="solid"/>
          </a:ln>
        </p:spPr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E31C65FE-3C3D-4571-B254-885A127F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6"/>
          </a:solidFill>
          <a:ln xmlns:a="http://schemas.openxmlformats.org/drawingml/2006/main" w="15875">
            <a:solidFill>
              <a:srgbClr val="CBD5E6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BD28263-8130-432F-90CC-3B5BBD68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1</a:t>
            </a:r>
            <a:endParaRPr sz="13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7EA4E74-76EC-4066-8A5D-34F50877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" y="553212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影片準備</a:t>
            </a:r>
            <a:endParaRPr sz="95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7ED75C43-E6B2-4AEF-BC4F-0D157C4E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3392" y="5074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6"/>
          </a:solidFill>
          <a:ln xmlns:a="http://schemas.openxmlformats.org/drawingml/2006/main" w="15875">
            <a:solidFill>
              <a:srgbClr val="CBD5E6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22A5740-AF9F-405E-840C-FA339D5B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3392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9DA324D-D594-43D3-958C-0ED6242C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9616" y="553212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球體偵測</a:t>
            </a:r>
            <a:endParaRPr sz="95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2607E06-04A1-40BD-AE63-8A196B4F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824" y="5074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6"/>
          </a:solidFill>
          <a:ln xmlns:a="http://schemas.openxmlformats.org/drawingml/2006/main" w="15875">
            <a:solidFill>
              <a:srgbClr val="CBD5E6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03ED8D7-4FE0-4F75-A8D9-C130F180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824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3</a:t>
            </a:r>
            <a:endParaRPr sz="1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13A95B74-F5B2-496B-8667-073C5485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048" y="553212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人物姿態</a:t>
            </a:r>
            <a:endParaRPr sz="95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2E54FE7E-71E9-4ADA-AC80-851CF8EC2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4255" y="5074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  <a:ln xmlns:a="http://schemas.openxmlformats.org/drawingml/2006/main" w="15875">
            <a:solidFill>
              <a:srgbClr val="E8622D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2A667E60-DCB2-4750-BEA7-28C0DB79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4255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  <a:endParaRPr sz="13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FAAB0E71-393A-4A70-BD34-801C4354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479" y="553212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事件判定</a:t>
            </a:r>
            <a:endParaRPr sz="95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850E9812-7222-46C0-B837-4E225C9A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4687" y="5074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  <a:ln xmlns:a="http://schemas.openxmlformats.org/drawingml/2006/main" w="15875">
            <a:solidFill>
              <a:srgbClr val="CBD5E6"/>
            </a:solidFill>
            <a:prstDash val="solid"/>
          </a:ln>
        </p:spPr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5FF41CF-9BB3-4428-A17C-D3E86917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4687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5</a:t>
            </a:r>
            <a:endParaRPr sz="13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F995C51-65F9-40A1-BAF9-12DBC6B3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911" y="553212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角度驗證</a:t>
            </a:r>
            <a:endParaRPr sz="95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0936C7B-2ED8-4F4E-9F02-064389B3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Python 籃球運動資料分析課程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522628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FD514F5-5AF0-45DF-ACBA-768709FA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61e8cc469649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4041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50BABCC-0D41-4E78-9BB7-049F0A2E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"/>
            <a:ext cx="10058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Day 4 完整流程</a:t>
            </a:r>
            <a:endParaRPr sz="30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24BE471C-9CBE-4220-A83B-5A5929B4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11094415" cy="96012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088243E4-4CA4-4781-8E16-5B37C3B7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087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ec37c2f5c24a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676" y="1568196"/>
            <a:ext cx="338328" cy="338328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6380528-603D-4690-9166-8911DDDC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4173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今天的目標</a:t>
            </a:r>
            <a:endParaRPr sz="125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6E9B298-CA12-4608-B61C-6779BA4E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691640"/>
            <a:ext cx="9997135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把一支投籃影片整理成可檢查的球偵測、投籃者骨架、事件球軌跡、release frame 與 2D 起飛角。</a:t>
            </a:r>
            <a:endParaRPr sz="135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4E1642C-2820-47D4-933C-B18BA1A0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14600"/>
            <a:ext cx="11094415" cy="1182624"/>
          </a:xfrm>
          <a:prstGeom xmlns:a="http://schemas.openxmlformats.org/drawingml/2006/main" prst="roundRect">
            <a:avLst>
              <a:gd name="adj" fmla="val 7732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443066B-6A79-4D02-8913-673AB07D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544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405577FE-C963-439D-88BE-1CEC3ED8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54452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  <a:endParaRPr sz="15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CF672D63-4C0A-4FCB-90C0-1921C799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606040"/>
            <a:ext cx="995141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d4_01｜準備影片、球模型與 ByteTrack</a:t>
            </a:r>
            <a:endParaRPr sz="145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432EDE9-68DC-489E-954D-B2A65F21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935224"/>
            <a:ext cx="9951415" cy="7254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2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選好同一支 converted 影片，先做 5 張單幀檢查，再看跨 frame 的 track ID。</a:t>
            </a:r>
            <a:endParaRPr sz="12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97CE8A7D-2DDC-4CAB-93AF-8DBCA211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3528"/>
            <a:ext cx="11094415" cy="1182624"/>
          </a:xfrm>
          <a:prstGeom xmlns:a="http://schemas.openxmlformats.org/drawingml/2006/main" prst="roundRect">
            <a:avLst>
              <a:gd name="adj" fmla="val 7732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4C739662-EEDE-4344-8E68-8563F1B3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8338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26869FB0-E907-4DB0-AB1D-5737D59C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8338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endParaRPr sz="15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FA857EF-8D5E-4049-9804-866741C7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3934968"/>
            <a:ext cx="995141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d4_02｜鎖定投籃者、骨架與角度</a:t>
            </a:r>
            <a:endParaRPr sz="145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F876672D-8A04-4E8E-90FD-CECC99A0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264152"/>
            <a:ext cx="9951415" cy="7254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2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用 shot score 對應 YOLO pose，保留雙側 keypoints 與逐 frame 關節角度。</a:t>
            </a:r>
            <a:endParaRPr sz="12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9DDE153-1497-43CC-BB74-09DEB5DC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72456"/>
            <a:ext cx="11094415" cy="1182624"/>
          </a:xfrm>
          <a:prstGeom xmlns:a="http://schemas.openxmlformats.org/drawingml/2006/main" prst="roundRect">
            <a:avLst>
              <a:gd name="adj" fmla="val 7732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ABA8B02-9356-4599-B4D2-30845005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12308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8259962-3214-4F49-A3A7-E3B359D9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12308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  <a:endParaRPr sz="15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32415-A323-4ABE-8B61-FDCB6963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263896"/>
            <a:ext cx="995141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d4_03｜投球事件、release 與 2D 起飛角</a:t>
            </a:r>
            <a:endParaRPr sz="145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F4CCB2B-7317-4B3B-836E-C4AD8E7E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593080"/>
            <a:ext cx="9951415" cy="7254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2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從手腕附近建立事件球軌跡，判定離手時刻，再用初段球路估計起飛角。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CA05212-C2B4-4DFA-A648-001E5706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61BCE60B-2C74-4A6A-8E1B-E61709EE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流程總覽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9823680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DF6CAC9-0DC3-4AD0-8128-D76FCE33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683b4314f940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8613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897454-EAEB-480C-9B7F-62D8E6DE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D4 · 影片準備 · d4_01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89898EC-A51B-4EA7-9AC9-DD12DE61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241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自己的影片要放到哪裡？</a:t>
            </a:r>
            <a:endParaRPr sz="21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405B3C1-535F-4F95-A003-2D4B9EEE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62F53F66-4CB9-4ED5-A3CD-0C7ECF84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fae0811fb44b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9734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D30BD58-659A-45A7-9CBC-5B446BDA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方式 A（推薦）</a:t>
            </a:r>
            <a:endParaRPr sz="14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5B86473-CDC4-4620-B725-B0A6A050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Drive 路徑：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basketball_hackathon/course/assets/raw/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在 VIDEO_FILENAME 填入檔名</a:t>
            </a:r>
            <a:endParaRPr sz="118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F5307BF-C217-492E-88B3-2A553CD4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978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7EF42F6-2E4D-4876-96C7-3E8AEB5E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018b1ccdc248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4073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C92EB1C0-B384-4F5F-B519-8B4F1D8B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778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方式 B（直接上傳）</a:t>
            </a:r>
            <a:endParaRPr sz="14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22FCB1FE-E28E-4418-9AC6-3291FAA9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9010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把 USE_BROWSER_UPLOAD 改成 True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執行後從電腦選影片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檔案會寫入 Drive 的 raw/</a:t>
            </a:r>
            <a:endParaRPr sz="118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62558485-1D1A-4B0F-AF4A-36D93E05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14B53C4-4C11-4E60-A7E5-11DA03B9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4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31cb3537741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8411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D756B06B-419A-4498-9DF0-AD89304E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3117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統一後的輸入</a:t>
            </a:r>
            <a:endParaRPr sz="14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EEFDD413-18DD-4686-8E4E-3CFFC1C6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349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assets/converted/student_video.mp4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/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所有分析結果寫到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assets/results/</a:t>
            </a:r>
            <a:endParaRPr sz="118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9024FBFC-93C0-445F-9080-C701AE15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23E5700F-840E-43D2-90ED-D75C9EE5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影片上傳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017150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3E63783-1453-43B3-A433-A3FA5BB9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4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ac06bccf544f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4041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38FF457C-148F-4E34-8E18-3FA1EEDB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"/>
            <a:ext cx="10058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三個模型與三個分析概念</a:t>
            </a:r>
            <a:endParaRPr sz="30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26DE50CD-D35D-4926-87F9-C1EF6423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94560"/>
            <a:ext cx="3545738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C4925B0C-C553-4366-B632-06FE764B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3774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6fc3098c540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7357" y="2424989"/>
            <a:ext cx="270662" cy="270662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C4057E8-419A-449B-8257-3B657DA4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834640"/>
            <a:ext cx="31434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ball_rimV8.pt</a:t>
            </a:r>
            <a:endParaRPr sz="14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243EFC6-C91B-4A76-B57F-25934FF5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218688"/>
            <a:ext cx="314340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1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每個 frame 產生球與籃框候選框。</a:t>
            </a:r>
            <a:endParaRPr sz="11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95BEE95-47DF-442C-BE0B-9E740BC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978" y="2194560"/>
            <a:ext cx="3545738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9A8C29C-FC33-43F8-9156-B561B0E3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23774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2d2edea46044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1695" y="2424989"/>
            <a:ext cx="270662" cy="270662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6C8B412D-7342-4390-B331-B9CCDCE6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2834640"/>
            <a:ext cx="31434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shot_detection.pt</a:t>
            </a:r>
            <a:endParaRPr sz="14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1E4EF13B-BEEF-4885-ACA9-D281EB38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3218688"/>
            <a:ext cx="314340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1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產生 shot score 與投籃者候選框。</a:t>
            </a:r>
            <a:endParaRPr sz="11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D2C3DFCC-6C83-47C6-A514-AAE1D4C0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2194560"/>
            <a:ext cx="3545738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C8C9B5C0-B43A-4863-8BE8-F6DC63D8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23774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5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1c4ed79001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6034" y="2424989"/>
            <a:ext cx="270662" cy="270662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31B487B0-B189-42A1-8A22-77CDCD5A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2834640"/>
            <a:ext cx="31434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yolov8n-pose.pt</a:t>
            </a:r>
            <a:endParaRPr sz="14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CD23C797-AA06-4417-B114-E4E0257A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3218688"/>
            <a:ext cx="314340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1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輸出 17 個人體 keypoints 與人物框。</a:t>
            </a:r>
            <a:endParaRPr sz="11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C97C9303-BC8F-47C6-974C-EC7B9D26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23360"/>
            <a:ext cx="3545738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395BDCA8-95E9-49F5-B362-F969FBCA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2062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6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5870299bb4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7357" y="4253789"/>
            <a:ext cx="270662" cy="270662"/>
          </a:xfrm>
          <a:prstGeom xmlns:a="http://schemas.openxmlformats.org/drawingml/2006/main" prst="rect">
            <a:avLst/>
          </a:prstGeom>
        </p:spPr>
      </p:pic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F9C871D7-BB94-446E-846F-0F94A7A1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663440"/>
            <a:ext cx="31434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ByteTrack</a:t>
            </a:r>
            <a:endParaRPr sz="1400"/>
          </a:p>
        </p:txBody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6B7D4ABE-2275-43FD-85FE-620AA0C0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047488"/>
            <a:ext cx="314340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1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把逐 frame 偵測連成同一個 track ID。</a:t>
            </a:r>
            <a:endParaRPr sz="1100"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76C974B3-C123-41F6-B255-0BBDB64B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978" y="4023360"/>
            <a:ext cx="3545738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26" name="Shape 19">
            <a:extLst xmlns:a="http://schemas.openxmlformats.org/drawingml/2006/main">
              <a:ext uri="{FF2B5EF4-FFF2-40B4-BE49-F238E27FC236}">
                <a16:creationId xmlns:a16="http://schemas.microsoft.com/office/drawing/2014/main" id="{4FF16417-9AF2-413B-AE03-CB10216B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42062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6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cf4dcdf6ed4d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1695" y="4253789"/>
            <a:ext cx="270662" cy="270662"/>
          </a:xfrm>
          <a:prstGeom xmlns:a="http://schemas.openxmlformats.org/drawingml/2006/main" prst="rect">
            <a:avLst/>
          </a:prstGeom>
        </p:spPr>
      </p:pic>
      <p:sp>
        <p:nvSpPr>
          <p:cNvPr id="28" name="Text 20">
            <a:extLst xmlns:a="http://schemas.openxmlformats.org/drawingml/2006/main">
              <a:ext uri="{FF2B5EF4-FFF2-40B4-BE49-F238E27FC236}">
                <a16:creationId xmlns:a16="http://schemas.microsoft.com/office/drawing/2014/main" id="{A9BB3174-1693-42D2-A579-327F7CA8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4663440"/>
            <a:ext cx="31434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Release frame</a:t>
            </a:r>
            <a:endParaRPr sz="1400"/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68F44542-AB2A-45FC-9A33-0B4B9FB7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5047488"/>
            <a:ext cx="314340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1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球由靠近手腕轉為離開且向上移動。</a:t>
            </a:r>
            <a:endParaRPr sz="1100"/>
          </a:p>
        </p:txBody>
      </p:sp>
      <p:sp>
        <p:nvSpPr>
          <p:cNvPr id="30" name="Shape 22">
            <a:extLst xmlns:a="http://schemas.openxmlformats.org/drawingml/2006/main">
              <a:ext uri="{FF2B5EF4-FFF2-40B4-BE49-F238E27FC236}">
                <a16:creationId xmlns:a16="http://schemas.microsoft.com/office/drawing/2014/main" id="{87B4CA8B-9D3B-45B7-BAD9-80574690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4023360"/>
            <a:ext cx="3545738" cy="16002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31" name="Shape 23">
            <a:extLst xmlns:a="http://schemas.openxmlformats.org/drawingml/2006/main">
              <a:ext uri="{FF2B5EF4-FFF2-40B4-BE49-F238E27FC236}">
                <a16:creationId xmlns:a16="http://schemas.microsoft.com/office/drawing/2014/main" id="{2D8F92F1-188A-416E-BA8C-32A97271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42062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74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61751555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6034" y="4253789"/>
            <a:ext cx="270662" cy="270662"/>
          </a:xfrm>
          <a:prstGeom xmlns:a="http://schemas.openxmlformats.org/drawingml/2006/main" prst="rect">
            <a:avLst/>
          </a:prstGeom>
        </p:spPr>
      </p:pic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ACB95297-4D7A-4515-B5FE-000FE203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4663440"/>
            <a:ext cx="314340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2D 起飛角</a:t>
            </a:r>
            <a:endParaRPr sz="1400"/>
          </a:p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9F61FBC7-983F-43FF-9B42-FAC07984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5047488"/>
            <a:ext cx="314340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2000"/>
              </a:lnSpc>
              <a:buNone/>
            </a:pPr>
            <a:r>
              <a:rPr sz="11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以離手後初段球路估計影像平面仰角。</a:t>
            </a:r>
            <a:endParaRPr sz="1100"/>
          </a:p>
        </p:txBody>
      </p:sp>
      <p:sp>
        <p:nvSpPr>
          <p:cNvPr id="35" name="Text 26">
            <a:extLst xmlns:a="http://schemas.openxmlformats.org/drawingml/2006/main">
              <a:ext uri="{FF2B5EF4-FFF2-40B4-BE49-F238E27FC236}">
                <a16:creationId xmlns:a16="http://schemas.microsoft.com/office/drawing/2014/main" id="{051BE037-26EA-4BA4-9E6E-C64E0F0C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36" name="Text 27">
            <a:extLst xmlns:a="http://schemas.openxmlformats.org/drawingml/2006/main">
              <a:ext uri="{FF2B5EF4-FFF2-40B4-BE49-F238E27FC236}">
                <a16:creationId xmlns:a16="http://schemas.microsoft.com/office/drawing/2014/main" id="{0C12C5C7-3054-452B-A715-0670E262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模型角色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451805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DF6CAC9-0DC3-4AD0-8128-D76FCE33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9c9b2dc2e342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8613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897454-EAEB-480C-9B7F-62D8E6DE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D4 · NOTEBOOK 1 · d4_01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89898EC-A51B-4EA7-9AC9-DD12DE61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241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球模型推論與 ByteTrack 預覽</a:t>
            </a:r>
            <a:endParaRPr sz="21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405B3C1-535F-4F95-A003-2D4B9EEE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62F53F66-4CB9-4ED5-A3CD-0C7ECF84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be5a6e96148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9734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D30BD58-659A-45A7-9CBC-5B446BDA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這一節要回答</a:t>
            </a:r>
            <a:endParaRPr sz="14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5B86473-CDC4-4620-B725-B0A6A050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球模型真的有看到球嗎？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漏掉是 detector 還是 tracker？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track ID 是否維持連續？</a:t>
            </a:r>
            <a:endParaRPr sz="118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F5307BF-C217-492E-88B3-2A553CD4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978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7EF42F6-2E4D-4876-96C7-3E8AEB5E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7bb04e427f40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4073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C92EB1C0-B384-4F5F-B519-8B4F1D8B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778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執行順序</a:t>
            </a:r>
            <a:endParaRPr sz="14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22FCB1FE-E28E-4418-9AC6-3291FAA9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9010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選擇 converted 影片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載入 ball_rimV8.pt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5 張單幀檢查 → ByteTrack 預覽</a:t>
            </a:r>
            <a:endParaRPr sz="118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62558485-1D1A-4B0F-AF4A-36D93E05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14B53C4-4C11-4E60-A7E5-11DA03B9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4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0aaebd066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8411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D756B06B-419A-4498-9DF0-AD89304E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3117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完成產出</a:t>
            </a:r>
            <a:endParaRPr sz="14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EEFDD413-18DD-4686-8E4E-3CFFC1C6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349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d4_01_test_infer_grid.png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d4_01_bytetrack_ball_preview.mp4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d4_01_bytetrack_ball_preview.json</a:t>
            </a:r>
            <a:endParaRPr sz="118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9024FBFC-93C0-445F-9080-C701AE15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23E5700F-840E-43D2-90ED-D75C9EE5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Notebook 1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017150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DF6CAC9-0DC3-4AD0-8128-D76FCE33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8eca4fc8e245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8613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897454-EAEB-480C-9B7F-62D8E6DE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D4 · NOTEBOOK 1 · 核心程式格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89898EC-A51B-4EA7-9AC9-DD12DE61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241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影片、模型參數、單幀檢查與追蹤</a:t>
            </a:r>
            <a:endParaRPr sz="21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405B3C1-535F-4F95-A003-2D4B9EEE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62F53F66-4CB9-4ED5-A3CD-0C7ECF84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a5d72e94704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9734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D30BD58-659A-45A7-9CBC-5B446BDA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影片準備格</a:t>
            </a:r>
            <a:endParaRPr sz="14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5B86473-CDC4-4620-B725-B0A6A050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選擇 Drive 或瀏覽器上傳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轉成 30 FPS、最長邊 1280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確認 using video 路徑</a:t>
            </a:r>
            <a:endParaRPr sz="118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F5307BF-C217-492E-88B3-2A553CD4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978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7EF42F6-2E4D-4876-96C7-3E8AEB5E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cd93fbe3d48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4073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C92EB1C0-B384-4F5F-B519-8B4F1D8B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778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模型與參數格</a:t>
            </a:r>
            <a:endParaRPr sz="14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22FCB1FE-E28E-4418-9AC6-3291FAA9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9010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SANITY_CONF = 0.25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PREVIEW_IMGSZ = 1280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只保留 ball 類別</a:t>
            </a:r>
            <a:endParaRPr sz="118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62558485-1D1A-4B0F-AF4A-36D93E05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14B53C4-4C11-4E60-A7E5-11DA03B9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4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6209fe563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8411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D756B06B-419A-4498-9DF0-AD89304E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3117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檢查與追蹤格</a:t>
            </a:r>
            <a:endParaRPr sz="14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EEFDD413-18DD-4686-8E4E-3CFFC1C6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349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先看框中心是否落在球上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再看 track ID 是否連續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位置判讀比 confidence 更重要</a:t>
            </a:r>
            <a:endParaRPr sz="118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9024FBFC-93C0-445F-9080-C701AE15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23E5700F-840E-43D2-90ED-D75C9EE5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程式格導讀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017150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FF500A-42CB-4754-8377-1583A12D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abcb6e4dad47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4041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4157420-7F41-4339-8407-11FED108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8912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人工檢查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4E74568-C765-4A9A-A0FD-7B69BE95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先看球框，再看 track ID</a:t>
            </a:r>
            <a:endParaRPr sz="24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D4D8BC9-C577-4309-BF90-69E6A4BE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212080" cy="196596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703D392-9837-487A-9458-D82EEA8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64208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單幀 detector 檢查</a:t>
            </a:r>
            <a:endParaRPr sz="1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30E40F3-CDCA-42FA-8D5D-B707F5BF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56816"/>
            <a:ext cx="475488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這一步只回答：目前 frame 有沒有找到球？</a:t>
            </a:r>
            <a:endParaRPr sz="1250"/>
          </a:p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/>
            </a:r>
            <a:endParaRPr sz="1250"/>
          </a:p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框中心要落在籃球上；confidence 是模型信心，不等於正確率。</a:t>
            </a:r>
            <a:endParaRPr sz="125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AC0B431-A045-47A0-945A-1942A67A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03320"/>
            <a:ext cx="5212080" cy="2651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右圖是 frame 90：球框落在投籃者手上的籃球，confidence 0.80。</a:t>
            </a:r>
            <a:endParaRPr sz="1350"/>
          </a:p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/>
            </a:r>
            <a:endParaRPr sz="1350"/>
          </a:p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確認 detector 後，才播放預覽影片檢查同一顆球的 track ID 是否連續。</a:t>
            </a:r>
            <a:endParaRPr sz="13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CFCDD06C-1C61-410B-BBC9-7C99F888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D03E97A-B096-498F-BF7C-F6F923FB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球模型檢查</a:t>
            </a:r>
            <a:endParaRPr sz="900"/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fcee3988f4d1c"/>
          <a:stretch xmlns:a="http://schemas.openxmlformats.org/drawingml/2006/main"/>
        </p:blipFill>
        <p:spPr>
          <a:xfrm xmlns:a="http://schemas.openxmlformats.org/drawingml/2006/main">
            <a:off x="6191250" y="2351484"/>
            <a:ext cx="5219700" cy="2936081"/>
          </a:xfrm>
          <a:prstGeom xmlns:a="http://schemas.openxmlformats.org/drawingml/2006/main" prst="roundRect">
            <a:avLst>
              <a:gd name="adj" fmla="val 1762"/>
            </a:avLst>
          </a:prstGeom>
        </p:spPr>
      </p:pic>
    </p:spTree>
    <p:extLst>
      <p:ext uri="{BB962C8B-B14F-4D97-AF65-F5344CB8AC3E}">
        <p14:creationId xmlns:p14="http://schemas.microsoft.com/office/powerpoint/2010/main" val="21317462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D899515-0CC9-4BB0-A280-C33789A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80d3935d3646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8613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8E4CDBC-BA7E-49F4-8637-5055FAB0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D4 · NOTEBOOK 2 · d4_02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DC653E0-363A-4CB1-AFE6-F9BA7BB0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241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投籃者骨架與逐 frame 關節角度</a:t>
            </a:r>
            <a:endParaRPr sz="21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9F74E01F-B946-472C-8ABF-BD812736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4AF42A0-ADF0-4135-B653-E300D791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fb467217dc46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9734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2B2D159-03E7-46B4-83B3-24BAA33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這一節要回答</a:t>
            </a:r>
            <a:endParaRPr sz="14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20D7C7E6-976B-40BF-A58E-B5C0DAAA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哪一位是投籃者？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人體 keypoints 是否可信？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角度變化是否連續？</a:t>
            </a:r>
            <a:endParaRPr sz="118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2CEA2D1-D514-491A-8ACA-FCECBBDD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978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C7C7D04-7F95-40A4-A62B-123E68F9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95c7b04c204e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4073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49B8AA1B-2257-4768-915B-E7824D15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778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執行順序</a:t>
            </a:r>
            <a:endParaRPr sz="14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66EB46D3-6B26-4B0E-A7E8-C252C9AA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9010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讀同一支 converted 影片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shot score + YOLO pose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輸出 CSV、曲線與骨架 overlay</a:t>
            </a:r>
            <a:endParaRPr sz="118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9B288E5A-77D8-440B-BD17-A88BDAA5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4CF76C4A-BEF2-41BA-9AFB-C6255ED5A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4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9f939deff4c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8411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8C863261-F1C6-4BC3-A902-6FFCA642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3117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完成產出</a:t>
            </a:r>
            <a:endParaRPr sz="14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BE6BDE42-3C52-4EBC-A084-A8B57EF2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349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d4_02_pose_angles.csv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d4_02_pose_angle_plot.png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d4_02_pose_overlay_preview.mp4</a:t>
            </a:r>
            <a:endParaRPr sz="118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0ACD0539-5FF6-4028-A3AB-65A9B2C3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7F6AE795-8FD6-4089-96ED-81C83E52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Notebook 2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4622314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DF6CAC9-0DC3-4AD0-8128-D76FCE33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d460c3c6f2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8613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897454-EAEB-480C-9B7F-62D8E6DE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D4 · NOTEBOOK 2 · 核心程式格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89898EC-A51B-4EA7-9AC9-DD12DE61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241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shot score、人物身分與角度計算</a:t>
            </a:r>
            <a:endParaRPr sz="21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405B3C1-535F-4F95-A003-2D4B9EEE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62F53F66-4CB9-4ED5-A3CD-0C7ECF84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c025a183a34e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9734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D30BD58-659A-45A7-9CBC-5B446BDA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兩個模型輸出</a:t>
            </a:r>
            <a:endParaRPr sz="14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5B86473-CDC4-4620-B725-B0A6A050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shot_detection.pt：分數與人物框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yolov8n-pose.pt：17 個 keypoints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每列對應一個 frame</a:t>
            </a:r>
            <a:endParaRPr sz="118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F5307BF-C217-492E-88B3-2A553CD4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978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7EF42F6-2E4D-4876-96C7-3E8AEB5E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187cc43cce47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4073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C92EB1C0-B384-4F5F-B519-8B4F1D8B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778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投籃者身分</a:t>
            </a:r>
            <a:endParaRPr sz="14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22FCB1FE-E28E-4418-9AC6-3291FAA9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9010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shot box 明確時對應人物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訊號短暫變弱時延續上一位置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避免骨架跳到其他人</a:t>
            </a:r>
            <a:endParaRPr sz="118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62558485-1D1A-4B0F-AF4A-36D93E05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14B53C4-4C11-4E60-A7E5-11DA03B9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4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1104f170e4e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8411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D756B06B-419A-4498-9DF0-AD89304E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3117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角度與驗證</a:t>
            </a:r>
            <a:endParaRPr sz="14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EEFDD413-18DD-4686-8E4E-3CFFC1C6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349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肩－肘－腕 → 手肘角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髖－膝－踝 → 膝角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看曲線後再看 overlay</a:t>
            </a:r>
            <a:endParaRPr sz="118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9024FBFC-93C0-445F-9080-C701AE15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23E5700F-840E-43D2-90ED-D75C9EE5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程式格導讀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017150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FF500A-42CB-4754-8377-1583A12D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408f0802fc46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4041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4157420-7F41-4339-8407-11FED108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8912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人工檢查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4E74568-C765-4A9A-A0FD-7B69BE95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wrist 是手腕，不是籃球</a:t>
            </a:r>
            <a:endParaRPr sz="24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D4D8BC9-C577-4309-BF90-69E6A4BE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212080" cy="196596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703D392-9837-487A-9458-D82EEA8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64208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骨架 overlay 要看什麼？</a:t>
            </a:r>
            <a:endParaRPr sz="1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30E40F3-CDCA-42FA-8D5D-B707F5BF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56816"/>
            <a:ext cx="475488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白色骨架要黏在同一位投籃者身上。</a:t>
            </a:r>
            <a:endParaRPr sz="1250"/>
          </a:p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/>
            </a:r>
            <a:endParaRPr sz="1250"/>
          </a:p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粉紅色 wrist 只標示目前 frame 的手腕位置，不是球軌跡。</a:t>
            </a:r>
            <a:endParaRPr sz="125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AC0B431-A045-47A0-945A-1942A67A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03320"/>
            <a:ext cx="5212080" cy="2651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右圖的骨架鎖定左側投籃者，wrist 點位於當下手腕。</a:t>
            </a:r>
            <a:endParaRPr sz="1350"/>
          </a:p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/>
            </a:r>
            <a:endParaRPr sz="1350"/>
          </a:p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如果人物身分跳動，release frame 與關節角度都先停止解讀。</a:t>
            </a:r>
            <a:endParaRPr sz="13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CFCDD06C-1C61-410B-BBC9-7C99F888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D03E97A-B096-498F-BF7C-F6F923FB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姿態模型檢查</a:t>
            </a:r>
            <a:endParaRPr sz="900"/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0e2d8dc3142dd"/>
          <a:stretch xmlns:a="http://schemas.openxmlformats.org/drawingml/2006/main"/>
        </p:blipFill>
        <p:spPr>
          <a:xfrm xmlns:a="http://schemas.openxmlformats.org/drawingml/2006/main">
            <a:off x="6191250" y="2774424"/>
            <a:ext cx="5219700" cy="2090202"/>
          </a:xfrm>
          <a:prstGeom xmlns:a="http://schemas.openxmlformats.org/drawingml/2006/main" prst="roundRect">
            <a:avLst>
              <a:gd name="adj" fmla="val 1762"/>
            </a:avLst>
          </a:prstGeom>
        </p:spPr>
      </p:pic>
    </p:spTree>
    <p:extLst>
      <p:ext uri="{BB962C8B-B14F-4D97-AF65-F5344CB8AC3E}">
        <p14:creationId xmlns:p14="http://schemas.microsoft.com/office/powerpoint/2010/main" val="21317462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B58E88D-8671-4FC5-946A-1D2C29D8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d9602816744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8613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BEDAFB9A-CC43-437E-BA8F-8FD9B4CC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D4 · NOTEBOOK 3 · d4_03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AC3B61E-4F92-4884-97C9-9076C440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241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投球事件、release frame 與 2D 起飛角</a:t>
            </a:r>
            <a:endParaRPr sz="21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4ECBAE7-4E6C-4FB9-87A7-D6AAB05E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ED82E01-4103-4333-A0F5-FAF3058A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0d99c61914c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9734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2C646C6-FDE0-44DC-99B3-AEE1EDC9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這一節要回答</a:t>
            </a:r>
            <a:endParaRPr sz="14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44A1CFD-903B-4D9A-871A-80AD08DB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哪一段是真正的投籃？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哪一顆球屬於這次出手？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球在第幾個 frame 離手？</a:t>
            </a:r>
            <a:endParaRPr sz="118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3F45223-EB46-439D-BCE8-0212DFB1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978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A4668A0-CE20-4D0A-A852-B076FAA5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da0268bfa243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4073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4E54161B-2F04-42E2-9115-C5C496E6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778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執行順序</a:t>
            </a:r>
            <a:endParaRPr sz="14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B8E36638-F8AC-4C6A-A604-E044D2D5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9010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shot score 合併事件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手腕附近建立事件球軌跡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release → 關節角 → 2D 起飛角</a:t>
            </a:r>
            <a:endParaRPr sz="118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331E051D-5831-4EEF-ABCB-33518F79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082DABA8-36C7-4F68-8D8D-D0733E0F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4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393c5e0e240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8411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FFED1728-93E8-4F82-BF99-1A03B16F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3117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完成產出</a:t>
            </a:r>
            <a:endParaRPr sz="14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D4FAEE4B-3979-4C4E-BBDB-850744AE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349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事件與球軌跡 CSV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角度時間圖、release 檢查圖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完整事件 overlay 影片</a:t>
            </a:r>
            <a:endParaRPr sz="118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A5730B92-8971-49D4-9BD1-24D80EBD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E0BEE6F5-CDB1-4112-8622-1BC7A3D4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Notebook 3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9991479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DF6CAC9-0DC3-4AD0-8128-D76FCE33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41e4fd778344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8613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897454-EAEB-480C-9B7F-62D8E6DE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D4 · NOTEBOOK 3 · 事件政策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89898EC-A51B-4EA7-9AC9-DD12DE61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241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從 shot score 到 event ball</a:t>
            </a:r>
            <a:endParaRPr sz="21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405B3C1-535F-4F95-A003-2D4B9EEE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62F53F66-4CB9-4ED5-A3CD-0C7ECF84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166f8987e42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9734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D30BD58-659A-45A7-9CBC-5B446BDA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1｜建立事件區段</a:t>
            </a:r>
            <a:endParaRPr sz="14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5B86473-CDC4-4620-B725-B0A6A050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把連續的高 shot score frames 合併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保留 start、end 與 peak frame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事件區段不是 release 時刻</a:t>
            </a:r>
            <a:endParaRPr sz="118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F5307BF-C217-492E-88B3-2A553CD4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978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7EF42F6-2E4D-4876-96C7-3E8AEB5E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146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7e82196e5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4073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C92EB1C0-B384-4F5F-B519-8B4F1D8B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778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2｜選出事件球</a:t>
            </a:r>
            <a:endParaRPr sz="14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22FCB1FE-E28E-4418-9AC6-3291FAA9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9010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保留低門檻的所有球候選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從左右手腕附近找起點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用位置與移動連續性接軌跡</a:t>
            </a:r>
            <a:endParaRPr sz="118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62558485-1D1A-4B0F-AF4A-36D93E05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317" y="1965960"/>
            <a:ext cx="3545738" cy="3931920"/>
          </a:xfrm>
          <a:prstGeom xmlns:a="http://schemas.openxmlformats.org/drawingml/2006/main" prst="roundRect">
            <a:avLst>
              <a:gd name="adj" fmla="val 2579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14B53C4-4C11-4E60-A7E5-11DA03B9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485" y="216712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pic>
        <p:nvPicPr>
          <p:cNvPr id="4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34e7f3e494b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8411" y="2217054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D756B06B-419A-4498-9DF0-AD89304E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3117" y="2148840"/>
            <a:ext cx="263133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3｜判定 release</a:t>
            </a:r>
            <a:endParaRPr sz="14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EEFDD413-18DD-4686-8E4E-3CFFC1C6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349" y="2743200"/>
            <a:ext cx="3033674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球先靠近手腕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接著距離增加且向上移動</a:t>
            </a:r>
            <a:endParaRPr sz="1180"/>
          </a:p>
          <a:p xmlns:a="http://schemas.openxmlformats.org/drawingml/2006/main">
            <a:pPr marL="203200" indent="-2032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sz="118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離手後初段球路估計起飛角</a:t>
            </a:r>
            <a:endParaRPr sz="118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9024FBFC-93C0-445F-9080-C701AE15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23E5700F-840E-43D2-90ED-D75C9EE5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事件政策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017150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FF500A-42CB-4754-8377-1583A12D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47750a45d44e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4041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4157420-7F41-4339-8407-11FED108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8912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核心概念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4E74568-C765-4A9A-A0FD-7B69BE95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release frame 與 2D 起飛角怎麼來？</a:t>
            </a:r>
            <a:endParaRPr sz="24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D4D8BC9-C577-4309-BF90-69E6A4BE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212080" cy="196596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703D392-9837-487A-9458-D82EEA8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64208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判定順序</a:t>
            </a:r>
            <a:endParaRPr sz="1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30E40F3-CDCA-42FA-8D5D-B707F5BF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56816"/>
            <a:ext cx="475488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1. 球先靠近出手側手腕</a:t>
            </a:r>
            <a:endParaRPr sz="1250"/>
          </a:p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2. 球與手腕距離開始增加</a:t>
            </a:r>
            <a:endParaRPr sz="1250"/>
          </a:p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3. 球同時向上移動</a:t>
            </a:r>
            <a:endParaRPr sz="1250"/>
          </a:p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4. 離手後數個位置擬合初段方向</a:t>
            </a:r>
            <a:endParaRPr sz="125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AC0B431-A045-47A0-945A-1942A67A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03320"/>
            <a:ext cx="5212080" cy="2651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起飛角是影像平面上的估計值。</a:t>
            </a:r>
            <a:endParaRPr sz="1350"/>
          </a:p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/>
            </a:r>
            <a:endParaRPr sz="1350"/>
          </a:p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比較不同次出手時，要固定相機位置、畫面比例與拍攝方向；它不等同真實世界的 3D 角度。</a:t>
            </a:r>
            <a:endParaRPr sz="13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CFCDD06C-1C61-410B-BBC9-7C99F888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D03E97A-B096-498F-BF7C-F6F923FB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Release 與角度</a:t>
            </a:r>
            <a:endParaRPr sz="900"/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da026871434e8a"/>
          <a:stretch xmlns:a="http://schemas.openxmlformats.org/drawingml/2006/main"/>
        </p:blipFill>
        <p:spPr>
          <a:xfrm xmlns:a="http://schemas.openxmlformats.org/drawingml/2006/main">
            <a:off x="6191250" y="2223625"/>
            <a:ext cx="5219700" cy="3191800"/>
          </a:xfrm>
          <a:prstGeom xmlns:a="http://schemas.openxmlformats.org/drawingml/2006/main" prst="roundRect">
            <a:avLst>
              <a:gd name="adj" fmla="val 1762"/>
            </a:avLst>
          </a:prstGeom>
        </p:spPr>
      </p:pic>
    </p:spTree>
    <p:extLst>
      <p:ext uri="{BB962C8B-B14F-4D97-AF65-F5344CB8AC3E}">
        <p14:creationId xmlns:p14="http://schemas.microsoft.com/office/powerpoint/2010/main" val="21317462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FD514F5-5AF0-45DF-ACBA-768709FA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2648ce30645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4041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50BABCC-0D41-4E78-9BB7-049F0A2E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"/>
            <a:ext cx="10058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範例影片的事件結果</a:t>
            </a:r>
            <a:endParaRPr sz="30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24BE471C-9CBE-4220-A83B-5A5929B4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11094415" cy="96012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088243E4-4CA4-4781-8E16-5B37C3B7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087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0cdbcb2494a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676" y="1568196"/>
            <a:ext cx="338328" cy="338328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6380528-603D-4690-9166-8911DDDC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4173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讀數字前先做什麼？</a:t>
            </a:r>
            <a:endParaRPr sz="125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6E9B298-CA12-4608-B61C-6779BA4E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691640"/>
            <a:ext cx="9997135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先確認事件數量、人物骨架、事件球與 release 畫面都合理，再解讀角度。</a:t>
            </a:r>
            <a:endParaRPr sz="135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4E1642C-2820-47D4-933C-B18BA1A0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14600"/>
            <a:ext cx="11094415" cy="1182624"/>
          </a:xfrm>
          <a:prstGeom xmlns:a="http://schemas.openxmlformats.org/drawingml/2006/main" prst="roundRect">
            <a:avLst>
              <a:gd name="adj" fmla="val 7732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443066B-6A79-4D02-8913-673AB07D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544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405577FE-C963-439D-88BE-1CEC3ED8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54452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  <a:endParaRPr sz="15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CF672D63-4C0A-4FCB-90C0-1921C799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606040"/>
            <a:ext cx="995141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Event 1｜frame 43–51，release 43</a:t>
            </a:r>
            <a:endParaRPr sz="145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432EDE9-68DC-489E-954D-B2A65F21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935224"/>
            <a:ext cx="9951415" cy="7254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2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右手出手 · 2D 起飛角 47.74° · release 手肘角約 165.2°</a:t>
            </a:r>
            <a:endParaRPr sz="12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97CE8A7D-2DDC-4CAB-93AF-8DBCA211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3528"/>
            <a:ext cx="11094415" cy="1182624"/>
          </a:xfrm>
          <a:prstGeom xmlns:a="http://schemas.openxmlformats.org/drawingml/2006/main" prst="roundRect">
            <a:avLst>
              <a:gd name="adj" fmla="val 7732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4C739662-EEDE-4344-8E68-8563F1B3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8338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26869FB0-E907-4DB0-AB1D-5737D59C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8338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endParaRPr sz="15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FA857EF-8D5E-4049-9804-866741C7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3934968"/>
            <a:ext cx="995141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Event 2｜frame 147–168，release 149</a:t>
            </a:r>
            <a:endParaRPr sz="145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F876672D-8A04-4E8E-90FD-CECC99A0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264152"/>
            <a:ext cx="9951415" cy="7254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2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右手出手 · 2D 起飛角 41.30° · release 手肘角約 151.0°</a:t>
            </a:r>
            <a:endParaRPr sz="12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9DDE153-1497-43CC-BB74-09DEB5DC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72456"/>
            <a:ext cx="11094415" cy="1182624"/>
          </a:xfrm>
          <a:prstGeom xmlns:a="http://schemas.openxmlformats.org/drawingml/2006/main" prst="roundRect">
            <a:avLst>
              <a:gd name="adj" fmla="val 7732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ABA8B02-9356-4599-B4D2-30845005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12308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8259962-3214-4F49-A3A7-E3B359D9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12308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  <a:endParaRPr sz="15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32415-A323-4ABE-8B61-FDCB6963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263896"/>
            <a:ext cx="995141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判讀規則｜視覺驗證通過才保留</a:t>
            </a:r>
            <a:endParaRPr sz="145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F4CCB2B-7317-4B3B-836E-C4AD8E7E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593080"/>
            <a:ext cx="9951415" cy="7254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2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兩個事件都要在 release 前／當下／後三格與完整 overlay 中確認球路連續。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CA05212-C2B4-4DFA-A648-001E5706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61BCE60B-2C74-4A6A-8E1B-E61709EE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實際結果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9823680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FF500A-42CB-4754-8377-1583A12D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fa832245b04d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4041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4157420-7F41-4339-8407-11FED108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8912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 spc="100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人工檢查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4E74568-C765-4A9A-A0FD-7B69BE95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13232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用三格畫面確認 release 是否合理</a:t>
            </a:r>
            <a:endParaRPr sz="24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D4D8BC9-C577-4309-BF90-69E6A4BE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212080" cy="196596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703D392-9837-487A-9458-D82EEA8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64208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每個 event 都看三個時刻</a:t>
            </a:r>
            <a:endParaRPr sz="1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30E40F3-CDCA-42FA-8D5D-B707F5BF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56816"/>
            <a:ext cx="475488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左：release 前 2 frames，球仍靠近手</a:t>
            </a:r>
            <a:endParaRPr sz="1250"/>
          </a:p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中：release 當下，標示 RELEASE</a:t>
            </a:r>
            <a:endParaRPr sz="1250"/>
          </a:p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右：release 後 4 frames，球沿真實球路上升</a:t>
            </a:r>
            <a:endParaRPr sz="125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AC0B431-A045-47A0-945A-1942A67A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03320"/>
            <a:ext cx="5212080" cy="2651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紅色 event ball 應從投籃手附近開始，綠色箭頭指向初段球路。</a:t>
            </a:r>
            <a:endParaRPr sz="1350"/>
          </a:p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/>
            </a:r>
            <a:endParaRPr sz="1350"/>
          </a:p>
          <a:p xmlns:a="http://schemas.openxmlformats.org/drawingml/2006/main">
            <a:pPr marL="203200" indent="-2032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若紅點跳到另一顆球、籃框或背景，這筆角度先標記為不可信。</a:t>
            </a:r>
            <a:endParaRPr sz="13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CFCDD06C-1C61-410B-BBC9-7C99F888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D03E97A-B096-498F-BF7C-F6F923FB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事件視覺驗證</a:t>
            </a:r>
            <a:endParaRPr sz="900"/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91f8644c546fd"/>
          <a:stretch xmlns:a="http://schemas.openxmlformats.org/drawingml/2006/main"/>
        </p:blipFill>
        <p:spPr>
          <a:xfrm xmlns:a="http://schemas.openxmlformats.org/drawingml/2006/main">
            <a:off x="6191250" y="2840831"/>
            <a:ext cx="5219700" cy="1957388"/>
          </a:xfrm>
          <a:prstGeom xmlns:a="http://schemas.openxmlformats.org/drawingml/2006/main" prst="roundRect">
            <a:avLst>
              <a:gd name="adj" fmla="val 1762"/>
            </a:avLst>
          </a:prstGeom>
        </p:spPr>
      </p:pic>
    </p:spTree>
    <p:extLst>
      <p:ext uri="{BB962C8B-B14F-4D97-AF65-F5344CB8AC3E}">
        <p14:creationId xmlns:p14="http://schemas.microsoft.com/office/powerpoint/2010/main" val="213174621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CFC584-8C20-4339-83D8-18BD4B47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a141cf9f442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4041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4FF6736E-626A-4065-A65D-F2D9A1FB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"/>
            <a:ext cx="10058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課堂檢查與除錯順序</a:t>
            </a:r>
            <a:endParaRPr sz="30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37386283-BCB8-49BD-980D-A2333397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11094415" cy="1076706"/>
          </a:xfrm>
          <a:prstGeom xmlns:a="http://schemas.openxmlformats.org/drawingml/2006/main" prst="roundRect">
            <a:avLst>
              <a:gd name="adj" fmla="val 8493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A2ED210D-9D30-409C-9815-DE268C21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00809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65A"/>
          </a:solidFill>
        </p:spPr>
      </p:sp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8e9047b0204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446" y="1950735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419B2AD-C597-4F83-8CC3-166B17B5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627632"/>
            <a:ext cx="10088575" cy="9304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0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① 三份 notebook 的 using video 必須完全相同，frame 範圍也要一致。</a:t>
            </a:r>
            <a:endParaRPr sz="1300"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39577F9E-819A-4DE4-9E8C-5DD1B22E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95778"/>
            <a:ext cx="11094415" cy="1076706"/>
          </a:xfrm>
          <a:prstGeom xmlns:a="http://schemas.openxmlformats.org/drawingml/2006/main" prst="roundRect">
            <a:avLst>
              <a:gd name="adj" fmla="val 8493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E79D1E-41EF-474D-ABE8-6BDD70DA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42107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65A"/>
          </a:solidFill>
        </p:spPr>
      </p:sp>
      <p:pic>
        <p:nvPicPr>
          <p:cNvPr id="3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e7d9492cc4b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446" y="3192033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2FB4A3EC-E266-457A-A5DC-491029D3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868930"/>
            <a:ext cx="10088575" cy="9304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0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② 先查單幀球框，再查人物身分，再查事件球，最後才查 release 與角度。</a:t>
            </a:r>
            <a:endParaRPr sz="1300"/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41799A73-0891-4270-ABC4-512AD336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37076"/>
            <a:ext cx="11094415" cy="1076706"/>
          </a:xfrm>
          <a:prstGeom xmlns:a="http://schemas.openxmlformats.org/drawingml/2006/main" prst="roundRect">
            <a:avLst>
              <a:gd name="adj" fmla="val 8493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3FF2B502-CDDB-4782-AE5D-483A2A37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83405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65A"/>
          </a:solidFill>
        </p:spPr>
      </p:sp>
      <p:pic>
        <p:nvPicPr>
          <p:cNvPr id="4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3ddb5175ee42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446" y="4433331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2F55A63A-9967-4CED-8106-3740F57A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110228"/>
            <a:ext cx="10088575" cy="9304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0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③ 低 confidence 只是保留候選；候選還要通過手腕距離與軌跡連續性。</a:t>
            </a:r>
            <a:endParaRPr sz="130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CBCA3B1F-AE39-496F-BA51-CB8748F7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78374"/>
            <a:ext cx="11094415" cy="1076706"/>
          </a:xfrm>
          <a:prstGeom xmlns:a="http://schemas.openxmlformats.org/drawingml/2006/main" prst="roundRect">
            <a:avLst>
              <a:gd name="adj" fmla="val 8493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28FE348C-09F7-418B-8047-CE0C48CF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24703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65A"/>
          </a:solidFill>
        </p:spPr>
      </p:sp>
      <p:pic>
        <p:nvPicPr>
          <p:cNvPr id="4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6d0b22dbb04f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446" y="5674629"/>
            <a:ext cx="284196" cy="284196"/>
          </a:xfrm>
          <a:prstGeom xmlns:a="http://schemas.openxmlformats.org/drawingml/2006/main" prst="rect">
            <a:avLst/>
          </a:prstGeom>
        </p:spPr>
      </p:pic>
      <p:sp>
        <p:nvSpPr>
          <p:cNvPr id="20" name="Text 13">
            <a:extLst xmlns:a="http://schemas.openxmlformats.org/drawingml/2006/main">
              <a:ext uri="{FF2B5EF4-FFF2-40B4-BE49-F238E27FC236}">
                <a16:creationId xmlns:a16="http://schemas.microsoft.com/office/drawing/2014/main" id="{2A723D53-FB6E-49E0-B762-230BB027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351526"/>
            <a:ext cx="10088575" cy="9304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0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④ 2D 角度只在固定機位下做相對比較；遮擋、模糊與透視都會影響結果。</a:t>
            </a:r>
            <a:endParaRPr sz="1300"/>
          </a:p>
        </p:txBody>
      </p:sp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99B6A65F-0525-474B-B03F-8E059FA7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69F61A03-EF93-4A69-AC76-A3679EEE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除錯順序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71252540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FD514F5-5AF0-45DF-ACBA-768709FA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1e82cfa0de41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850" y="540410"/>
            <a:ext cx="473659" cy="473659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50BABCC-0D41-4E78-9BB7-049F0A2E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"/>
            <a:ext cx="10058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上課執行順序與 Google Drive 產出</a:t>
            </a:r>
            <a:endParaRPr sz="30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24BE471C-9CBE-4220-A83B-5A5929B4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11094415" cy="96012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088243E4-4CA4-4781-8E16-5B37C3B7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087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</p:spPr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a43f9d29e141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676" y="1568196"/>
            <a:ext cx="338328" cy="338328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6380528-603D-4690-9166-8911DDDC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4173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E8622D"/>
                </a:solidFill>
                <a:latin typeface="Microsoft JhengHei"/>
                <a:ea typeface="Microsoft JhengHei"/>
                <a:cs typeface="Microsoft JhengHei"/>
              </a:rPr>
              <a:t>所有 notebook 開始前</a:t>
            </a:r>
            <a:endParaRPr sz="125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6E9B298-CA12-4608-B61C-6779BA4E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691640"/>
            <a:ext cx="9997135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350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先執行 init_colab.ipynb；確認三個模型完整，results directory 位於 Google Drive。</a:t>
            </a:r>
            <a:endParaRPr sz="135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4E1642C-2820-47D4-933C-B18BA1A0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14600"/>
            <a:ext cx="11094415" cy="1182624"/>
          </a:xfrm>
          <a:prstGeom xmlns:a="http://schemas.openxmlformats.org/drawingml/2006/main" prst="roundRect">
            <a:avLst>
              <a:gd name="adj" fmla="val 7732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443066B-6A79-4D02-8913-673AB07D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54452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405577FE-C963-439D-88BE-1CEC3ED8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54452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  <a:endParaRPr sz="15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CF672D63-4C0A-4FCB-90C0-1921C799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606040"/>
            <a:ext cx="995141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① Day 4-01｜影片、球偵測與追蹤</a:t>
            </a:r>
            <a:endParaRPr sz="145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432EDE9-68DC-489E-954D-B2A65F21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935224"/>
            <a:ext cx="9951415" cy="7254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2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確認 using video、5 張球框與 ByteTrack 預覽；結果寫入 assets/results/。</a:t>
            </a:r>
            <a:endParaRPr sz="12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97CE8A7D-2DDC-4CAB-93AF-8DBCA211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3528"/>
            <a:ext cx="11094415" cy="1182624"/>
          </a:xfrm>
          <a:prstGeom xmlns:a="http://schemas.openxmlformats.org/drawingml/2006/main" prst="roundRect">
            <a:avLst>
              <a:gd name="adj" fmla="val 7732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4C739662-EEDE-4344-8E68-8563F1B3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8338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26869FB0-E907-4DB0-AB1D-5737D59C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8338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endParaRPr sz="15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FA857EF-8D5E-4049-9804-866741C7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3934968"/>
            <a:ext cx="995141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② Day 4-02｜投籃者骨架與角度</a:t>
            </a:r>
            <a:endParaRPr sz="145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F876672D-8A04-4E8E-90FD-CECC99A0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264152"/>
            <a:ext cx="9951415" cy="7254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2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輸出 pose CSV、角度曲線與 overlay；先確認骨架身分再繼續。</a:t>
            </a:r>
            <a:endParaRPr sz="12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9DDE153-1497-43CC-BB74-09DEB5DC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72456"/>
            <a:ext cx="11094415" cy="1182624"/>
          </a:xfrm>
          <a:prstGeom xmlns:a="http://schemas.openxmlformats.org/drawingml/2006/main" prst="roundRect">
            <a:avLst>
              <a:gd name="adj" fmla="val 7732"/>
            </a:avLst>
          </a:prstGeom>
          <a:solidFill xmlns:a="http://schemas.openxmlformats.org/drawingml/2006/main">
            <a:srgbClr val="F2F4F8"/>
          </a:solidFill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ABA8B02-9356-4599-B4D2-30845005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12308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8259962-3214-4F49-A3A7-E3B359D9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12308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  <a:endParaRPr sz="15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532415-A323-4ABE-8B61-FDCB6963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263896"/>
            <a:ext cx="995141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③ Day 4-03｜事件、release 與起飛角</a:t>
            </a:r>
            <a:endParaRPr sz="145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F4CCB2B-7317-4B3B-836E-C4AD8E7E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593080"/>
            <a:ext cx="9951415" cy="7254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2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輸出事件表、事件球軌跡、檢查圖與 overlay；完成視覺驗證後再解讀。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CA05212-C2B4-4DFA-A648-001E5706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DAY 4  ·  Python 籃球運動資料分析課程</a:t>
            </a:r>
            <a:endParaRPr sz="9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61BCE60B-2C74-4A6A-8E1B-E61709EE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055" y="6510528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上課順序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9823680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C25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CAAC5D-03B8-4D0E-9DBB-6E648B4C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219456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622D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259837B-FD18-4A86-BE1D-E9DAC283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1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DAY 4 完成</a:t>
            </a:r>
            <a:endParaRPr sz="1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FB54804-CB3B-46F6-AC68-7E357C7E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110642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你們已經把一支投籃影片整理成球偵測、投籃者骨架、事件球軌跡、release frame 與 2D 起飛角。</a:t>
            </a:r>
            <a:endParaRPr sz="21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2C60594-1604-48CD-AEF5-833208FF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11064240" cy="128016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2B3A67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BDE5C67-B554-4011-8008-9009D852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27832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2A65A"/>
                </a:solidFill>
                <a:latin typeface="Microsoft JhengHei"/>
                <a:ea typeface="Microsoft JhengHei"/>
                <a:cs typeface="Microsoft JhengHei"/>
              </a:rPr>
              <a:t>今天真正要帶走的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B3C61E1-7C13-4C73-B9AF-0C0766EC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66160"/>
            <a:ext cx="104241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00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不是單一角度，而是一套可以逐層檢查的分析流程：先確認畫面，再確認人物與球，最後才相信事件與數字。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020269D-0C25-483E-A0B9-BA1296B8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4" y="5266944"/>
            <a:ext cx="1016172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B3A67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20096C6-A316-4899-B9C5-D0926733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6"/>
          </a:solidFill>
          <a:ln xmlns:a="http://schemas.openxmlformats.org/drawingml/2006/main" w="15875">
            <a:solidFill>
              <a:srgbClr val="CBD5E6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15D854A-967E-4C8A-BF30-F309EB17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1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B766EBA-EE6D-408B-9850-887DAB02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" y="553212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影片</a:t>
            </a:r>
            <a:endParaRPr sz="9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B2082EF-0275-4ADD-BC9F-5C32A34D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3392" y="5074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6"/>
          </a:solidFill>
          <a:ln xmlns:a="http://schemas.openxmlformats.org/drawingml/2006/main" w="15875">
            <a:solidFill>
              <a:srgbClr val="CBD5E6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55BE007-9B12-4CAD-A64D-9A96CB36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3392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996BB9D-1DEA-4573-B035-D27F1253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9616" y="553212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偵測</a:t>
            </a:r>
            <a:endParaRPr sz="9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09884BA-0E4C-4EA1-AD8F-25909DB8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824" y="5074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6"/>
          </a:solidFill>
          <a:ln xmlns:a="http://schemas.openxmlformats.org/drawingml/2006/main" w="15875">
            <a:solidFill>
              <a:srgbClr val="CBD5E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6F2CDA1-CBD6-40E8-B6CA-71086CC6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824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C2541"/>
                </a:solidFill>
                <a:latin typeface="Microsoft JhengHei"/>
                <a:ea typeface="Microsoft JhengHei"/>
                <a:cs typeface="Microsoft JhengHei"/>
              </a:rPr>
              <a:t>3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019CFE7-270B-4333-B496-2136A630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048" y="553212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姿態</a:t>
            </a:r>
            <a:endParaRPr sz="9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726C7FE-C154-426E-B4D5-70FB9B9B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4255" y="5074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22D"/>
          </a:solidFill>
          <a:ln xmlns:a="http://schemas.openxmlformats.org/drawingml/2006/main" w="15875">
            <a:solidFill>
              <a:srgbClr val="E8622D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0624DDD-DBEA-439F-A654-939582A2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4255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  <a:endParaRPr sz="13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2653D92-234D-4086-A503-A0277A78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479" y="553212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事件</a:t>
            </a:r>
            <a:endParaRPr sz="9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09089EFE-1E32-4BA0-AE75-7EAC02FA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4687" y="5074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C2541"/>
          </a:solidFill>
          <a:ln xmlns:a="http://schemas.openxmlformats.org/drawingml/2006/main" w="15875">
            <a:solidFill>
              <a:srgbClr val="CBD5E6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48FEBE5-9A32-403F-89D3-47811C22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4687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5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A64A77E-5910-4BA5-8CDE-24469C5C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911" y="5532120"/>
            <a:ext cx="1371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CBD5E6"/>
                </a:solidFill>
                <a:latin typeface="Microsoft JhengHei"/>
                <a:ea typeface="Microsoft JhengHei"/>
                <a:cs typeface="Microsoft JhengHei"/>
              </a:rPr>
              <a:t>驗證</a:t>
            </a:r>
            <a:endParaRPr sz="9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198BFCE-E540-4C81-AAD0-54E1853D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B6B8C"/>
                </a:solidFill>
                <a:latin typeface="Microsoft JhengHei"/>
                <a:ea typeface="Microsoft JhengHei"/>
                <a:cs typeface="Microsoft JhengHei"/>
              </a:rPr>
              <a:t>Python 籃球運動資料分析課程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6874864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2026-09-02T20:49:30.5280000Z</dcterms:created>
  <dcterms:modified xsi:type="dcterms:W3CDTF">2026-09-02T20:49:30.5280000Z</dcterms:modified>
</coreProperties>
</file>