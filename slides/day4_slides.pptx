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5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371600"/>
            <a:ext cx="4206240" cy="4206240"/>
          </a:xfrm>
          <a:prstGeom prst="ellipse">
            <a:avLst/>
          </a:prstGeom>
          <a:solidFill>
            <a:srgbClr val="2B3A6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137160"/>
            <a:ext cx="1737360" cy="1737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85800"/>
            <a:ext cx="1417320" cy="457200"/>
          </a:xfrm>
          <a:prstGeom prst="roundRect">
            <a:avLst>
              <a:gd name="adj" fmla="val 16000"/>
            </a:avLst>
          </a:prstGeom>
          <a:solidFill>
            <a:srgbClr val="E8622D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6858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4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331720"/>
            <a:ext cx="8778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投籃姿態</a:t>
            </a:r>
            <a:endParaRPr lang="en-US" sz="38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與球軌跡分析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97764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從全場視角，聚焦到一次投籃動作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1014984" y="5266944"/>
            <a:ext cx="10161727" cy="0"/>
          </a:xfrm>
          <a:prstGeom prst="line">
            <a:avLst/>
          </a:prstGeom>
          <a:noFill/>
          <a:ln w="19050">
            <a:solidFill>
              <a:srgbClr val="2B3A6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5074920"/>
            <a:ext cx="384048" cy="384048"/>
          </a:xfrm>
          <a:prstGeom prst="ellipse">
            <a:avLst/>
          </a:prstGeom>
          <a:solidFill>
            <a:srgbClr val="CBD5E6"/>
          </a:solidFill>
          <a:ln w="15875">
            <a:solidFill>
              <a:srgbClr val="CBD5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29184" y="5532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座標定位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363392" y="5074920"/>
            <a:ext cx="384048" cy="384048"/>
          </a:xfrm>
          <a:prstGeom prst="ellipse">
            <a:avLst/>
          </a:prstGeom>
          <a:solidFill>
            <a:srgbClr val="CBD5E6"/>
          </a:solidFill>
          <a:ln w="15875">
            <a:solidFill>
              <a:srgbClr val="CBD5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63392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869616" y="5532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物件偵測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903824" y="5074920"/>
            <a:ext cx="384048" cy="384048"/>
          </a:xfrm>
          <a:prstGeom prst="ellipse">
            <a:avLst/>
          </a:prstGeom>
          <a:solidFill>
            <a:srgbClr val="CBD5E6"/>
          </a:solidFill>
          <a:ln w="15875">
            <a:solidFill>
              <a:srgbClr val="CBD5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03824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10048" y="5532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追蹤系統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444255" y="5074920"/>
            <a:ext cx="384048" cy="384048"/>
          </a:xfrm>
          <a:prstGeom prst="ellipse">
            <a:avLst/>
          </a:prstGeom>
          <a:solidFill>
            <a:srgbClr val="E8622D"/>
          </a:solidFill>
          <a:ln w="15875">
            <a:solidFill>
              <a:srgbClr val="E8622D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44255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7950479" y="5532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姿態軌跡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10984687" y="5074920"/>
            <a:ext cx="384048" cy="384048"/>
          </a:xfrm>
          <a:prstGeom prst="ellipse">
            <a:avLst/>
          </a:prstGeom>
          <a:solidFill>
            <a:srgbClr val="1C2541"/>
          </a:solidFill>
          <a:ln w="15875">
            <a:solidFill>
              <a:srgbClr val="CBD5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84687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BD5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0490911" y="5532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整合展示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Python 籃球運動資料分析課程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E8622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850" y="540410"/>
            <a:ext cx="473659" cy="47365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4 總覽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F2F4F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508760"/>
            <a:ext cx="457200" cy="457200"/>
          </a:xfrm>
          <a:prstGeom prst="ellipse">
            <a:avLst/>
          </a:prstGeom>
          <a:solidFill>
            <a:srgbClr val="E8622D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" y="1568196"/>
            <a:ext cx="338328" cy="33832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62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今日目標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1417320" y="1691640"/>
            <a:ext cx="99971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把自己拍的投籃影片轉成統一格式，並用人體姿態關鍵點與球體追蹤，分析投籃時的關節角度與出手時機。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548640" y="2514600"/>
            <a:ext cx="11094415" cy="1182624"/>
          </a:xfrm>
          <a:prstGeom prst="roundRect">
            <a:avLst>
              <a:gd name="adj" fmla="val 7732"/>
            </a:avLst>
          </a:prstGeom>
          <a:solidFill>
            <a:srgbClr val="F2F4F8"/>
          </a:solidFill>
          <a:ln/>
        </p:spPr>
      </p:sp>
      <p:sp>
        <p:nvSpPr>
          <p:cNvPr id="11" name="Shape 7"/>
          <p:cNvSpPr/>
          <p:nvPr/>
        </p:nvSpPr>
        <p:spPr>
          <a:xfrm>
            <a:off x="731520" y="2854452"/>
            <a:ext cx="502920" cy="502920"/>
          </a:xfrm>
          <a:prstGeom prst="ellipse">
            <a:avLst/>
          </a:prstGeom>
          <a:solidFill>
            <a:srgbClr val="1C2541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31520" y="28544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508760" y="2606040"/>
            <a:ext cx="9951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d4_01｜投籃影片上傳與格式轉換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1508760" y="2935224"/>
            <a:ext cx="9951415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Google Drive 或連結上傳原始影片，透過 ffmpeg 轉成統一規格的 MP4。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3843528"/>
            <a:ext cx="11094415" cy="1182624"/>
          </a:xfrm>
          <a:prstGeom prst="roundRect">
            <a:avLst>
              <a:gd name="adj" fmla="val 7732"/>
            </a:avLst>
          </a:prstGeom>
          <a:solidFill>
            <a:srgbClr val="F2F4F8"/>
          </a:solidFill>
          <a:ln/>
        </p:spPr>
      </p:sp>
      <p:sp>
        <p:nvSpPr>
          <p:cNvPr id="16" name="Shape 12"/>
          <p:cNvSpPr/>
          <p:nvPr/>
        </p:nvSpPr>
        <p:spPr>
          <a:xfrm>
            <a:off x="731520" y="4183380"/>
            <a:ext cx="502920" cy="502920"/>
          </a:xfrm>
          <a:prstGeom prst="ellipse">
            <a:avLst/>
          </a:prstGeom>
          <a:solidFill>
            <a:srgbClr val="1C2541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31520" y="41833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1508760" y="3934968"/>
            <a:ext cx="9951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d4_02｜人體姿態點與投籃角度分析</a:t>
            </a:r>
            <a:endParaRPr lang="en-US" sz="1450" dirty="0"/>
          </a:p>
        </p:txBody>
      </p:sp>
      <p:sp>
        <p:nvSpPr>
          <p:cNvPr id="19" name="Text 15"/>
          <p:cNvSpPr txBox="1"/>
          <p:nvPr/>
        </p:nvSpPr>
        <p:spPr>
          <a:xfrm>
            <a:off x="1508760" y="4264152"/>
            <a:ext cx="9951415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MediaPipe（或合成資料）取得姿態關鍵點，計算手肘、膝蓋、肩膀角度時間序列。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48640" y="5172456"/>
            <a:ext cx="11094415" cy="1182624"/>
          </a:xfrm>
          <a:prstGeom prst="roundRect">
            <a:avLst>
              <a:gd name="adj" fmla="val 7732"/>
            </a:avLst>
          </a:prstGeom>
          <a:solidFill>
            <a:srgbClr val="F2F4F8"/>
          </a:solidFill>
          <a:ln/>
        </p:spPr>
      </p:sp>
      <p:sp>
        <p:nvSpPr>
          <p:cNvPr id="21" name="Shape 17"/>
          <p:cNvSpPr/>
          <p:nvPr/>
        </p:nvSpPr>
        <p:spPr>
          <a:xfrm>
            <a:off x="731520" y="5512308"/>
            <a:ext cx="502920" cy="502920"/>
          </a:xfrm>
          <a:prstGeom prst="ellipse">
            <a:avLst/>
          </a:prstGeom>
          <a:solidFill>
            <a:srgbClr val="1C2541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31520" y="55123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1508760" y="5263896"/>
            <a:ext cx="9951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d4_03｜籃球軌跡追蹤與出手點估計</a:t>
            </a:r>
            <a:endParaRPr lang="en-US" sz="1450" dirty="0"/>
          </a:p>
        </p:txBody>
      </p:sp>
      <p:sp>
        <p:nvSpPr>
          <p:cNvPr id="24" name="Text 20"/>
          <p:cNvSpPr txBox="1"/>
          <p:nvPr/>
        </p:nvSpPr>
        <p:spPr>
          <a:xfrm>
            <a:off x="1508760" y="5593080"/>
            <a:ext cx="9951415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用顏色式方法追蹤籃球，記錄逐 frame 座標，依速度變化估計出手 frame。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54864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4  ·  Python 籃球運動資料分析課程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7071055" y="6510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今日總覽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E8622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850" y="540410"/>
            <a:ext cx="473659" cy="47365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43891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862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核心概念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7132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關節角度怎麼算出來的？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5212080" cy="1965960"/>
          </a:xfrm>
          <a:prstGeom prst="roundRect">
            <a:avLst>
              <a:gd name="adj" fmla="val 4651"/>
            </a:avLst>
          </a:prstGeom>
          <a:solidFill>
            <a:srgbClr val="F2F4F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16642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2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白話解釋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956816"/>
            <a:ext cx="4754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MediaPipe 會在身體上標出一串關鍵點（肩膀、手肘、手腕、膝蓋…），每個點都有自己的座標。要算「手肘角度」，其實就是拿「肩膀－手肘－手腕」這三個點，算出手肘這個頂點兩條邊之間的夾角——跟國中數學算兩條線夾角的方法一樣，只是座標每個 frame 都在變，角度也就變成一條隨時間變化的折線圖。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703320"/>
            <a:ext cx="5212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若分析對象是左手投籃，要把 MediaPipe 的 RIGHT_* 關鍵點改成 LEFT_*</a:t>
            </a:r>
            <a:endParaRPr lang="en-US" sz="1350" dirty="0"/>
          </a:p>
          <a:p>
            <a:pPr marL="203200" indent="-2032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沒有姿態模型或影片時，可先用合成資料確認欄位與計算流程</a:t>
            </a:r>
            <a:endParaRPr lang="en-US" sz="1350" dirty="0"/>
          </a:p>
          <a:p>
            <a:pPr marL="203200" indent="-2032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球的顏色式追蹤只是基準方法，正式專案建議用 YOLO 偵測 + ByteTrack／BoT-SORT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989320" y="1508760"/>
            <a:ext cx="5653735" cy="4709160"/>
          </a:xfrm>
          <a:prstGeom prst="roundRect">
            <a:avLst>
              <a:gd name="adj" fmla="val 1942"/>
            </a:avLst>
          </a:prstGeom>
          <a:solidFill>
            <a:srgbClr val="FAFBFD"/>
          </a:solidFill>
          <a:ln/>
        </p:spPr>
      </p:sp>
      <p:sp>
        <p:nvSpPr>
          <p:cNvPr id="11" name="Shape 8"/>
          <p:cNvSpPr/>
          <p:nvPr/>
        </p:nvSpPr>
        <p:spPr>
          <a:xfrm>
            <a:off x="7672950" y="2162556"/>
            <a:ext cx="1766822" cy="1020470"/>
          </a:xfrm>
          <a:prstGeom prst="line">
            <a:avLst/>
          </a:prstGeom>
          <a:noFill/>
          <a:ln w="38100">
            <a:solidFill>
              <a:srgbClr val="E8622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439772" y="3183026"/>
            <a:ext cx="-1662891" cy="935431"/>
          </a:xfrm>
          <a:prstGeom prst="line">
            <a:avLst/>
          </a:prstGeom>
          <a:noFill/>
          <a:ln w="38100">
            <a:solidFill>
              <a:srgbClr val="1C254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08942" y="2098548"/>
            <a:ext cx="128016" cy="128016"/>
          </a:xfrm>
          <a:prstGeom prst="ellipse">
            <a:avLst/>
          </a:prstGeom>
          <a:solidFill>
            <a:srgbClr val="1C254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667110" y="193395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肩 Shoulder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9375764" y="3119018"/>
            <a:ext cx="128016" cy="128016"/>
          </a:xfrm>
          <a:prstGeom prst="ellipse">
            <a:avLst/>
          </a:prstGeom>
          <a:solidFill>
            <a:srgbClr val="1C254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586076" y="309158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肘 Elbow（θ）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712873" y="4054450"/>
            <a:ext cx="128016" cy="128016"/>
          </a:xfrm>
          <a:prstGeom prst="ellipse">
            <a:avLst/>
          </a:prstGeom>
          <a:solidFill>
            <a:srgbClr val="1C254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862481" y="416417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腕 Wrist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6217920" y="4798771"/>
            <a:ext cx="5196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θ = 肩－肘－腕 三個關鍵點所形成的夾角，逐 frame 計算後就是一條角度時間序列。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4  ·  Python 籃球運動資料分析課程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7071055" y="6510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核心概念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E8622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850" y="586130"/>
            <a:ext cx="473659" cy="47365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4572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862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D4 · NOTEBOOK 1 · d4_01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713232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投籃影片上傳與格式轉換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3545738" cy="3931920"/>
          </a:xfrm>
          <a:prstGeom prst="roundRect">
            <a:avLst>
              <a:gd name="adj" fmla="val 2579"/>
            </a:avLst>
          </a:prstGeom>
          <a:solidFill>
            <a:srgbClr val="F2F4F8"/>
          </a:solidFill>
          <a:ln/>
        </p:spPr>
      </p:sp>
      <p:sp>
        <p:nvSpPr>
          <p:cNvPr id="7" name="Shape 4"/>
          <p:cNvSpPr/>
          <p:nvPr/>
        </p:nvSpPr>
        <p:spPr>
          <a:xfrm>
            <a:off x="749808" y="2167128"/>
            <a:ext cx="384048" cy="384048"/>
          </a:xfrm>
          <a:prstGeom prst="ellipse">
            <a:avLst/>
          </a:prstGeom>
          <a:solidFill>
            <a:srgbClr val="1C254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734" y="2217054"/>
            <a:ext cx="284196" cy="2841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2148840"/>
            <a:ext cx="2631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學習目標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04672" y="2743200"/>
            <a:ext cx="3033674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8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把原始投籃影片放入 assets/raw/ 或用連結下載</a:t>
            </a:r>
            <a:endParaRPr lang="en-US" sz="1180" dirty="0"/>
          </a:p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8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ffmpeg 轉成固定規格的 MP4</a:t>
            </a:r>
            <a:endParaRPr lang="en-US" sz="1180" dirty="0"/>
          </a:p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8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 converted 影片清單正確</a:t>
            </a:r>
            <a:endParaRPr lang="en-US" sz="1180" dirty="0"/>
          </a:p>
        </p:txBody>
      </p:sp>
      <p:sp>
        <p:nvSpPr>
          <p:cNvPr id="11" name="Shape 7"/>
          <p:cNvSpPr/>
          <p:nvPr/>
        </p:nvSpPr>
        <p:spPr>
          <a:xfrm>
            <a:off x="4322978" y="1965960"/>
            <a:ext cx="3545738" cy="3931920"/>
          </a:xfrm>
          <a:prstGeom prst="roundRect">
            <a:avLst>
              <a:gd name="adj" fmla="val 2579"/>
            </a:avLst>
          </a:prstGeom>
          <a:solidFill>
            <a:srgbClr val="F2F4F8"/>
          </a:solidFill>
          <a:ln/>
        </p:spPr>
      </p:sp>
      <p:sp>
        <p:nvSpPr>
          <p:cNvPr id="12" name="Shape 8"/>
          <p:cNvSpPr/>
          <p:nvPr/>
        </p:nvSpPr>
        <p:spPr>
          <a:xfrm>
            <a:off x="4524146" y="2167128"/>
            <a:ext cx="384048" cy="384048"/>
          </a:xfrm>
          <a:prstGeom prst="ellipse">
            <a:avLst/>
          </a:prstGeom>
          <a:solidFill>
            <a:srgbClr val="1C254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073" y="2217054"/>
            <a:ext cx="284196" cy="28419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08778" y="2148840"/>
            <a:ext cx="2631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課程流程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579010" y="2743200"/>
            <a:ext cx="3033674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8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 Drive 上傳或 URL 下載</a:t>
            </a:r>
            <a:endParaRPr lang="en-US" sz="1180" dirty="0"/>
          </a:p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8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執行影片轉檔</a:t>
            </a:r>
            <a:endParaRPr lang="en-US" sz="1180" dirty="0"/>
          </a:p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8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 assets/converted/ 內的輸出檔案</a:t>
            </a:r>
            <a:endParaRPr lang="en-US" sz="1180" dirty="0"/>
          </a:p>
        </p:txBody>
      </p:sp>
      <p:sp>
        <p:nvSpPr>
          <p:cNvPr id="16" name="Shape 11"/>
          <p:cNvSpPr/>
          <p:nvPr/>
        </p:nvSpPr>
        <p:spPr>
          <a:xfrm>
            <a:off x="8097317" y="1965960"/>
            <a:ext cx="3545738" cy="3931920"/>
          </a:xfrm>
          <a:prstGeom prst="roundRect">
            <a:avLst>
              <a:gd name="adj" fmla="val 2579"/>
            </a:avLst>
          </a:prstGeom>
          <a:solidFill>
            <a:srgbClr val="F2F4F8"/>
          </a:solidFill>
          <a:ln/>
        </p:spPr>
      </p:sp>
      <p:sp>
        <p:nvSpPr>
          <p:cNvPr id="17" name="Shape 12"/>
          <p:cNvSpPr/>
          <p:nvPr/>
        </p:nvSpPr>
        <p:spPr>
          <a:xfrm>
            <a:off x="8298485" y="2167128"/>
            <a:ext cx="384048" cy="384048"/>
          </a:xfrm>
          <a:prstGeom prst="ellipse">
            <a:avLst/>
          </a:prstGeom>
          <a:solidFill>
            <a:srgbClr val="1C2541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8411" y="2217054"/>
            <a:ext cx="284196" cy="28419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783117" y="2148840"/>
            <a:ext cx="2631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完成產出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8353349" y="2743200"/>
            <a:ext cx="3033674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8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assets/converted/ 內的標準化 MP4 影片</a:t>
            </a:r>
            <a:endParaRPr lang="en-US" sz="1180" dirty="0"/>
          </a:p>
        </p:txBody>
      </p:sp>
      <p:sp>
        <p:nvSpPr>
          <p:cNvPr id="21" name="Text 15"/>
          <p:cNvSpPr txBox="1"/>
          <p:nvPr/>
        </p:nvSpPr>
        <p:spPr>
          <a:xfrm>
            <a:off x="54864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4  ·  Python 籃球運動資料分析課程</a:t>
            </a:r>
            <a:endParaRPr lang="en-US" sz="900" dirty="0"/>
          </a:p>
        </p:txBody>
      </p:sp>
      <p:sp>
        <p:nvSpPr>
          <p:cNvPr id="22" name="Text 16"/>
          <p:cNvSpPr txBox="1"/>
          <p:nvPr/>
        </p:nvSpPr>
        <p:spPr>
          <a:xfrm>
            <a:off x="7071055" y="6510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Notebook 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E8622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850" y="586130"/>
            <a:ext cx="473659" cy="47365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4572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862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D4 · NOTEBOOK 2 · d4_02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713232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人體姿態點與投籃角度分析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3545738" cy="3931920"/>
          </a:xfrm>
          <a:prstGeom prst="roundRect">
            <a:avLst>
              <a:gd name="adj" fmla="val 2579"/>
            </a:avLst>
          </a:prstGeom>
          <a:solidFill>
            <a:srgbClr val="F2F4F8"/>
          </a:solidFill>
          <a:ln/>
        </p:spPr>
      </p:sp>
      <p:sp>
        <p:nvSpPr>
          <p:cNvPr id="7" name="Shape 4"/>
          <p:cNvSpPr/>
          <p:nvPr/>
        </p:nvSpPr>
        <p:spPr>
          <a:xfrm>
            <a:off x="749808" y="2167128"/>
            <a:ext cx="384048" cy="384048"/>
          </a:xfrm>
          <a:prstGeom prst="ellipse">
            <a:avLst/>
          </a:prstGeom>
          <a:solidFill>
            <a:srgbClr val="1C254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734" y="2217054"/>
            <a:ext cx="284196" cy="2841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2148840"/>
            <a:ext cx="2631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學習目標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04672" y="2743200"/>
            <a:ext cx="3033674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8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 pose landmark 如何整理成表格資料</a:t>
            </a:r>
            <a:endParaRPr lang="en-US" sz="1180" dirty="0"/>
          </a:p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8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由肩、肘、腕等關節點計算角度時間序列</a:t>
            </a:r>
            <a:endParaRPr lang="en-US" sz="1180" dirty="0"/>
          </a:p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8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輸出角度 CSV 與折線圖</a:t>
            </a:r>
            <a:endParaRPr lang="en-US" sz="1180" dirty="0"/>
          </a:p>
        </p:txBody>
      </p:sp>
      <p:sp>
        <p:nvSpPr>
          <p:cNvPr id="11" name="Shape 7"/>
          <p:cNvSpPr/>
          <p:nvPr/>
        </p:nvSpPr>
        <p:spPr>
          <a:xfrm>
            <a:off x="4322978" y="1965960"/>
            <a:ext cx="3545738" cy="3931920"/>
          </a:xfrm>
          <a:prstGeom prst="roundRect">
            <a:avLst>
              <a:gd name="adj" fmla="val 2579"/>
            </a:avLst>
          </a:prstGeom>
          <a:solidFill>
            <a:srgbClr val="F2F4F8"/>
          </a:solidFill>
          <a:ln/>
        </p:spPr>
      </p:sp>
      <p:sp>
        <p:nvSpPr>
          <p:cNvPr id="12" name="Shape 8"/>
          <p:cNvSpPr/>
          <p:nvPr/>
        </p:nvSpPr>
        <p:spPr>
          <a:xfrm>
            <a:off x="4524146" y="2167128"/>
            <a:ext cx="384048" cy="384048"/>
          </a:xfrm>
          <a:prstGeom prst="ellipse">
            <a:avLst/>
          </a:prstGeom>
          <a:solidFill>
            <a:srgbClr val="1C254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073" y="2217054"/>
            <a:ext cx="284196" cy="28419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08778" y="2148840"/>
            <a:ext cx="2631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課程流程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579010" y="2743200"/>
            <a:ext cx="3033674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8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先用合成資料確認欄位與計算流程</a:t>
            </a:r>
            <a:endParaRPr lang="en-US" sz="1180" dirty="0"/>
          </a:p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8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需要時啟用 MediaPipe 讀取學生影片</a:t>
            </a:r>
            <a:endParaRPr lang="en-US" sz="1180" dirty="0"/>
          </a:p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8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輸出角度 CSV、折線圖與骨架示意圖</a:t>
            </a:r>
            <a:endParaRPr lang="en-US" sz="1180" dirty="0"/>
          </a:p>
        </p:txBody>
      </p:sp>
      <p:sp>
        <p:nvSpPr>
          <p:cNvPr id="16" name="Shape 11"/>
          <p:cNvSpPr/>
          <p:nvPr/>
        </p:nvSpPr>
        <p:spPr>
          <a:xfrm>
            <a:off x="8097317" y="1965960"/>
            <a:ext cx="3545738" cy="3931920"/>
          </a:xfrm>
          <a:prstGeom prst="roundRect">
            <a:avLst>
              <a:gd name="adj" fmla="val 2579"/>
            </a:avLst>
          </a:prstGeom>
          <a:solidFill>
            <a:srgbClr val="F2F4F8"/>
          </a:solidFill>
          <a:ln/>
        </p:spPr>
      </p:sp>
      <p:sp>
        <p:nvSpPr>
          <p:cNvPr id="17" name="Shape 12"/>
          <p:cNvSpPr/>
          <p:nvPr/>
        </p:nvSpPr>
        <p:spPr>
          <a:xfrm>
            <a:off x="8298485" y="2167128"/>
            <a:ext cx="384048" cy="384048"/>
          </a:xfrm>
          <a:prstGeom prst="ellipse">
            <a:avLst/>
          </a:prstGeom>
          <a:solidFill>
            <a:srgbClr val="1C2541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8411" y="2217054"/>
            <a:ext cx="284196" cy="28419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783117" y="2148840"/>
            <a:ext cx="2631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完成產出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8353349" y="2743200"/>
            <a:ext cx="3033674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8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姿態角度 CSV</a:t>
            </a:r>
            <a:endParaRPr lang="en-US" sz="1180" dirty="0"/>
          </a:p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8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角度折線圖與骨架預覽圖</a:t>
            </a:r>
            <a:endParaRPr lang="en-US" sz="1180" dirty="0"/>
          </a:p>
        </p:txBody>
      </p:sp>
      <p:sp>
        <p:nvSpPr>
          <p:cNvPr id="21" name="Text 15"/>
          <p:cNvSpPr txBox="1"/>
          <p:nvPr/>
        </p:nvSpPr>
        <p:spPr>
          <a:xfrm>
            <a:off x="54864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4  ·  Python 籃球運動資料分析課程</a:t>
            </a:r>
            <a:endParaRPr lang="en-US" sz="900" dirty="0"/>
          </a:p>
        </p:txBody>
      </p:sp>
      <p:sp>
        <p:nvSpPr>
          <p:cNvPr id="22" name="Text 16"/>
          <p:cNvSpPr txBox="1"/>
          <p:nvPr/>
        </p:nvSpPr>
        <p:spPr>
          <a:xfrm>
            <a:off x="7071055" y="6510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Notebook 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E8622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850" y="586130"/>
            <a:ext cx="473659" cy="47365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4572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862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D4 · NOTEBOOK 3 · d4_03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713232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籃球軌跡追蹤與出手點估計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3545738" cy="3931920"/>
          </a:xfrm>
          <a:prstGeom prst="roundRect">
            <a:avLst>
              <a:gd name="adj" fmla="val 2579"/>
            </a:avLst>
          </a:prstGeom>
          <a:solidFill>
            <a:srgbClr val="F2F4F8"/>
          </a:solidFill>
          <a:ln/>
        </p:spPr>
      </p:sp>
      <p:sp>
        <p:nvSpPr>
          <p:cNvPr id="7" name="Shape 4"/>
          <p:cNvSpPr/>
          <p:nvPr/>
        </p:nvSpPr>
        <p:spPr>
          <a:xfrm>
            <a:off x="749808" y="2167128"/>
            <a:ext cx="384048" cy="384048"/>
          </a:xfrm>
          <a:prstGeom prst="ellipse">
            <a:avLst/>
          </a:prstGeom>
          <a:solidFill>
            <a:srgbClr val="1C254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734" y="2217054"/>
            <a:ext cx="284196" cy="2841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2148840"/>
            <a:ext cx="2631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學習目標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04672" y="2743200"/>
            <a:ext cx="3033674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8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從已轉檔影片逐 frame 取得籃球中心點座標</a:t>
            </a:r>
            <a:endParaRPr lang="en-US" sz="1180" dirty="0"/>
          </a:p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8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依速度變化估計出手 frame</a:t>
            </a:r>
            <a:endParaRPr lang="en-US" sz="1180" dirty="0"/>
          </a:p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8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輸出球軌跡 CSV 與軌跡圖</a:t>
            </a:r>
            <a:endParaRPr lang="en-US" sz="1180" dirty="0"/>
          </a:p>
        </p:txBody>
      </p:sp>
      <p:sp>
        <p:nvSpPr>
          <p:cNvPr id="11" name="Shape 7"/>
          <p:cNvSpPr/>
          <p:nvPr/>
        </p:nvSpPr>
        <p:spPr>
          <a:xfrm>
            <a:off x="4322978" y="1965960"/>
            <a:ext cx="3545738" cy="3931920"/>
          </a:xfrm>
          <a:prstGeom prst="roundRect">
            <a:avLst>
              <a:gd name="adj" fmla="val 2579"/>
            </a:avLst>
          </a:prstGeom>
          <a:solidFill>
            <a:srgbClr val="F2F4F8"/>
          </a:solidFill>
          <a:ln/>
        </p:spPr>
      </p:sp>
      <p:sp>
        <p:nvSpPr>
          <p:cNvPr id="12" name="Shape 8"/>
          <p:cNvSpPr/>
          <p:nvPr/>
        </p:nvSpPr>
        <p:spPr>
          <a:xfrm>
            <a:off x="4524146" y="2167128"/>
            <a:ext cx="384048" cy="384048"/>
          </a:xfrm>
          <a:prstGeom prst="ellipse">
            <a:avLst/>
          </a:prstGeom>
          <a:solidFill>
            <a:srgbClr val="1C254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073" y="2217054"/>
            <a:ext cx="284196" cy="28419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08778" y="2148840"/>
            <a:ext cx="2631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課程流程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579010" y="2743200"/>
            <a:ext cx="3033674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8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 Day 4-01 產生的 converted 影片</a:t>
            </a:r>
            <a:endParaRPr lang="en-US" sz="1180" dirty="0"/>
          </a:p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8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執行顏色式基準追蹤 track_orange_ball</a:t>
            </a:r>
            <a:endParaRPr lang="en-US" sz="1180" dirty="0"/>
          </a:p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8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儲存軌跡並判讀出手點</a:t>
            </a:r>
            <a:endParaRPr lang="en-US" sz="1180" dirty="0"/>
          </a:p>
        </p:txBody>
      </p:sp>
      <p:sp>
        <p:nvSpPr>
          <p:cNvPr id="16" name="Shape 11"/>
          <p:cNvSpPr/>
          <p:nvPr/>
        </p:nvSpPr>
        <p:spPr>
          <a:xfrm>
            <a:off x="8097317" y="1965960"/>
            <a:ext cx="3545738" cy="3931920"/>
          </a:xfrm>
          <a:prstGeom prst="roundRect">
            <a:avLst>
              <a:gd name="adj" fmla="val 2579"/>
            </a:avLst>
          </a:prstGeom>
          <a:solidFill>
            <a:srgbClr val="F2F4F8"/>
          </a:solidFill>
          <a:ln/>
        </p:spPr>
      </p:sp>
      <p:sp>
        <p:nvSpPr>
          <p:cNvPr id="17" name="Shape 12"/>
          <p:cNvSpPr/>
          <p:nvPr/>
        </p:nvSpPr>
        <p:spPr>
          <a:xfrm>
            <a:off x="8298485" y="2167128"/>
            <a:ext cx="384048" cy="384048"/>
          </a:xfrm>
          <a:prstGeom prst="ellipse">
            <a:avLst/>
          </a:prstGeom>
          <a:solidFill>
            <a:srgbClr val="1C2541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8411" y="2217054"/>
            <a:ext cx="284196" cy="28419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783117" y="2148840"/>
            <a:ext cx="2631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完成產出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8353349" y="2743200"/>
            <a:ext cx="3033674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8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球軌跡 CSV</a:t>
            </a:r>
            <a:endParaRPr lang="en-US" sz="1180" dirty="0"/>
          </a:p>
          <a:p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8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球軌跡圖</a:t>
            </a:r>
            <a:endParaRPr lang="en-US" sz="1180" dirty="0"/>
          </a:p>
        </p:txBody>
      </p:sp>
      <p:sp>
        <p:nvSpPr>
          <p:cNvPr id="21" name="Text 15"/>
          <p:cNvSpPr txBox="1"/>
          <p:nvPr/>
        </p:nvSpPr>
        <p:spPr>
          <a:xfrm>
            <a:off x="54864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4  ·  Python 籃球運動資料分析課程</a:t>
            </a:r>
            <a:endParaRPr lang="en-US" sz="900" dirty="0"/>
          </a:p>
        </p:txBody>
      </p:sp>
      <p:sp>
        <p:nvSpPr>
          <p:cNvPr id="22" name="Text 16"/>
          <p:cNvSpPr txBox="1"/>
          <p:nvPr/>
        </p:nvSpPr>
        <p:spPr>
          <a:xfrm>
            <a:off x="7071055" y="6510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Notebook 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E8622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850" y="540410"/>
            <a:ext cx="473659" cy="47365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關鍵名詞速查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3545738" cy="1600200"/>
          </a:xfrm>
          <a:prstGeom prst="roundRect">
            <a:avLst>
              <a:gd name="adj" fmla="val 5714"/>
            </a:avLst>
          </a:prstGeom>
          <a:solidFill>
            <a:srgbClr val="F2F4F8"/>
          </a:solidFill>
          <a:ln/>
        </p:spPr>
      </p:sp>
      <p:sp>
        <p:nvSpPr>
          <p:cNvPr id="6" name="Shape 3"/>
          <p:cNvSpPr/>
          <p:nvPr/>
        </p:nvSpPr>
        <p:spPr>
          <a:xfrm>
            <a:off x="749808" y="2377440"/>
            <a:ext cx="365760" cy="365760"/>
          </a:xfrm>
          <a:prstGeom prst="ellipse">
            <a:avLst/>
          </a:prstGeom>
          <a:solidFill>
            <a:srgbClr val="E8622D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7" y="2424989"/>
            <a:ext cx="270662" cy="27066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49808" y="2834640"/>
            <a:ext cx="31434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ffmpeg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3218688"/>
            <a:ext cx="31434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影片轉檔／剪輯的命令列工具，用來統一影片格式與規格。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322978" y="2194560"/>
            <a:ext cx="3545738" cy="1600200"/>
          </a:xfrm>
          <a:prstGeom prst="roundRect">
            <a:avLst>
              <a:gd name="adj" fmla="val 5714"/>
            </a:avLst>
          </a:prstGeom>
          <a:solidFill>
            <a:srgbClr val="F2F4F8"/>
          </a:solidFill>
          <a:ln/>
        </p:spPr>
      </p:sp>
      <p:sp>
        <p:nvSpPr>
          <p:cNvPr id="11" name="Shape 7"/>
          <p:cNvSpPr/>
          <p:nvPr/>
        </p:nvSpPr>
        <p:spPr>
          <a:xfrm>
            <a:off x="4524146" y="2377440"/>
            <a:ext cx="365760" cy="365760"/>
          </a:xfrm>
          <a:prstGeom prst="ellipse">
            <a:avLst/>
          </a:prstGeom>
          <a:solidFill>
            <a:srgbClr val="E8622D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695" y="2424989"/>
            <a:ext cx="270662" cy="27066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24146" y="2834640"/>
            <a:ext cx="31434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MediaPipe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24146" y="3218688"/>
            <a:ext cx="31434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提供的姿態偵測工具，可標出人體關鍵點（pose landmark）。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8097317" y="2194560"/>
            <a:ext cx="3545738" cy="1600200"/>
          </a:xfrm>
          <a:prstGeom prst="roundRect">
            <a:avLst>
              <a:gd name="adj" fmla="val 5714"/>
            </a:avLst>
          </a:prstGeom>
          <a:solidFill>
            <a:srgbClr val="F2F4F8"/>
          </a:solidFill>
          <a:ln/>
        </p:spPr>
      </p:sp>
      <p:sp>
        <p:nvSpPr>
          <p:cNvPr id="16" name="Shape 11"/>
          <p:cNvSpPr/>
          <p:nvPr/>
        </p:nvSpPr>
        <p:spPr>
          <a:xfrm>
            <a:off x="8298485" y="2377440"/>
            <a:ext cx="365760" cy="365760"/>
          </a:xfrm>
          <a:prstGeom prst="ellipse">
            <a:avLst/>
          </a:prstGeom>
          <a:solidFill>
            <a:srgbClr val="E8622D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6034" y="2424989"/>
            <a:ext cx="270662" cy="27066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298485" y="2834640"/>
            <a:ext cx="31434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Pose Landmark（姿態關鍵點）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298485" y="3218688"/>
            <a:ext cx="31434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MediaPipe 標出的身體關節座標點。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48640" y="4023360"/>
            <a:ext cx="3545738" cy="1600200"/>
          </a:xfrm>
          <a:prstGeom prst="roundRect">
            <a:avLst>
              <a:gd name="adj" fmla="val 5714"/>
            </a:avLst>
          </a:prstGeom>
          <a:solidFill>
            <a:srgbClr val="F2F4F8"/>
          </a:solidFill>
          <a:ln/>
        </p:spPr>
      </p:sp>
      <p:sp>
        <p:nvSpPr>
          <p:cNvPr id="21" name="Shape 15"/>
          <p:cNvSpPr/>
          <p:nvPr/>
        </p:nvSpPr>
        <p:spPr>
          <a:xfrm>
            <a:off x="749808" y="4206240"/>
            <a:ext cx="365760" cy="365760"/>
          </a:xfrm>
          <a:prstGeom prst="ellipse">
            <a:avLst/>
          </a:prstGeom>
          <a:solidFill>
            <a:srgbClr val="E8622D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57" y="4253789"/>
            <a:ext cx="270662" cy="27066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49808" y="4663440"/>
            <a:ext cx="31434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關節角度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49808" y="5047488"/>
            <a:ext cx="31434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由三個關鍵點（如肩、肘、腕）算出的夾角，常用來描述動作。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4322978" y="4023360"/>
            <a:ext cx="3545738" cy="1600200"/>
          </a:xfrm>
          <a:prstGeom prst="roundRect">
            <a:avLst>
              <a:gd name="adj" fmla="val 5714"/>
            </a:avLst>
          </a:prstGeom>
          <a:solidFill>
            <a:srgbClr val="F2F4F8"/>
          </a:solidFill>
          <a:ln/>
        </p:spPr>
      </p:sp>
      <p:sp>
        <p:nvSpPr>
          <p:cNvPr id="26" name="Shape 19"/>
          <p:cNvSpPr/>
          <p:nvPr/>
        </p:nvSpPr>
        <p:spPr>
          <a:xfrm>
            <a:off x="4524146" y="4206240"/>
            <a:ext cx="365760" cy="365760"/>
          </a:xfrm>
          <a:prstGeom prst="ellipse">
            <a:avLst/>
          </a:prstGeom>
          <a:solidFill>
            <a:srgbClr val="E8622D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695" y="4253789"/>
            <a:ext cx="270662" cy="27066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4524146" y="4663440"/>
            <a:ext cx="31434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出手 Frame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4524146" y="5047488"/>
            <a:ext cx="31434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依球速變化估計球離手的那一個影格。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8097317" y="4023360"/>
            <a:ext cx="3545738" cy="1600200"/>
          </a:xfrm>
          <a:prstGeom prst="roundRect">
            <a:avLst>
              <a:gd name="adj" fmla="val 5714"/>
            </a:avLst>
          </a:prstGeom>
          <a:solidFill>
            <a:srgbClr val="F2F4F8"/>
          </a:solidFill>
          <a:ln/>
        </p:spPr>
      </p:sp>
      <p:sp>
        <p:nvSpPr>
          <p:cNvPr id="31" name="Shape 23"/>
          <p:cNvSpPr/>
          <p:nvPr/>
        </p:nvSpPr>
        <p:spPr>
          <a:xfrm>
            <a:off x="8298485" y="4206240"/>
            <a:ext cx="365760" cy="365760"/>
          </a:xfrm>
          <a:prstGeom prst="ellipse">
            <a:avLst/>
          </a:prstGeom>
          <a:solidFill>
            <a:srgbClr val="E8622D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34" y="4253789"/>
            <a:ext cx="270662" cy="27066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298485" y="4663440"/>
            <a:ext cx="31434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色彩式追蹤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8298485" y="5047488"/>
            <a:ext cx="31434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用顏色（如橘色）在畫面中找球的簡易方法，速度快但容易受光線、遮擋影響。</a:t>
            </a:r>
            <a:endParaRPr lang="en-US" sz="1100" dirty="0"/>
          </a:p>
        </p:txBody>
      </p:sp>
      <p:sp>
        <p:nvSpPr>
          <p:cNvPr id="35" name="Text 26"/>
          <p:cNvSpPr txBox="1"/>
          <p:nvPr/>
        </p:nvSpPr>
        <p:spPr>
          <a:xfrm>
            <a:off x="54864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4  ·  Python 籃球運動資料分析課程</a:t>
            </a:r>
            <a:endParaRPr lang="en-US" sz="900" dirty="0"/>
          </a:p>
        </p:txBody>
      </p:sp>
      <p:sp>
        <p:nvSpPr>
          <p:cNvPr id="36" name="Text 27"/>
          <p:cNvSpPr txBox="1"/>
          <p:nvPr/>
        </p:nvSpPr>
        <p:spPr>
          <a:xfrm>
            <a:off x="7071055" y="6510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關鍵名詞速查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E8622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850" y="540410"/>
            <a:ext cx="473659" cy="47365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課堂要求與拍攝提醒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4415" cy="1076706"/>
          </a:xfrm>
          <a:prstGeom prst="roundRect">
            <a:avLst>
              <a:gd name="adj" fmla="val 8493"/>
            </a:avLst>
          </a:prstGeom>
          <a:solidFill>
            <a:srgbClr val="F2F4F8"/>
          </a:solidFill>
          <a:ln/>
        </p:spPr>
      </p:sp>
      <p:sp>
        <p:nvSpPr>
          <p:cNvPr id="6" name="Shape 3"/>
          <p:cNvSpPr/>
          <p:nvPr/>
        </p:nvSpPr>
        <p:spPr>
          <a:xfrm>
            <a:off x="731520" y="1900809"/>
            <a:ext cx="384048" cy="384048"/>
          </a:xfrm>
          <a:prstGeom prst="ellipse">
            <a:avLst/>
          </a:prstGeom>
          <a:solidFill>
            <a:srgbClr val="F2A65A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446" y="1950735"/>
            <a:ext cx="284196" cy="28419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1627632"/>
            <a:ext cx="10088575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影片檔名請用英文，例如 shooting_01.mov，不要使用中文檔名或資料夾。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2795778"/>
            <a:ext cx="11094415" cy="1076706"/>
          </a:xfrm>
          <a:prstGeom prst="roundRect">
            <a:avLst>
              <a:gd name="adj" fmla="val 8493"/>
            </a:avLst>
          </a:prstGeom>
          <a:solidFill>
            <a:srgbClr val="F2F4F8"/>
          </a:solidFill>
          <a:ln/>
        </p:spPr>
      </p:sp>
      <p:sp>
        <p:nvSpPr>
          <p:cNvPr id="10" name="Shape 6"/>
          <p:cNvSpPr/>
          <p:nvPr/>
        </p:nvSpPr>
        <p:spPr>
          <a:xfrm>
            <a:off x="731520" y="3142107"/>
            <a:ext cx="384048" cy="384048"/>
          </a:xfrm>
          <a:prstGeom prst="ellipse">
            <a:avLst/>
          </a:prstGeom>
          <a:solidFill>
            <a:srgbClr val="F2A65A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446" y="3192033"/>
            <a:ext cx="284196" cy="2841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25880" y="2868930"/>
            <a:ext cx="10088575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請先完成 Day 4-01 的上傳與轉檔，再進行姿態與球軌跡分析。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4037076"/>
            <a:ext cx="11094415" cy="1076706"/>
          </a:xfrm>
          <a:prstGeom prst="roundRect">
            <a:avLst>
              <a:gd name="adj" fmla="val 8493"/>
            </a:avLst>
          </a:prstGeom>
          <a:solidFill>
            <a:srgbClr val="F2F4F8"/>
          </a:solidFill>
          <a:ln/>
        </p:spPr>
      </p:sp>
      <p:sp>
        <p:nvSpPr>
          <p:cNvPr id="14" name="Shape 9"/>
          <p:cNvSpPr/>
          <p:nvPr/>
        </p:nvSpPr>
        <p:spPr>
          <a:xfrm>
            <a:off x="731520" y="4383405"/>
            <a:ext cx="384048" cy="384048"/>
          </a:xfrm>
          <a:prstGeom prst="ellipse">
            <a:avLst/>
          </a:prstGeom>
          <a:solidFill>
            <a:srgbClr val="F2A65A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446" y="4433331"/>
            <a:ext cx="284196" cy="28419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325880" y="4110228"/>
            <a:ext cx="10088575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球體小、容易被手或身體遮擋；正式專案的訓練資料應涵蓋不同角度、球衣顏色、場地光線與畫質。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48640" y="5278374"/>
            <a:ext cx="11094415" cy="1076706"/>
          </a:xfrm>
          <a:prstGeom prst="roundRect">
            <a:avLst>
              <a:gd name="adj" fmla="val 8493"/>
            </a:avLst>
          </a:prstGeom>
          <a:solidFill>
            <a:srgbClr val="F2F4F8"/>
          </a:solidFill>
          <a:ln/>
        </p:spPr>
      </p:sp>
      <p:sp>
        <p:nvSpPr>
          <p:cNvPr id="18" name="Shape 12"/>
          <p:cNvSpPr/>
          <p:nvPr/>
        </p:nvSpPr>
        <p:spPr>
          <a:xfrm>
            <a:off x="731520" y="5624703"/>
            <a:ext cx="384048" cy="384048"/>
          </a:xfrm>
          <a:prstGeom prst="ellipse">
            <a:avLst/>
          </a:prstGeom>
          <a:solidFill>
            <a:srgbClr val="F2A65A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446" y="5674629"/>
            <a:ext cx="284196" cy="28419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325880" y="5351526"/>
            <a:ext cx="10088575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短暫漏偵可以用插值方式補齊軌跡，避免軌跡中斷。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54864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4  ·  Python 籃球運動資料分析課程</a:t>
            </a:r>
            <a:endParaRPr lang="en-US" sz="900" dirty="0"/>
          </a:p>
        </p:txBody>
      </p:sp>
      <p:sp>
        <p:nvSpPr>
          <p:cNvPr id="22" name="Text 15"/>
          <p:cNvSpPr txBox="1"/>
          <p:nvPr/>
        </p:nvSpPr>
        <p:spPr>
          <a:xfrm>
            <a:off x="7071055" y="6510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課堂要求與拍攝提醒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25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194560" cy="457200"/>
          </a:xfrm>
          <a:prstGeom prst="roundRect">
            <a:avLst>
              <a:gd name="adj" fmla="val 16000"/>
            </a:avLst>
          </a:prstGeom>
          <a:solidFill>
            <a:srgbClr val="E8622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4 完成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4 完成：你已經產出姿態角度與球軌跡兩份原始分析資料。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2B3A6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32278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接下來：DAY 5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56616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BD5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5 要把這些數字整理成摘要指標、圖表，並包裝成一份可以展示、繳交的成果。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14984" y="5266944"/>
            <a:ext cx="10161727" cy="0"/>
          </a:xfrm>
          <a:prstGeom prst="line">
            <a:avLst/>
          </a:prstGeom>
          <a:noFill/>
          <a:ln w="19050">
            <a:solidFill>
              <a:srgbClr val="2B3A6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5074920"/>
            <a:ext cx="384048" cy="384048"/>
          </a:xfrm>
          <a:prstGeom prst="ellipse">
            <a:avLst/>
          </a:prstGeom>
          <a:solidFill>
            <a:srgbClr val="CBD5E6"/>
          </a:solidFill>
          <a:ln w="15875">
            <a:solidFill>
              <a:srgbClr val="CBD5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9184" y="5532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座標定位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63392" y="5074920"/>
            <a:ext cx="384048" cy="384048"/>
          </a:xfrm>
          <a:prstGeom prst="ellipse">
            <a:avLst/>
          </a:prstGeom>
          <a:solidFill>
            <a:srgbClr val="CBD5E6"/>
          </a:solidFill>
          <a:ln w="15875">
            <a:solidFill>
              <a:srgbClr val="CBD5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63392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869616" y="5532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物件偵測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03824" y="5074920"/>
            <a:ext cx="384048" cy="384048"/>
          </a:xfrm>
          <a:prstGeom prst="ellipse">
            <a:avLst/>
          </a:prstGeom>
          <a:solidFill>
            <a:srgbClr val="CBD5E6"/>
          </a:solidFill>
          <a:ln w="15875">
            <a:solidFill>
              <a:srgbClr val="CBD5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03824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10048" y="5532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追蹤系統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444255" y="5074920"/>
            <a:ext cx="384048" cy="384048"/>
          </a:xfrm>
          <a:prstGeom prst="ellipse">
            <a:avLst/>
          </a:prstGeom>
          <a:solidFill>
            <a:srgbClr val="E8622D"/>
          </a:solidFill>
          <a:ln w="15875">
            <a:solidFill>
              <a:srgbClr val="E8622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44255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950479" y="5532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姿態軌跡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984687" y="5074920"/>
            <a:ext cx="384048" cy="384048"/>
          </a:xfrm>
          <a:prstGeom prst="ellipse">
            <a:avLst/>
          </a:prstGeom>
          <a:solidFill>
            <a:srgbClr val="1C2541"/>
          </a:solidFill>
          <a:ln w="15875">
            <a:solidFill>
              <a:srgbClr val="CBD5E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84687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BD5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490911" y="5532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整合展示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Python 籃球運動資料分析課程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4 課程簡報</dc:title>
  <dc:subject>PptxGenJS Presentation</dc:subject>
  <dc:creator>Python 籃球運動資料分析課程</dc:creator>
  <cp:lastModifiedBy>Python 籃球運動資料分析課程</cp:lastModifiedBy>
  <cp:revision>1</cp:revision>
  <dcterms:created xsi:type="dcterms:W3CDTF">2026-08-26T19:45:19Z</dcterms:created>
  <dcterms:modified xsi:type="dcterms:W3CDTF">2026-08-26T19:45:19Z</dcterms:modified>
</cp:coreProperties>
</file>