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1ae99290f44e1f" /><Relationship Type="http://schemas.openxmlformats.org/officeDocument/2006/relationships/extended-properties" Target="/docProps/app.xml" Id="R1383bc5b3fba4898" /><Relationship Type="http://schemas.openxmlformats.org/officeDocument/2006/relationships/officeDocument" Target="/ppt/presentation.xml" Id="R81e3832ef73941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b067bfab0548a7"/>
  </p:sldMasterIdLst>
  <p:notesMasterIdLst>
    <p:notesMasterId xmlns:r="http://schemas.openxmlformats.org/officeDocument/2006/relationships" r:id="Raaf2f27e25154eae"/>
  </p:notesMasterIdLst>
  <p:sldIdLst>
    <p:sldId xmlns:r="http://schemas.openxmlformats.org/officeDocument/2006/relationships" id="256" r:id="Red29dea8387e4c7f"/>
    <p:sldId xmlns:r="http://schemas.openxmlformats.org/officeDocument/2006/relationships" id="257" r:id="R4623dd0a19164af3"/>
    <p:sldId xmlns:r="http://schemas.openxmlformats.org/officeDocument/2006/relationships" id="258" r:id="R77f56a0fbe414ee3"/>
    <p:sldId xmlns:r="http://schemas.openxmlformats.org/officeDocument/2006/relationships" id="259" r:id="Re5df2ae8acc74da8"/>
    <p:sldId xmlns:r="http://schemas.openxmlformats.org/officeDocument/2006/relationships" id="260" r:id="R6f1610609b37400f"/>
    <p:sldId xmlns:r="http://schemas.openxmlformats.org/officeDocument/2006/relationships" id="261" r:id="R3fc3c334df2d45ab"/>
    <p:sldId xmlns:r="http://schemas.openxmlformats.org/officeDocument/2006/relationships" id="262" r:id="R1868d80c2e5c437d"/>
    <p:sldId xmlns:r="http://schemas.openxmlformats.org/officeDocument/2006/relationships" id="263" r:id="R9f9fbd23d7b545d8"/>
    <p:sldId xmlns:r="http://schemas.openxmlformats.org/officeDocument/2006/relationships" id="264" r:id="Rfd3adee78eb74943"/>
    <p:sldId xmlns:r="http://schemas.openxmlformats.org/officeDocument/2006/relationships" id="265" r:id="R8bc148038fa84a00"/>
    <p:sldId xmlns:r="http://schemas.openxmlformats.org/officeDocument/2006/relationships" id="266" r:id="R467bf598cf484643"/>
    <p:sldId xmlns:r="http://schemas.openxmlformats.org/officeDocument/2006/relationships" id="267" r:id="R7f2371e9891448a6"/>
    <p:sldId xmlns:r="http://schemas.openxmlformats.org/officeDocument/2006/relationships" id="268" r:id="Rda447bed72e2438a"/>
    <p:sldId xmlns:r="http://schemas.openxmlformats.org/officeDocument/2006/relationships" id="269" r:id="Re4f0867ab46c4518"/>
    <p:sldId xmlns:r="http://schemas.openxmlformats.org/officeDocument/2006/relationships" id="270" r:id="R6d795fae3f3b40e9"/>
    <p:sldId xmlns:r="http://schemas.openxmlformats.org/officeDocument/2006/relationships" id="271" r:id="R91c03f0b6f1b4123"/>
    <p:sldId xmlns:r="http://schemas.openxmlformats.org/officeDocument/2006/relationships" id="272" r:id="R7d719efc902445d3"/>
    <p:sldId xmlns:r="http://schemas.openxmlformats.org/officeDocument/2006/relationships" id="273" r:id="Rec7ad93a27004a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e40923e706498f" /><Relationship Type="http://schemas.openxmlformats.org/officeDocument/2006/relationships/slideMaster" Target="/ppt/slideMasters/slideMaster1.xml" Id="R45b067bfab0548a7" /><Relationship Type="http://schemas.openxmlformats.org/officeDocument/2006/relationships/notesMaster" Target="/ppt/notesMasters/notesMaster1.xml" Id="Raaf2f27e25154eae" /><Relationship Type="http://schemas.openxmlformats.org/officeDocument/2006/relationships/presProps" Target="/ppt/presProps.xml" Id="Re85bb56be73d4818" /><Relationship Type="http://schemas.openxmlformats.org/officeDocument/2006/relationships/viewProps" Target="/ppt/viewProps.xml" Id="R303044bc42dd4d2f" /><Relationship Type="http://schemas.openxmlformats.org/officeDocument/2006/relationships/tableStyles" Target="/ppt/tableStyles.xml" Id="Re3bcdadcd3a94305" /><Relationship Type="http://schemas.openxmlformats.org/officeDocument/2006/relationships/slide" Target="/ppt/slides/slide1.xml" Id="Red29dea8387e4c7f" /><Relationship Type="http://schemas.openxmlformats.org/officeDocument/2006/relationships/slide" Target="/ppt/slides/slide2.xml" Id="R4623dd0a19164af3" /><Relationship Type="http://schemas.openxmlformats.org/officeDocument/2006/relationships/slide" Target="/ppt/slides/slide3.xml" Id="R77f56a0fbe414ee3" /><Relationship Type="http://schemas.openxmlformats.org/officeDocument/2006/relationships/slide" Target="/ppt/slides/slide4.xml" Id="Re5df2ae8acc74da8" /><Relationship Type="http://schemas.openxmlformats.org/officeDocument/2006/relationships/slide" Target="/ppt/slides/slide5.xml" Id="R6f1610609b37400f" /><Relationship Type="http://schemas.openxmlformats.org/officeDocument/2006/relationships/slide" Target="/ppt/slides/slide6.xml" Id="R3fc3c334df2d45ab" /><Relationship Type="http://schemas.openxmlformats.org/officeDocument/2006/relationships/slide" Target="/ppt/slides/slide7.xml" Id="R1868d80c2e5c437d" /><Relationship Type="http://schemas.openxmlformats.org/officeDocument/2006/relationships/slide" Target="/ppt/slides/slide8.xml" Id="R9f9fbd23d7b545d8" /><Relationship Type="http://schemas.openxmlformats.org/officeDocument/2006/relationships/slide" Target="/ppt/slides/slide9.xml" Id="Rfd3adee78eb74943" /><Relationship Type="http://schemas.openxmlformats.org/officeDocument/2006/relationships/slide" Target="/ppt/slides/slide10.xml" Id="R8bc148038fa84a00" /><Relationship Type="http://schemas.openxmlformats.org/officeDocument/2006/relationships/slide" Target="/ppt/slides/slide11.xml" Id="R467bf598cf484643" /><Relationship Type="http://schemas.openxmlformats.org/officeDocument/2006/relationships/slide" Target="/ppt/slides/slide12.xml" Id="R7f2371e9891448a6" /><Relationship Type="http://schemas.openxmlformats.org/officeDocument/2006/relationships/slide" Target="/ppt/slides/slide13.xml" Id="Rda447bed72e2438a" /><Relationship Type="http://schemas.openxmlformats.org/officeDocument/2006/relationships/slide" Target="/ppt/slides/slide14.xml" Id="Re4f0867ab46c4518" /><Relationship Type="http://schemas.openxmlformats.org/officeDocument/2006/relationships/slide" Target="/ppt/slides/slide15.xml" Id="R6d795fae3f3b40e9" /><Relationship Type="http://schemas.openxmlformats.org/officeDocument/2006/relationships/slide" Target="/ppt/slides/slide16.xml" Id="R91c03f0b6f1b4123" /><Relationship Type="http://schemas.openxmlformats.org/officeDocument/2006/relationships/slide" Target="/ppt/slides/slide17.xml" Id="R7d719efc902445d3" /><Relationship Type="http://schemas.openxmlformats.org/officeDocument/2006/relationships/slide" Target="/ppt/slides/slide18.xml" Id="Rec7ad93a27004a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d450945f214b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27d77d7d5d4d77" /><Relationship Type="http://schemas.openxmlformats.org/officeDocument/2006/relationships/notesMaster" Target="/ppt/notesMasters/notesMaster1.xml" Id="R379a4a83b0e74e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c7e505c21b4af3" /><Relationship Type="http://schemas.openxmlformats.org/officeDocument/2006/relationships/notesMaster" Target="/ppt/notesMasters/notesMaster1.xml" Id="R729ed245d74a4a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abe345a81e4cb9" /><Relationship Type="http://schemas.openxmlformats.org/officeDocument/2006/relationships/notesMaster" Target="/ppt/notesMasters/notesMaster1.xml" Id="Rd3732036fbf640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35e10d1b3e491c" /><Relationship Type="http://schemas.openxmlformats.org/officeDocument/2006/relationships/notesMaster" Target="/ppt/notesMasters/notesMaster1.xml" Id="R1c120874893040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0ca5392ba343f2" /><Relationship Type="http://schemas.openxmlformats.org/officeDocument/2006/relationships/notesMaster" Target="/ppt/notesMasters/notesMaster1.xml" Id="Rfd70af80fc5843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6a45ef0ce04fad" /><Relationship Type="http://schemas.openxmlformats.org/officeDocument/2006/relationships/notesMaster" Target="/ppt/notesMasters/notesMaster1.xml" Id="R5fb8d636e0ea4c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77584b374b471c" /><Relationship Type="http://schemas.openxmlformats.org/officeDocument/2006/relationships/notesMaster" Target="/ppt/notesMasters/notesMaster1.xml" Id="Ref4d8f1a3d4844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58b7813ebf41e5" /><Relationship Type="http://schemas.openxmlformats.org/officeDocument/2006/relationships/notesMaster" Target="/ppt/notesMasters/notesMaster1.xml" Id="Rea97a9cec09f48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7b3230c3dd486d" /><Relationship Type="http://schemas.openxmlformats.org/officeDocument/2006/relationships/notesMaster" Target="/ppt/notesMasters/notesMaster1.xml" Id="Reb31a7c7bb0446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766324b23940f5" /><Relationship Type="http://schemas.openxmlformats.org/officeDocument/2006/relationships/notesMaster" Target="/ppt/notesMasters/notesMaster1.xml" Id="R360018e2ca3d4b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6274e79da9474e" /><Relationship Type="http://schemas.openxmlformats.org/officeDocument/2006/relationships/notesMaster" Target="/ppt/notesMasters/notesMaster1.xml" Id="Re4a9d25ece5640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e6ddcdb75745e6" /><Relationship Type="http://schemas.openxmlformats.org/officeDocument/2006/relationships/notesMaster" Target="/ppt/notesMasters/notesMaster1.xml" Id="Rf6c2abfe1eb844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64f3f0bd8241f7" /><Relationship Type="http://schemas.openxmlformats.org/officeDocument/2006/relationships/notesMaster" Target="/ppt/notesMasters/notesMaster1.xml" Id="Rceb1830a88a34b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7639e911964301" /><Relationship Type="http://schemas.openxmlformats.org/officeDocument/2006/relationships/notesMaster" Target="/ppt/notesMasters/notesMaster1.xml" Id="R5b8ab6b839dd49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c25e2412a34441" /><Relationship Type="http://schemas.openxmlformats.org/officeDocument/2006/relationships/notesMaster" Target="/ppt/notesMasters/notesMaster1.xml" Id="R6f71291fb1874f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a8ce98ab61412d" /><Relationship Type="http://schemas.openxmlformats.org/officeDocument/2006/relationships/notesMaster" Target="/ppt/notesMasters/notesMaster1.xml" Id="R5377222846c74b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fa14e41a11e4c07" /><Relationship Type="http://schemas.openxmlformats.org/officeDocument/2006/relationships/notesMaster" Target="/ppt/notesMasters/notesMaster1.xml" Id="Rc99ab39bb1d245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e2cffc3db84882" /><Relationship Type="http://schemas.openxmlformats.org/officeDocument/2006/relationships/notesMaster" Target="/ppt/notesMasters/notesMaster1.xml" Id="Rb68362e48a3d46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先跟你們說，今天不是只跑一個模型，而是把三份 notebook 串成完整分析流程。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我們先把影片放到固定位置，再確認球模型真的抓到球；接著鎖定投籃者與人體骨架，最後才判定投球事件、release frame 和 2D 起飛角。每一個數字都要回到畫面做人工確認。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day4/d4_01_ball_detector_bytetrack_preview.ipynb</a:t>
            </a:r>
            <a:endParaRPr/>
          </a:p>
          <a:p xmlns:a="http://schemas.openxmlformats.org/drawingml/2006/main">
            <a:r>
              <a:t>- day4/d4_03_ball_tracking_and_release_point_lab.ipynb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先把三份 notebook 的分工先講清楚。Day 4-01 回答「球看不看得到、追不追得起來」；Day 4-02 回答「投籃者是誰、關節在哪裡」；Day 4-03 才回答「哪一段是投籃、球何時離手、起飛方向是多少」。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請你們注意，後一份 notebook 都依賴前一份輸出，所以影片路徑和 frame 範圍必須一致。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day4/d4_01_ball_detector_bytetrack_preview.ipynb</a:t>
            </a:r>
            <a:endParaRPr/>
          </a:p>
          <a:p xmlns:a="http://schemas.openxmlformats.org/drawingml/2006/main">
            <a:r>
              <a:t>- day4/d4_02_yolo_pose_and_shot_lab.ipynb</a:t>
            </a:r>
            <a:endParaRPr/>
          </a:p>
          <a:p xmlns:a="http://schemas.openxmlformats.org/drawingml/2006/main">
            <a:r>
              <a:t>- day4/d4_03_ball_tracking_and_release_point_lab.ipynb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這一頁直接帶你們找到資料夾。推薦做法是在 Google Drive 進入「我的雲端硬碟／basketball_hackathon／course／assets／raw」，把影片拖進去，再把檔名填到 VIDEO_FILENAME。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如果檔案還在電腦，就把 USE_BROWSER_UPLOAD 改成 True。這個上傳格會先把影片寫進 Drive，再轉成 student_video.mp4，所以 Colab 斷線後檔案仍在。兩個設定都不改時，會使用課程內建影片。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day4/d4_01_ball_detector_bytetrack_preview.ipynb</a:t>
            </a:r>
            <a:endParaRPr/>
          </a:p>
          <a:p xmlns:a="http://schemas.openxmlformats.org/drawingml/2006/main">
            <a:r>
              <a:t>- README.md#學生影片上傳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先把模型角色分開，避免你們看到三個權重就混在一起。球模型負責物件，shot 模型負責投籃候選和人物提示，pose 模型負責人體關節。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ByteTrack 不是另一個球模型，它只把前後 frame 的偵測做關聯。release frame 和 2D 起飛角則是我們在模型輸出之上設計的分析規則。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assets/README.md#Day-4-投籃分析模型</a:t>
            </a:r>
            <a:endParaRPr/>
          </a:p>
          <a:p xmlns:a="http://schemas.openxmlformats.org/drawingml/2006/main">
            <a:r>
              <a:t>- src/shot_event_utils.py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Day 4-01 不急著談事件角度，先把最基本的球偵測檢查好。五張單幀圖只看 detector，預覽影片才看 ByteTrack。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如果單幀就沒有球框，調 tracker 沒有用；如果單幀有框但影片中的 ID 一直重置，才是跨 frame 關聯的問題。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day4/d4_01_ball_detector_bytetrack_preview.ipynb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第一個核心格只有兩個學生設定：USE_BROWSER_UPLOAD 和 VIDEO_FILENAME。第二個格才載入球模型，並把 confidence、推論尺寸和保留類別集中在一起。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接著我們抽五個 frame。每一張只留最高 confidence 的球候選，是為了快速確認框的位置；最後的 ByteTrack 格才把逐 frame 偵測接起來並輸出 JSON。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day4/d4_01_ball_detector_bytetrack_preview.ipynb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請你們先看右圖的粉紅色框。這裡真正重要的是框落在球上，而不是 0.80 這個數字本身。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如果五張抽樣圖都沒有球，先記錄 frame、球大小和模糊程度；如果單幀有球，才進入 ByteTrack 預覽，看 ID 是否連續。這個順序能快速分辨問題在哪一層。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assets/results/d4_01_frame_090_bgr_ball_model.png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Day 4-02 同時使用 shot 和 pose 兩個模型。shot 模型幫我們找到投籃候選和人物位置，pose 模型則提供人體 keypoints。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最後一定要看 overlay：骨架如果跳到其他人，後面的角度再完整也不能解讀。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day4/d4_02_yolo_pose_and_shot_lab.ipynb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extract_yolo_shot_pose_sequence 是這一節的核心。它逐 frame 整理 shot score、人物框、左右 keypoints 和角度。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CSV 會保留左右兩側；簡化欄位只選一側顯示。計算角度的概念就是三個點形成的夾角，但 2D keypoint 會受遮擋和側身影響，所以曲線異常要回到影片確認。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day4/d4_02_yolo_pose_and_shot_lab.ipynb</a:t>
            </a:r>
            <a:endParaRPr/>
          </a:p>
          <a:p xmlns:a="http://schemas.openxmlformats.org/drawingml/2006/main">
            <a:r>
              <a:t>- src/shot_event_utils.py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這一頁要特別澄清粉紅色標記。wrist 代表 pose 模型找到的手腕，不是籃球，也沒有畫歷史線。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請你們看白色骨架是否一直跟著左側投籃者，並確認手腕點落在手上。只要人物跳錯，後面的事件分析就失去基礎。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.tmp/presentation-day4/d4_02_identity_fix_frame38.png</a:t>
            </a:r>
            <a:endParaRPr/>
          </a:p>
          <a:p xmlns:a="http://schemas.openxmlformats.org/drawingml/2006/main">
            <a:r>
              <a:t>- src/shooting_utils.py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Day 4-03 會重新執行球模型，而且保留每個 frame 的所有球候選。原因是畫面可能同時有多顆球，最高 confidence 不一定屬於這次投籃。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我們會從投籃者手腕附近開始選球，再用移動連續性接成每個事件自己的軌跡。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day4/d4_03_ball_tracking_and_release_point_lab.ipynb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請你們把 event 和 release 分開。事件區段是 shot 模型告訴我們「這附近像投籃」；release 則是球和手腕關係的轉折。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ball_conf 設得比較低，是為了保留小球與模糊球候選，但候選還要通過手腕距離、位置連續性和移動方向，才會成為 event ball。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src/shot_event_utils.py</a:t>
            </a:r>
            <a:endParaRPr/>
          </a:p>
          <a:p xmlns:a="http://schemas.openxmlformats.org/drawingml/2006/main">
            <a:r>
              <a:t>- day4/d4_03_ball_tracking_and_release_point_lab.ipynb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右圖把 shot score、事件區段和角度時間序列放在一起。release 不一定等於 shot score 最高點，因為兩者回答不同問題。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起飛角不是用單一 frame 算的，而是使用 release 後最初幾個球位置擬合方向。這仍然是 2D 影像角度，因此只適合固定機位下做相對比較。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assets/results/d4_03_shot_angle_plot.png</a:t>
            </a:r>
            <a:endParaRPr/>
          </a:p>
          <a:p xmlns:a="http://schemas.openxmlformats.org/drawingml/2006/main">
            <a:r>
              <a:t>- src/shot_event_utils.py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這支範例影片偵測到兩個投籃事件。Event 1 的 release 在 frame 43，2D 起飛角約 47.74 度；Event 2 的 release 在 frame 149，約 41.30 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先不直接用兩個角度評價動作，先看下一頁的 release 檢查圖，確認紅色 event ball 真的從手附近離開。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assets/results/d4_03_shot_events.csv</a:t>
            </a:r>
            <a:endParaRPr/>
          </a:p>
          <a:p xmlns:a="http://schemas.openxmlformats.org/drawingml/2006/main">
            <a:r>
              <a:t>- assets/results/d4_03_shot_event_check.png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右圖上排是 Event 1，下排是 Event 2。每排從左到右依序是 release 前、當下和之後。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請你們追著紅色 event ball 看：它要從手附近出現，接著往實際球路移動。中間畫面的綠色箭頭是用初段軌跡估計的起飛方向。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assets/results/d4_03_shot_event_check.png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遇到結果不合理時，請依照這個順序查，不要直接調最後的角度公式。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先確認影片，再確認 detector；接著看 pose 是否鎖定同一個人；然後看 event ball 是否接到正確球；最後才看 release。這樣每次只處理一層，最容易找到原因。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day4/d4_01_ball_detector_bytetrack_preview.ipynb</a:t>
            </a:r>
            <a:endParaRPr/>
          </a:p>
          <a:p xmlns:a="http://schemas.openxmlformats.org/drawingml/2006/main">
            <a:r>
              <a:t>- day4/d4_03_ball_tracking_and_release_point_lab.ipynb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這一頁可以當成上課操作清單。先到「執行階段 → 變更執行階段類型」，把硬體加速器設為 T4 GPU；如果 Colab 分配到其他 NVIDIA GPU 也可以繼續，但不要選 TPU。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接著執行 init_colab，再依序跑三份 notebook。每完成一份，都先做一次人工檢查；所有結果會寫進 Google Drive 的 course/assets/results。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init_colab.ipynb</a:t>
            </a:r>
            <a:endParaRPr/>
          </a:p>
          <a:p xmlns:a="http://schemas.openxmlformats.org/drawingml/2006/main">
            <a:r>
              <a:t>- day4/d4_01_ball_detector_bytetrack_preview.ipynb</a:t>
            </a:r>
            <a:endParaRPr/>
          </a:p>
          <a:p xmlns:a="http://schemas.openxmlformats.org/drawingml/2006/main">
            <a:r>
              <a:t>- src/course_setup.py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Day 4 收尾先把三個模型的分工記清楚。ball_rimV8.pt 在 detectors 資料夾，負責找球與籃框，可以延伸做球路追蹤或球與籃框的空間關係。shot_detection.pt 也在 detectors 資料夾，負責 shot score 與投籃者候選框，適合先篩出值得分析的投籃片段。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yolov8n-pose.pt 在 pose 資料夾，輸出 17 個人體 keypoints，可以延伸做關節角度、動作分期或姿勢比較。專題只需要其中一項時，直接載入對應模型即可；需要完整流程時，再把投籃候選、姿態與事件球軌跡串起來。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assets/README.md#Day-4-投籃分析模型</a:t>
            </a:r>
            <a:endParaRPr/>
          </a:p>
          <a:p xmlns:a="http://schemas.openxmlformats.org/drawingml/2006/main">
            <a:r>
              <a:t>- day4/d4_03_ball_tracking_and_release_point_lab.ipynb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84e8254fd418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a989e58f944b9e" /><Relationship Type="http://schemas.openxmlformats.org/officeDocument/2006/relationships/slideLayout" Target="/ppt/slideLayouts/slideLayout1.xml" Id="R3dbfc6f36e114e8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bfc6f36e114e8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80271a91d438a" /><Relationship Type="http://schemas.openxmlformats.org/officeDocument/2006/relationships/image" Target="/ppt/media/image.png" Id="Re247ee7d13c14d3c" /><Relationship Type="http://schemas.openxmlformats.org/officeDocument/2006/relationships/notesSlide" Target="/ppt/notesSlides/notesSlide1.xml" Id="R69e43dc44f3443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ab24527a44d49" /><Relationship Type="http://schemas.openxmlformats.org/officeDocument/2006/relationships/image" Target="/ppt/media/image2.png" Id="R5289e851125f4ba0" /><Relationship Type="http://schemas.openxmlformats.org/officeDocument/2006/relationships/image" Target="/ppt/media/image3.png" Id="Rb2e3b47e75b44448" /><Relationship Type="http://schemas.openxmlformats.org/officeDocument/2006/relationships/notesSlide" Target="/ppt/notesSlides/notesSlide2.xml" Id="R2283f33a444e45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c64bab9084bb5" /><Relationship Type="http://schemas.openxmlformats.org/officeDocument/2006/relationships/image" Target="/ppt/media/image4.png" Id="Rbf5fafbb2c364a34" /><Relationship Type="http://schemas.openxmlformats.org/officeDocument/2006/relationships/image" Target="/ppt/media/image5.png" Id="R5f39ab4823c64e49" /><Relationship Type="http://schemas.openxmlformats.org/officeDocument/2006/relationships/image" Target="/ppt/media/image6.png" Id="R1e5581ea25614f57" /><Relationship Type="http://schemas.openxmlformats.org/officeDocument/2006/relationships/image" Target="/ppt/media/image7.png" Id="R5e6a5ad596894c60" /><Relationship Type="http://schemas.openxmlformats.org/officeDocument/2006/relationships/notesSlide" Target="/ppt/notesSlides/notesSlide3.xml" Id="R98f9fba8caed4b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6937f9113478d" /><Relationship Type="http://schemas.openxmlformats.org/officeDocument/2006/relationships/image" Target="/ppt/media/image8.png" Id="Ra1f0bf089427499a" /><Relationship Type="http://schemas.openxmlformats.org/officeDocument/2006/relationships/image" Target="/ppt/media/image9.png" Id="Rb2386a50860447eb" /><Relationship Type="http://schemas.openxmlformats.org/officeDocument/2006/relationships/image" Target="/ppt/media/image10.png" Id="R7beaef525fbb4ee4" /><Relationship Type="http://schemas.openxmlformats.org/officeDocument/2006/relationships/image" Target="/ppt/media/image11.png" Id="R69c0d3e9697c4a05" /><Relationship Type="http://schemas.openxmlformats.org/officeDocument/2006/relationships/image" Target="/ppt/media/image12.png" Id="Rfa29ffa8c4604188" /><Relationship Type="http://schemas.openxmlformats.org/officeDocument/2006/relationships/image" Target="/ppt/media/image13.png" Id="Rdee694cd971c49a9" /><Relationship Type="http://schemas.openxmlformats.org/officeDocument/2006/relationships/image" Target="/ppt/media/image14.png" Id="R2c4e79b006de41a3" /><Relationship Type="http://schemas.openxmlformats.org/officeDocument/2006/relationships/notesSlide" Target="/ppt/notesSlides/notesSlide4.xml" Id="Rd60e43c1856d47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92d3e84634512" /><Relationship Type="http://schemas.openxmlformats.org/officeDocument/2006/relationships/image" Target="/ppt/media/image4.png" Id="Rfeaab5fa59e14f5b" /><Relationship Type="http://schemas.openxmlformats.org/officeDocument/2006/relationships/image" Target="/ppt/media/image5.png" Id="Rbdb9edaf3fc84bee" /><Relationship Type="http://schemas.openxmlformats.org/officeDocument/2006/relationships/image" Target="/ppt/media/image6.png" Id="R23b776b7b13544d2" /><Relationship Type="http://schemas.openxmlformats.org/officeDocument/2006/relationships/image" Target="/ppt/media/image7.png" Id="R16ff114175d04956" /><Relationship Type="http://schemas.openxmlformats.org/officeDocument/2006/relationships/notesSlide" Target="/ppt/notesSlides/notesSlide5.xml" Id="R11604406026146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a0f470e9d4428" /><Relationship Type="http://schemas.openxmlformats.org/officeDocument/2006/relationships/image" Target="/ppt/media/image4.png" Id="R3c6d2e691b42467c" /><Relationship Type="http://schemas.openxmlformats.org/officeDocument/2006/relationships/image" Target="/ppt/media/image5.png" Id="Re5d7e69bc2a842d3" /><Relationship Type="http://schemas.openxmlformats.org/officeDocument/2006/relationships/image" Target="/ppt/media/image6.png" Id="Rd112819bbb6a49cd" /><Relationship Type="http://schemas.openxmlformats.org/officeDocument/2006/relationships/image" Target="/ppt/media/image7.png" Id="Ra6a9c74b1c4c4ee6" /><Relationship Type="http://schemas.openxmlformats.org/officeDocument/2006/relationships/notesSlide" Target="/ppt/notesSlides/notesSlide6.xml" Id="R67955ab550d74e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a90eb909b47df" /><Relationship Type="http://schemas.openxmlformats.org/officeDocument/2006/relationships/image" Target="/ppt/media/image15.png" Id="R19546dd5d7dc4aa7" /><Relationship Type="http://schemas.openxmlformats.org/officeDocument/2006/relationships/image" Target="/ppt/media/image16.png" Id="R48a6bd0531764dc5" /><Relationship Type="http://schemas.openxmlformats.org/officeDocument/2006/relationships/notesSlide" Target="/ppt/notesSlides/notesSlide7.xml" Id="Rb04329fccb594c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8398801c84d1d" /><Relationship Type="http://schemas.openxmlformats.org/officeDocument/2006/relationships/image" Target="/ppt/media/image17.png" Id="Re40a09ae3719485b" /><Relationship Type="http://schemas.openxmlformats.org/officeDocument/2006/relationships/image" Target="/ppt/media/image18.png" Id="R0d4f56962201429b" /><Relationship Type="http://schemas.openxmlformats.org/officeDocument/2006/relationships/image" Target="/ppt/media/image19.png" Id="R90acecf0a9694b2b" /><Relationship Type="http://schemas.openxmlformats.org/officeDocument/2006/relationships/image" Target="/ppt/media/image20.png" Id="Ra164d066adb2439a" /><Relationship Type="http://schemas.openxmlformats.org/officeDocument/2006/relationships/notesSlide" Target="/ppt/notesSlides/notesSlide8.xml" Id="Rb228f6188ed74c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fbd10cd934504" /><Relationship Type="http://schemas.openxmlformats.org/officeDocument/2006/relationships/image" Target="/ppt/media/image4.png" Id="R99ef433dfbfb43d9" /><Relationship Type="http://schemas.openxmlformats.org/officeDocument/2006/relationships/image" Target="/ppt/media/image5.png" Id="R054ba3e950664971" /><Relationship Type="http://schemas.openxmlformats.org/officeDocument/2006/relationships/image" Target="/ppt/media/image6.png" Id="Rd2d2fa6343a84fe8" /><Relationship Type="http://schemas.openxmlformats.org/officeDocument/2006/relationships/image" Target="/ppt/media/image7.png" Id="R09ef641873984d00" /><Relationship Type="http://schemas.openxmlformats.org/officeDocument/2006/relationships/notesSlide" Target="/ppt/notesSlides/notesSlide9.xml" Id="R16c366c9e88842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daf4cf5b54f6c" /><Relationship Type="http://schemas.openxmlformats.org/officeDocument/2006/relationships/image" Target="/ppt/media/image15.png" Id="Rbb2ced4d4b4446a7" /><Relationship Type="http://schemas.openxmlformats.org/officeDocument/2006/relationships/image" Target="/ppt/media/image21.png" Id="R3f51fe1f84e548bb" /><Relationship Type="http://schemas.openxmlformats.org/officeDocument/2006/relationships/notesSlide" Target="/ppt/notesSlides/notesSlide10.xml" Id="Rcc8b8919ccbb45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2c8a1012c4a3e" /><Relationship Type="http://schemas.openxmlformats.org/officeDocument/2006/relationships/image" Target="/ppt/media/image22.png" Id="Rb28c32f64dac48dd" /><Relationship Type="http://schemas.openxmlformats.org/officeDocument/2006/relationships/image" Target="/ppt/media/image23.png" Id="Rcf0bce59f26543e3" /><Relationship Type="http://schemas.openxmlformats.org/officeDocument/2006/relationships/image" Target="/ppt/media/image24.png" Id="R7e0802a852b4401f" /><Relationship Type="http://schemas.openxmlformats.org/officeDocument/2006/relationships/image" Target="/ppt/media/image25.png" Id="R2c5093070dd64a22" /><Relationship Type="http://schemas.openxmlformats.org/officeDocument/2006/relationships/notesSlide" Target="/ppt/notesSlides/notesSlide11.xml" Id="R7ae905f8c8294b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dd24fe3734b2b" /><Relationship Type="http://schemas.openxmlformats.org/officeDocument/2006/relationships/image" Target="/ppt/media/image4.png" Id="R8d3426a6d2ab4044" /><Relationship Type="http://schemas.openxmlformats.org/officeDocument/2006/relationships/image" Target="/ppt/media/image5.png" Id="R7bbb2b7f9b6841c7" /><Relationship Type="http://schemas.openxmlformats.org/officeDocument/2006/relationships/image" Target="/ppt/media/image6.png" Id="R4d69813e853f4e94" /><Relationship Type="http://schemas.openxmlformats.org/officeDocument/2006/relationships/image" Target="/ppt/media/image7.png" Id="R5aa683942d4f475a" /><Relationship Type="http://schemas.openxmlformats.org/officeDocument/2006/relationships/notesSlide" Target="/ppt/notesSlides/notesSlide12.xml" Id="R320374879d584b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b611f84484fde" /><Relationship Type="http://schemas.openxmlformats.org/officeDocument/2006/relationships/image" Target="/ppt/media/image15.png" Id="R7047f190383041ec" /><Relationship Type="http://schemas.openxmlformats.org/officeDocument/2006/relationships/image" Target="/ppt/media/image26.png" Id="Rb7b5d03f1d7e4c00" /><Relationship Type="http://schemas.openxmlformats.org/officeDocument/2006/relationships/notesSlide" Target="/ppt/notesSlides/notesSlide13.xml" Id="Red426f172dcc4a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087ca0fc84339" /><Relationship Type="http://schemas.openxmlformats.org/officeDocument/2006/relationships/image" Target="/ppt/media/image2.png" Id="Rff880a3cbf3a4e55" /><Relationship Type="http://schemas.openxmlformats.org/officeDocument/2006/relationships/image" Target="/ppt/media/image3.png" Id="Rfa8d9cb52b1f407c" /><Relationship Type="http://schemas.openxmlformats.org/officeDocument/2006/relationships/notesSlide" Target="/ppt/notesSlides/notesSlide14.xml" Id="Rdbd5efc59c6241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bf9de85574fc3" /><Relationship Type="http://schemas.openxmlformats.org/officeDocument/2006/relationships/image" Target="/ppt/media/image15.png" Id="R0a090019187f40f8" /><Relationship Type="http://schemas.openxmlformats.org/officeDocument/2006/relationships/image" Target="/ppt/media/image27.png" Id="Ra069dc9032774792" /><Relationship Type="http://schemas.openxmlformats.org/officeDocument/2006/relationships/notesSlide" Target="/ppt/notesSlides/notesSlide15.xml" Id="R9ec1094175d649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1cad8d8c74c49" /><Relationship Type="http://schemas.openxmlformats.org/officeDocument/2006/relationships/image" Target="/ppt/media/image28.png" Id="Ra47eaacc13e240c5" /><Relationship Type="http://schemas.openxmlformats.org/officeDocument/2006/relationships/image" Target="/ppt/media/image29.png" Id="R75bb871f0c244b9d" /><Relationship Type="http://schemas.openxmlformats.org/officeDocument/2006/relationships/image" Target="/ppt/media/image30.png" Id="R236026e3745f42a0" /><Relationship Type="http://schemas.openxmlformats.org/officeDocument/2006/relationships/image" Target="/ppt/media/image31.png" Id="R1d5c771bea524a12" /><Relationship Type="http://schemas.openxmlformats.org/officeDocument/2006/relationships/image" Target="/ppt/media/image32.png" Id="Ree64487e8a4448a7" /><Relationship Type="http://schemas.openxmlformats.org/officeDocument/2006/relationships/notesSlide" Target="/ppt/notesSlides/notesSlide16.xml" Id="R0266314cd44d40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9f50446874d71" /><Relationship Type="http://schemas.openxmlformats.org/officeDocument/2006/relationships/image" Target="/ppt/media/image2.png" Id="R73e68a57b6e9441c" /><Relationship Type="http://schemas.openxmlformats.org/officeDocument/2006/relationships/image" Target="/ppt/media/image3.png" Id="R1cac81bca91f4ec2" /><Relationship Type="http://schemas.openxmlformats.org/officeDocument/2006/relationships/notesSlide" Target="/ppt/notesSlides/notesSlide17.xml" Id="R21efe3de82154e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9e0df16e94e02" /><Relationship Type="http://schemas.openxmlformats.org/officeDocument/2006/relationships/notesSlide" Target="/ppt/notesSlides/notesSlide18.xml" Id="Rfefd837d9a5a4e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25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7ee7d13c14d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5560" y="137160"/>
            <a:ext cx="1737360" cy="1737360"/>
          </a:xfrm>
          <a:prstGeom xmlns:a="http://schemas.openxmlformats.org/drawingml/2006/main" prst="rect">
            <a:avLst/>
          </a:prstGeom>
        </p:spPr>
      </p:pic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5F376B72-8AF4-4E49-9563-B93315D3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41732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622D"/>
          </a:solidFill>
        </p:spPr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FAB719F-282D-4DAA-AB71-E937DCCB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85800"/>
            <a:ext cx="1417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 spc="1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DAY 4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9644105-1086-4F74-8B3D-DE43B1A8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31720"/>
            <a:ext cx="87782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投籃事件</a:t>
            </a:r>
            <a:endParaRPr sz="3800"/>
          </a:p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與出手角度分析</a:t>
            </a:r>
            <a:endParaRPr sz="38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DF04528-E738-4946-AD3C-10353943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87782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從影片上傳到球軌跡、人體骨架與 2D 起飛角</a:t>
            </a:r>
            <a:endParaRPr sz="18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B54025F-4698-4805-8A13-8BA34EAB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266944"/>
            <a:ext cx="10161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A67"/>
            </a:solidFill>
            <a:prstDash val="solid"/>
          </a:ln>
        </p:spPr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31C65FE-3C3D-4571-B254-885A127F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6"/>
          </a:solidFill>
          <a:ln xmlns:a="http://schemas.openxmlformats.org/drawingml/2006/main" w="15875">
            <a:solidFill>
              <a:srgbClr val="CBD5E6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BD28263-8130-432F-90CC-3B5BBD68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7EA4E74-76EC-4066-8A5D-34F50877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55321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影片準備</a:t>
            </a:r>
            <a:endParaRPr sz="9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ED75C43-E6B2-4AEF-BC4F-0D157C4E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392" y="5074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6"/>
          </a:solidFill>
          <a:ln xmlns:a="http://schemas.openxmlformats.org/drawingml/2006/main" w="15875">
            <a:solidFill>
              <a:srgbClr val="CBD5E6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22A5740-AF9F-405E-840C-FA339D5B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392" y="5074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13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9DA324D-D594-43D3-958C-0ED6242C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616" y="55321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球體偵測</a:t>
            </a:r>
            <a:endParaRPr sz="9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2607E06-04A1-40BD-AE63-8A196B4F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824" y="5074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6"/>
          </a:solidFill>
          <a:ln xmlns:a="http://schemas.openxmlformats.org/drawingml/2006/main" w="15875">
            <a:solidFill>
              <a:srgbClr val="CBD5E6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03ED8D7-4FE0-4F75-A8D9-C130F180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824" y="5074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3A95B74-F5B2-496B-8667-073C5485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48" y="55321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人物姿態</a:t>
            </a:r>
            <a:endParaRPr sz="9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2E54FE7E-71E9-4ADA-AC80-851CF8EC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255" y="5074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  <a:ln xmlns:a="http://schemas.openxmlformats.org/drawingml/2006/main" w="15875">
            <a:solidFill>
              <a:srgbClr val="E8622D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2A667E60-DCB2-4750-BEA7-28C0DB79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255" y="5074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 sz="13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AAB0E71-393A-4A70-BD34-801C4354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479" y="55321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事件判定</a:t>
            </a:r>
            <a:endParaRPr sz="9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850E9812-7222-46C0-B837-4E225C9A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687" y="5074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  <a:ln xmlns:a="http://schemas.openxmlformats.org/drawingml/2006/main" w="15875">
            <a:solidFill>
              <a:srgbClr val="CBD5E6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5FF41CF-9BB3-4428-A17C-D3E86917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687" y="5074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 sz="13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DF995C51-65F9-40A1-BAF9-12DBC6B3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911" y="55321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角度驗證</a:t>
            </a:r>
            <a:endParaRPr sz="9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0936C7B-2ED8-4F4E-9F02-064389B3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Python 籃球運動資料分析課程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522628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D514F5-5AF0-45DF-ACBA-768709FA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9e851125f4b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4041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50BABCC-0D41-4E78-9BB7-049F0A2E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Day 4 完整流程</a:t>
            </a:r>
            <a:endParaRPr sz="3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4BE471C-9CBE-4220-A83B-5A5929B4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11094415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88243E4-4CA4-4781-8E16-5B37C3B7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3b47e75b444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676" y="1568196"/>
            <a:ext cx="338328" cy="338328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6380528-603D-4690-9166-8911DDDC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4173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今天的目標</a:t>
            </a:r>
            <a:endParaRPr sz="12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6E9B298-CA12-4608-B61C-6779BA4E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691640"/>
            <a:ext cx="99971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把一支投籃影片整理成可檢查的球偵測、投籃者骨架、事件球軌跡、release frame 與 2D 起飛角。</a:t>
            </a:r>
            <a:endParaRPr sz="135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4E1642C-2820-47D4-933C-B18BA1A0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094415" cy="1182624"/>
          </a:xfrm>
          <a:prstGeom xmlns:a="http://schemas.openxmlformats.org/drawingml/2006/main" prst="roundRect">
            <a:avLst>
              <a:gd name="adj" fmla="val 7732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443066B-6A79-4D02-8913-673AB07D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5445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405577FE-C963-439D-88BE-1CEC3ED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54452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 sz="15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F672D63-4C0A-4FCB-90C0-1921C799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40"/>
            <a:ext cx="995141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d4_01｜準備影片、球模型與 ByteTrack</a:t>
            </a:r>
            <a:endParaRPr sz="145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432EDE9-68DC-489E-954D-B2A65F21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35224"/>
            <a:ext cx="9951415" cy="725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選好同一支 converted 影片，先做 5 張單幀檢查，再看跨 frame 的 track ID。</a:t>
            </a:r>
            <a:endParaRPr sz="12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7CE8A7D-2DDC-4CAB-93AF-8DBCA211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3528"/>
            <a:ext cx="11094415" cy="1182624"/>
          </a:xfrm>
          <a:prstGeom xmlns:a="http://schemas.openxmlformats.org/drawingml/2006/main" prst="roundRect">
            <a:avLst>
              <a:gd name="adj" fmla="val 7732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C739662-EEDE-4344-8E68-8563F1B3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833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6869FB0-E907-4DB0-AB1D-5737D59C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8338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15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FA857EF-8D5E-4049-9804-866741C7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34968"/>
            <a:ext cx="995141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d4_02｜鎖定投籃者、骨架與角度</a:t>
            </a:r>
            <a:endParaRPr sz="145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F876672D-8A04-4E8E-90FD-CECC99A0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264152"/>
            <a:ext cx="9951415" cy="725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用 shot score 對應 YOLO pose，保留雙側 keypoints 與逐 frame 關節角度。</a:t>
            </a:r>
            <a:endParaRPr sz="12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79DDE153-1497-43CC-BB74-09DEB5D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72456"/>
            <a:ext cx="11094415" cy="1182624"/>
          </a:xfrm>
          <a:prstGeom xmlns:a="http://schemas.openxmlformats.org/drawingml/2006/main" prst="roundRect">
            <a:avLst>
              <a:gd name="adj" fmla="val 7732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9ABA8B02-9356-4599-B4D2-30845005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1230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8259962-3214-4F49-A3A7-E3B359D9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1230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15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2532415-A323-4ABE-8B61-FDCB6963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263896"/>
            <a:ext cx="995141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d4_03｜投球事件、release 與 2D 起飛角</a:t>
            </a:r>
            <a:endParaRPr sz="145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F4CCB2B-7317-4B3B-836E-C4AD8E7E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593080"/>
            <a:ext cx="9951415" cy="725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從手腕附近建立事件球軌跡，判定離手時刻，再用初段球路估計起飛角。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CA05212-C2B4-4DFA-A648-001E5706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61BCE60B-2C74-4A6A-8E1B-E61709EE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流程總覽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82368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F6CAC9-0DC3-4AD0-8128-D76FCE33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fafbb2c364a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8613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897454-EAEB-480C-9B7F-62D8E6DE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100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D4 · 影片準備 · d4_01</a:t>
            </a:r>
            <a:endParaRPr sz="11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89898EC-A51B-4EA7-9AC9-DD12DE61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3232"/>
            <a:ext cx="10241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自己的影片要放到哪裡？</a:t>
            </a:r>
            <a:endParaRPr sz="21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405B3C1-535F-4F95-A003-2D4B9EEE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2F53F66-4CB9-4ED5-A3CD-0C7ECF84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9ab4823c64e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9734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D30BD58-659A-45A7-9CBC-5B446BDA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方式 A（推薦）</a:t>
            </a:r>
            <a:endParaRPr sz="14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5B86473-CDC4-4620-B725-B0A6A050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Drive 路徑：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basketball_hackathon/course/assets/raw/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在 VIDEO_FILENAME 填入檔名</a:t>
            </a:r>
            <a:endParaRPr sz="118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F5307BF-C217-492E-88B3-2A553CD4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978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7EF42F6-2E4D-4876-96C7-3E8AEB5E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146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581ea25614f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4073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C92EB1C0-B384-4F5F-B519-8B4F1D8B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778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方式 B（直接上傳）</a:t>
            </a:r>
            <a:endParaRPr sz="14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2FCB1FE-E28E-4418-9AC6-3291FAA9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把 USE_BROWSER_UPLOAD 改成 True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執行後從電腦選影片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檔案會寫入 Drive 的 raw/</a:t>
            </a:r>
            <a:endParaRPr sz="118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62558485-1D1A-4B0F-AF4A-36D93E05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7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14B53C4-4C11-4E60-A7E5-11DA03B9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4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a5ad596894c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8411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D756B06B-419A-4498-9DF0-AD89304E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117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統一後的輸入</a:t>
            </a:r>
            <a:endParaRPr sz="14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EEFDD413-18DD-4686-8E4E-3CFFC1C6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349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assets/converted/student_video.mp4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所有分析結果寫到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assets/results/</a:t>
            </a:r>
            <a:endParaRPr sz="118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9024FBFC-93C0-445F-9080-C701AE15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23E5700F-840E-43D2-90ED-D75C9EE5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影片上傳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01715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3E63783-1453-43B3-A433-A3FA5BB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0bf08942749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4041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8FF457C-148F-4E34-8E18-3FA1EEDB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三個模型與三個分析概念</a:t>
            </a:r>
            <a:endParaRPr sz="3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6DE50CD-D35D-4926-87F9-C1EF6423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94560"/>
            <a:ext cx="3545738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C4925B0C-C553-4366-B632-06FE764B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377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86a50860447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7" y="2424989"/>
            <a:ext cx="270662" cy="270662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C4057E8-419A-449B-8257-3B657DA4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834640"/>
            <a:ext cx="31434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ball_rimV8.pt</a:t>
            </a:r>
            <a:endParaRPr sz="14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243EFC6-C91B-4A76-B57F-25934FF5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18688"/>
            <a:ext cx="314340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每個 frame 產生球與籃框候選框。</a:t>
            </a:r>
            <a:endParaRPr sz="11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95BEE95-47DF-442C-BE0B-9E740BC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978" y="2194560"/>
            <a:ext cx="3545738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9A8C29C-FC33-43F8-9156-B561B0E3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146" y="2377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aef525fbb4e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1695" y="2424989"/>
            <a:ext cx="270662" cy="270662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C8B412D-7342-4390-B331-B9CCDCE6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146" y="2834640"/>
            <a:ext cx="31434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shot_detection.pt</a:t>
            </a:r>
            <a:endParaRPr sz="14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1E4EF13B-BEEF-4885-ACA9-D281EB38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146" y="3218688"/>
            <a:ext cx="314340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產生 shot score 與投籃者候選框。</a:t>
            </a:r>
            <a:endParaRPr sz="110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D2C3DFCC-6C83-47C6-A514-AAE1D4C0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7" y="2194560"/>
            <a:ext cx="3545738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C8C9B5C0-B43A-4863-8BE8-F6DC63D8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3774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5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0d3e9697c4a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6034" y="2424989"/>
            <a:ext cx="270662" cy="270662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31B487B0-B189-42A1-8A22-77CDCD5A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834640"/>
            <a:ext cx="31434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yolov8n-pose.pt</a:t>
            </a:r>
            <a:endParaRPr sz="14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CD23C797-AA06-4417-B114-E4E0257A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3218688"/>
            <a:ext cx="314340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輸出 17 個人體 keypoints 與人物框。</a:t>
            </a:r>
            <a:endParaRPr sz="110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C97C9303-BC8F-47C6-974C-EC7B9D26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23360"/>
            <a:ext cx="3545738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395BDCA8-95E9-49F5-B362-F969FBCA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062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6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9ffa8c4604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357" y="4253789"/>
            <a:ext cx="270662" cy="270662"/>
          </a:xfrm>
          <a:prstGeom xmlns:a="http://schemas.openxmlformats.org/drawingml/2006/main" prst="rect">
            <a:avLst/>
          </a:prstGeom>
        </p:spPr>
      </p:pic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F9C871D7-BB94-446E-846F-0F94A7A1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63440"/>
            <a:ext cx="31434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ByteTrack</a:t>
            </a:r>
            <a:endParaRPr sz="1400"/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6B7D4ABE-2275-43FD-85FE-620AA0C0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47488"/>
            <a:ext cx="314340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把逐 frame 偵測連成同一個 track ID。</a:t>
            </a:r>
            <a:endParaRPr sz="1100"/>
          </a:p>
        </p:txBody>
      </p:sp>
      <p:sp>
        <p:nvSpPr>
          <p:cNvPr id="25" name="Shape 18">
            <a:extLst xmlns:a="http://schemas.openxmlformats.org/drawingml/2006/main">
              <a:ext uri="{FF2B5EF4-FFF2-40B4-BE49-F238E27FC236}">
                <a16:creationId xmlns:a16="http://schemas.microsoft.com/office/drawing/2014/main" id="{76C974B3-C123-41F6-B255-0BBDB64B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978" y="4023360"/>
            <a:ext cx="3545738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4FF16417-9AF2-413B-AE03-CB10216B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146" y="42062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6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694cd971c49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1695" y="4253789"/>
            <a:ext cx="270662" cy="270662"/>
          </a:xfrm>
          <a:prstGeom xmlns:a="http://schemas.openxmlformats.org/drawingml/2006/main" prst="rect">
            <a:avLst/>
          </a:prstGeom>
        </p:spPr>
      </p:pic>
      <p:sp>
        <p:nvSpPr>
          <p:cNvPr id="28" name="Text 20">
            <a:extLst xmlns:a="http://schemas.openxmlformats.org/drawingml/2006/main">
              <a:ext uri="{FF2B5EF4-FFF2-40B4-BE49-F238E27FC236}">
                <a16:creationId xmlns:a16="http://schemas.microsoft.com/office/drawing/2014/main" id="{A9BB3174-1693-42D2-A579-327F7CA8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146" y="4663440"/>
            <a:ext cx="31434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Release frame</a:t>
            </a:r>
            <a:endParaRPr sz="1400"/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68F44542-AB2A-45FC-9A33-0B4B9FB7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146" y="5047488"/>
            <a:ext cx="314340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球由靠近手腕轉為離開且向上移動。</a:t>
            </a:r>
            <a:endParaRPr sz="1100"/>
          </a:p>
        </p:txBody>
      </p:sp>
      <p:sp>
        <p:nvSpPr>
          <p:cNvPr id="30" name="Shape 22">
            <a:extLst xmlns:a="http://schemas.openxmlformats.org/drawingml/2006/main">
              <a:ext uri="{FF2B5EF4-FFF2-40B4-BE49-F238E27FC236}">
                <a16:creationId xmlns:a16="http://schemas.microsoft.com/office/drawing/2014/main" id="{87B4CA8B-9D3B-45B7-BAD9-80574690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7" y="4023360"/>
            <a:ext cx="3545738" cy="16002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31" name="Shape 23">
            <a:extLst xmlns:a="http://schemas.openxmlformats.org/drawingml/2006/main">
              <a:ext uri="{FF2B5EF4-FFF2-40B4-BE49-F238E27FC236}">
                <a16:creationId xmlns:a16="http://schemas.microsoft.com/office/drawing/2014/main" id="{2D8F92F1-188A-416E-BA8C-32A97271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42062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7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e79b006de41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6034" y="4253789"/>
            <a:ext cx="270662" cy="270662"/>
          </a:xfrm>
          <a:prstGeom xmlns:a="http://schemas.openxmlformats.org/drawingml/2006/main" prst="rect">
            <a:avLst/>
          </a:prstGeom>
        </p:spPr>
      </p:pic>
      <p:sp>
        <p:nvSpPr>
          <p:cNvPr id="33" name="Text 24">
            <a:extLst xmlns:a="http://schemas.openxmlformats.org/drawingml/2006/main">
              <a:ext uri="{FF2B5EF4-FFF2-40B4-BE49-F238E27FC236}">
                <a16:creationId xmlns:a16="http://schemas.microsoft.com/office/drawing/2014/main" id="{ACB95297-4D7A-4515-B5FE-000FE203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4663440"/>
            <a:ext cx="314340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2D 起飛角</a:t>
            </a:r>
            <a:endParaRPr sz="1400"/>
          </a:p>
        </p:txBody>
      </p:sp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9F61FBC7-983F-43FF-9B42-FAC07984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5047488"/>
            <a:ext cx="314340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1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以離手後初段球路估計影像平面仰角。</a:t>
            </a:r>
            <a:endParaRPr sz="1100"/>
          </a:p>
        </p:txBody>
      </p:sp>
      <p:sp>
        <p:nvSpPr>
          <p:cNvPr id="35" name="Text 26">
            <a:extLst xmlns:a="http://schemas.openxmlformats.org/drawingml/2006/main">
              <a:ext uri="{FF2B5EF4-FFF2-40B4-BE49-F238E27FC236}">
                <a16:creationId xmlns:a16="http://schemas.microsoft.com/office/drawing/2014/main" id="{051BE037-26EA-4BA4-9E6E-C64E0F0C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36" name="Text 27">
            <a:extLst xmlns:a="http://schemas.openxmlformats.org/drawingml/2006/main">
              <a:ext uri="{FF2B5EF4-FFF2-40B4-BE49-F238E27FC236}">
                <a16:creationId xmlns:a16="http://schemas.microsoft.com/office/drawing/2014/main" id="{0C12C5C7-3054-452B-A715-0670E262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模型角色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45180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F6CAC9-0DC3-4AD0-8128-D76FCE33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ab5fa59e14f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8613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897454-EAEB-480C-9B7F-62D8E6DE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100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D4 · NOTEBOOK 1 · d4_01</a:t>
            </a:r>
            <a:endParaRPr sz="11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89898EC-A51B-4EA7-9AC9-DD12DE61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3232"/>
            <a:ext cx="10241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球模型推論與 ByteTrack 預覽</a:t>
            </a:r>
            <a:endParaRPr sz="21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405B3C1-535F-4F95-A003-2D4B9EEE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2F53F66-4CB9-4ED5-A3CD-0C7ECF84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9edaf3fc84b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9734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D30BD58-659A-45A7-9CBC-5B446BDA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這一節要回答</a:t>
            </a:r>
            <a:endParaRPr sz="14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5B86473-CDC4-4620-B725-B0A6A050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球模型真的有看到球嗎？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漏掉是 detector 還是 tracker？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track ID 是否維持連續？</a:t>
            </a:r>
            <a:endParaRPr sz="118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F5307BF-C217-492E-88B3-2A553CD4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978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7EF42F6-2E4D-4876-96C7-3E8AEB5E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146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776b7b13544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4073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C92EB1C0-B384-4F5F-B519-8B4F1D8B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778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執行順序</a:t>
            </a:r>
            <a:endParaRPr sz="14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2FCB1FE-E28E-4418-9AC6-3291FAA9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選擇 converted 影片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載入 ball_rimV8.pt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5 張單幀檢查 → ByteTrack 預覽</a:t>
            </a:r>
            <a:endParaRPr sz="118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62558485-1D1A-4B0F-AF4A-36D93E05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7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14B53C4-4C11-4E60-A7E5-11DA03B9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4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f114175d049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8411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D756B06B-419A-4498-9DF0-AD89304E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117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完成產出</a:t>
            </a:r>
            <a:endParaRPr sz="14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EEFDD413-18DD-4686-8E4E-3CFFC1C6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349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d4_01_test_infer_grid.png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d4_01_bytetrack_ball_preview.mp4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d4_01_bytetrack_ball_preview.json</a:t>
            </a:r>
            <a:endParaRPr sz="118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9024FBFC-93C0-445F-9080-C701AE15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23E5700F-840E-43D2-90ED-D75C9EE5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Notebook 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017150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F6CAC9-0DC3-4AD0-8128-D76FCE33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d2e691b4246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8613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897454-EAEB-480C-9B7F-62D8E6DE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100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D4 · NOTEBOOK 1 · 核心程式格</a:t>
            </a:r>
            <a:endParaRPr sz="11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89898EC-A51B-4EA7-9AC9-DD12DE61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3232"/>
            <a:ext cx="10241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影片、模型參數、單幀檢查與追蹤</a:t>
            </a:r>
            <a:endParaRPr sz="21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405B3C1-535F-4F95-A003-2D4B9EEE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2F53F66-4CB9-4ED5-A3CD-0C7ECF84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7e69bc2a842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9734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D30BD58-659A-45A7-9CBC-5B446BDA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影片準備格</a:t>
            </a:r>
            <a:endParaRPr sz="14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5B86473-CDC4-4620-B725-B0A6A050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選擇 Drive 或瀏覽器上傳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轉成 30 FPS、最長邊 1280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確認 using video 路徑</a:t>
            </a:r>
            <a:endParaRPr sz="118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F5307BF-C217-492E-88B3-2A553CD4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978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7EF42F6-2E4D-4876-96C7-3E8AEB5E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146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2819bbb6a49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4073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C92EB1C0-B384-4F5F-B519-8B4F1D8B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778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模型與參數格</a:t>
            </a:r>
            <a:endParaRPr sz="14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2FCB1FE-E28E-4418-9AC6-3291FAA9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SANITY_CONF = 0.25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PREVIEW_IMGSZ = 1280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只保留 ball 類別</a:t>
            </a:r>
            <a:endParaRPr sz="118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62558485-1D1A-4B0F-AF4A-36D93E05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7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14B53C4-4C11-4E60-A7E5-11DA03B9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4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9c74b1c4c4e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8411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D756B06B-419A-4498-9DF0-AD89304E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117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檢查與追蹤格</a:t>
            </a:r>
            <a:endParaRPr sz="14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EEFDD413-18DD-4686-8E4E-3CFFC1C6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349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先看框中心是否落在球上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再看 track ID 是否連續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位置判讀比 confidence 更重要</a:t>
            </a:r>
            <a:endParaRPr sz="118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9024FBFC-93C0-445F-9080-C701AE15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23E5700F-840E-43D2-90ED-D75C9EE5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程式格導讀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017150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FF500A-42CB-4754-8377-1583A12D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46dd5d7dc4a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4041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4157420-7F41-4339-8407-11FED108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912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100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人工檢查</a:t>
            </a:r>
            <a:endParaRPr sz="11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4E74568-C765-4A9A-A0FD-7B69BE95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3232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先看球框，再看 track ID</a:t>
            </a:r>
            <a:endParaRPr sz="24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D4D8BC9-C577-4309-BF90-69E6A4BE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521208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703D392-9837-487A-9458-D82EEA86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64208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單幀 detector 檢查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30E40F3-CDCA-42FA-8D5D-B707F5BF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56816"/>
            <a:ext cx="47548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這一步只回答：目前 frame 有沒有找到球？</a:t>
            </a:r>
            <a:endParaRPr sz="1250"/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1250"/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框中心要落在籃球上；confidence 是模型信心，不等於正確率。</a:t>
            </a:r>
            <a:endParaRPr sz="12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AC0B431-A045-47A0-945A-1942A67A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521208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右圖是 frame 90：球框落在投籃者手上的籃球，confidence 0.80。</a:t>
            </a:r>
            <a:endParaRPr sz="1350"/>
          </a:p>
          <a:p xmlns:a="http://schemas.openxmlformats.org/drawingml/2006/main"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1350"/>
          </a:p>
          <a:p xmlns:a="http://schemas.openxmlformats.org/drawingml/2006/main"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確認 detector 後，才播放預覽影片檢查同一顆球的 track ID 是否連續。</a:t>
            </a:r>
            <a:endParaRPr sz="13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FCDD06C-1C61-410B-BBC9-7C99F888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D03E97A-B096-498F-BF7C-F6F923F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球模型檢查</a:t>
            </a:r>
            <a:endParaRPr sz="900"/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6bd0531764dc5"/>
          <a:stretch xmlns:a="http://schemas.openxmlformats.org/drawingml/2006/main"/>
        </p:blipFill>
        <p:spPr>
          <a:xfrm xmlns:a="http://schemas.openxmlformats.org/drawingml/2006/main">
            <a:off x="6191250" y="2351484"/>
            <a:ext cx="5219700" cy="2936081"/>
          </a:xfrm>
          <a:prstGeom xmlns:a="http://schemas.openxmlformats.org/drawingml/2006/main" prst="roundRect">
            <a:avLst>
              <a:gd name="adj" fmla="val 1762"/>
            </a:avLst>
          </a:prstGeom>
        </p:spPr>
      </p:pic>
    </p:spTree>
    <p:extLst>
      <p:ext uri="{BB962C8B-B14F-4D97-AF65-F5344CB8AC3E}">
        <p14:creationId xmlns:p14="http://schemas.microsoft.com/office/powerpoint/2010/main" val="2131746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D899515-0CC9-4BB0-A280-C33789A9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a09ae371948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8613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88E4CDBC-BA7E-49F4-8637-5055FAB0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100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D4 · NOTEBOOK 2 · d4_02</a:t>
            </a:r>
            <a:endParaRPr sz="11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C653E0-363A-4CB1-AFE6-F9BA7BB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3232"/>
            <a:ext cx="10241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投籃者骨架與逐 frame 關節角度</a:t>
            </a:r>
            <a:endParaRPr sz="21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9F74E01F-B946-472C-8ABF-BD812736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F4AF42A0-ADF0-4135-B653-E300D791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f5696220142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9734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2B2D159-03E7-46B4-83B3-24BAA33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這一節要回答</a:t>
            </a:r>
            <a:endParaRPr sz="14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20D7C7E6-976B-40BF-A58E-B5C0DAAA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哪一位是投籃者？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人體 keypoints 是否可信？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角度變化是否連續？</a:t>
            </a:r>
            <a:endParaRPr sz="118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2CEA2D1-D514-491A-8ACA-FCECBBDD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978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0C7C7D04-7F95-40A4-A62B-123E68F9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146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acecf0a9694b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4073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49B8AA1B-2257-4768-915B-E7824D15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778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執行順序</a:t>
            </a:r>
            <a:endParaRPr sz="14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66EB46D3-6B26-4B0E-A7E8-C252C9AA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讀同一支 converted 影片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shot score + YOLO pose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輸出 CSV、曲線與骨架 overlay</a:t>
            </a:r>
            <a:endParaRPr sz="118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9B288E5A-77D8-440B-BD17-A88BDAA5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7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4CF76C4A-BEF2-41BA-9AFB-C6255ED5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4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4d066adb243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8411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8C863261-F1C6-4BC3-A902-6FFCA642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117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完成產出</a:t>
            </a:r>
            <a:endParaRPr sz="14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BE6BDE42-3C52-4EBC-A084-A8B57EF2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349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d4_02_pose_angles.csv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d4_02_pose_angle_plot.png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d4_02_pose_overlay_preview.mp4</a:t>
            </a:r>
            <a:endParaRPr sz="118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0ACD0539-5FF6-4028-A3AB-65A9B2C3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7F6AE795-8FD6-4089-96ED-81C83E52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Notebook 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622314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F6CAC9-0DC3-4AD0-8128-D76FCE33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f433dfbfb43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8613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897454-EAEB-480C-9B7F-62D8E6DE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100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D4 · NOTEBOOK 2 · 核心程式格</a:t>
            </a:r>
            <a:endParaRPr sz="11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89898EC-A51B-4EA7-9AC9-DD12DE61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3232"/>
            <a:ext cx="10241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shot score、人物身分與角度計算</a:t>
            </a:r>
            <a:endParaRPr sz="21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405B3C1-535F-4F95-A003-2D4B9EEE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2F53F66-4CB9-4ED5-A3CD-0C7ECF84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ba3e9506649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9734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D30BD58-659A-45A7-9CBC-5B446BDA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兩個模型輸出</a:t>
            </a:r>
            <a:endParaRPr sz="14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5B86473-CDC4-4620-B725-B0A6A050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shot_detection.pt：分數與人物框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yolov8n-pose.pt：17 個 keypoints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每列對應一個 frame</a:t>
            </a:r>
            <a:endParaRPr sz="118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F5307BF-C217-492E-88B3-2A553CD4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978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7EF42F6-2E4D-4876-96C7-3E8AEB5E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146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2fa6343a84f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4073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C92EB1C0-B384-4F5F-B519-8B4F1D8B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778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投籃者身分</a:t>
            </a:r>
            <a:endParaRPr sz="14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2FCB1FE-E28E-4418-9AC6-3291FAA9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shot box 明確時對應人物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訊號短暫變弱時延續上一位置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避免骨架跳到其他人</a:t>
            </a:r>
            <a:endParaRPr sz="118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62558485-1D1A-4B0F-AF4A-36D93E05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7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14B53C4-4C11-4E60-A7E5-11DA03B9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4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f641873984d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8411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D756B06B-419A-4498-9DF0-AD89304E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117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角度與驗證</a:t>
            </a:r>
            <a:endParaRPr sz="14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EEFDD413-18DD-4686-8E4E-3CFFC1C6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349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肩－肘－腕 → 手肘角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髖－膝－踝 → 膝角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看曲線後再看 overlay</a:t>
            </a:r>
            <a:endParaRPr sz="118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9024FBFC-93C0-445F-9080-C701AE15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23E5700F-840E-43D2-90ED-D75C9EE5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程式格導讀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017150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FF500A-42CB-4754-8377-1583A12D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ced4d4b4446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4041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4157420-7F41-4339-8407-11FED108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912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100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人工檢查</a:t>
            </a:r>
            <a:endParaRPr sz="11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4E74568-C765-4A9A-A0FD-7B69BE95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3232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wrist 是手腕，不是籃球</a:t>
            </a:r>
            <a:endParaRPr sz="24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D4D8BC9-C577-4309-BF90-69E6A4BE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521208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703D392-9837-487A-9458-D82EEA86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64208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骨架 overlay 要看什麼？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30E40F3-CDCA-42FA-8D5D-B707F5BF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56816"/>
            <a:ext cx="47548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白色骨架要黏在同一位投籃者身上。</a:t>
            </a:r>
            <a:endParaRPr sz="1250"/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1250"/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粉紅色 wrist 只標示目前 frame 的手腕位置，不是球軌跡。</a:t>
            </a:r>
            <a:endParaRPr sz="12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AC0B431-A045-47A0-945A-1942A67A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521208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右圖的骨架鎖定左側投籃者，wrist 點位於當下手腕。</a:t>
            </a:r>
            <a:endParaRPr sz="1350"/>
          </a:p>
          <a:p xmlns:a="http://schemas.openxmlformats.org/drawingml/2006/main"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1350"/>
          </a:p>
          <a:p xmlns:a="http://schemas.openxmlformats.org/drawingml/2006/main"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如果人物身分跳動，release frame 與關節角度都先停止解讀。</a:t>
            </a:r>
            <a:endParaRPr sz="13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FCDD06C-1C61-410B-BBC9-7C99F888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D03E97A-B096-498F-BF7C-F6F923F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姿態模型檢查</a:t>
            </a:r>
            <a:endParaRPr sz="900"/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1fe1f84e548bb"/>
          <a:stretch xmlns:a="http://schemas.openxmlformats.org/drawingml/2006/main"/>
        </p:blipFill>
        <p:spPr>
          <a:xfrm xmlns:a="http://schemas.openxmlformats.org/drawingml/2006/main">
            <a:off x="6191250" y="2774424"/>
            <a:ext cx="5219700" cy="2090202"/>
          </a:xfrm>
          <a:prstGeom xmlns:a="http://schemas.openxmlformats.org/drawingml/2006/main" prst="roundRect">
            <a:avLst>
              <a:gd name="adj" fmla="val 1762"/>
            </a:avLst>
          </a:prstGeom>
        </p:spPr>
      </p:pic>
    </p:spTree>
    <p:extLst>
      <p:ext uri="{BB962C8B-B14F-4D97-AF65-F5344CB8AC3E}">
        <p14:creationId xmlns:p14="http://schemas.microsoft.com/office/powerpoint/2010/main" val="21317462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B58E88D-8671-4FC5-946A-1D2C29D8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c32f64dac48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8613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BEDAFB9A-CC43-437E-BA8F-8FD9B4CC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100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D4 · NOTEBOOK 3 · d4_03</a:t>
            </a:r>
            <a:endParaRPr sz="11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AC3B61E-4F92-4884-97C9-9076C440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3232"/>
            <a:ext cx="10241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投球事件、release frame 與 2D 起飛角</a:t>
            </a:r>
            <a:endParaRPr sz="21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4ECBAE7-4E6C-4FB9-87A7-D6AAB05E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BED82E01-4103-4333-A0F5-FAF3058A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bce59f26543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9734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2C646C6-FDE0-44DC-99B3-AEE1EDC9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這一節要回答</a:t>
            </a:r>
            <a:endParaRPr sz="14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44A1CFD-903B-4D9A-871A-80AD08DB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哪一段是真正的投籃？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哪一顆球屬於這次出手？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球在第幾個 frame 離手？</a:t>
            </a:r>
            <a:endParaRPr sz="118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3F45223-EB46-439D-BCE8-0212DFB1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978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1A4668A0-CE20-4D0A-A852-B076FAA5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146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802a852b4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4073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4E54161B-2F04-42E2-9115-C5C496E6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778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執行順序</a:t>
            </a:r>
            <a:endParaRPr sz="14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B8E36638-F8AC-4C6A-A604-E044D2D5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shot score 合併事件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手腕附近建立事件球軌跡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release → 關節角 → 2D 起飛角</a:t>
            </a:r>
            <a:endParaRPr sz="118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331E051D-5831-4EEF-ABCB-33518F79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7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082DABA8-36C7-4F68-8D8D-D0733E0F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4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093070dd64a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8411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FFED1728-93E8-4F82-BF99-1A03B16F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117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完成產出</a:t>
            </a:r>
            <a:endParaRPr sz="14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D4FAEE4B-3979-4C4E-BBDB-850744AE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349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事件與球軌跡 CSV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角度時間圖、release 檢查圖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完整事件 overlay 影片</a:t>
            </a:r>
            <a:endParaRPr sz="118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A5730B92-8971-49D4-9BD1-24D80EBD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E0BEE6F5-CDB1-4112-8622-1BC7A3D4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Notebook 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991479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F6CAC9-0DC3-4AD0-8128-D76FCE33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426a6d2ab40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8613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897454-EAEB-480C-9B7F-62D8E6DE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100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D4 · NOTEBOOK 3 · 事件政策</a:t>
            </a:r>
            <a:endParaRPr sz="11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89898EC-A51B-4EA7-9AC9-DD12DE61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3232"/>
            <a:ext cx="102412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從 shot score 到 event ball</a:t>
            </a:r>
            <a:endParaRPr sz="21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405B3C1-535F-4F95-A003-2D4B9EEE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2F53F66-4CB9-4ED5-A3CD-0C7ECF84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b2b7f9b6841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9734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D30BD58-659A-45A7-9CBC-5B446BDA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1｜建立事件區段</a:t>
            </a:r>
            <a:endParaRPr sz="14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E5B86473-CDC4-4620-B725-B0A6A050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把連續的高 shot score frames 合併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保留 start、end 與 peak frame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事件區段不是 release 時刻</a:t>
            </a:r>
            <a:endParaRPr sz="118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F5307BF-C217-492E-88B3-2A553CD4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978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7EF42F6-2E4D-4876-96C7-3E8AEB5E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146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3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9813e853f4e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4073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C92EB1C0-B384-4F5F-B519-8B4F1D8B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778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2｜選出事件球</a:t>
            </a:r>
            <a:endParaRPr sz="14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22FCB1FE-E28E-4418-9AC6-3291FAA9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9010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保留低門檻的所有球候選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從左右手腕附近找起點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用位置與移動連續性接軌跡</a:t>
            </a:r>
            <a:endParaRPr sz="118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62558485-1D1A-4B0F-AF4A-36D93E05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317" y="1965960"/>
            <a:ext cx="3545738" cy="3931920"/>
          </a:xfrm>
          <a:prstGeom xmlns:a="http://schemas.openxmlformats.org/drawingml/2006/main" prst="roundRect">
            <a:avLst>
              <a:gd name="adj" fmla="val 2579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D14B53C4-4C11-4E60-A7E5-11DA03B9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8485" y="21671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pic>
        <p:nvPicPr>
          <p:cNvPr id="4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683942d4f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8411" y="2217054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D756B06B-419A-4498-9DF0-AD89304E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117" y="2148840"/>
            <a:ext cx="263133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3｜判定 release</a:t>
            </a:r>
            <a:endParaRPr sz="14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EEFDD413-18DD-4686-8E4E-3CFFC1C6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349" y="2743200"/>
            <a:ext cx="3033674" cy="297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球先靠近手腕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接著距離增加且向上移動</a:t>
            </a:r>
            <a:endParaRPr sz="1180"/>
          </a:p>
          <a:p xmlns:a="http://schemas.openxmlformats.org/drawingml/2006/main"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sz="118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離手後初段球路估計起飛角</a:t>
            </a:r>
            <a:endParaRPr sz="118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9024FBFC-93C0-445F-9080-C701AE15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23E5700F-840E-43D2-90ED-D75C9EE5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事件政策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017150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FF500A-42CB-4754-8377-1583A12D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7f190383041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4041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4157420-7F41-4339-8407-11FED108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912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100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核心概念</a:t>
            </a:r>
            <a:endParaRPr sz="11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4E74568-C765-4A9A-A0FD-7B69BE95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3232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release frame 與 2D 起飛角怎麼來？</a:t>
            </a:r>
            <a:endParaRPr sz="24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D4D8BC9-C577-4309-BF90-69E6A4BE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521208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703D392-9837-487A-9458-D82EEA86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64208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判定順序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30E40F3-CDCA-42FA-8D5D-B707F5BF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56816"/>
            <a:ext cx="47548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1. 球先靠近出手側手腕</a:t>
            </a:r>
            <a:endParaRPr sz="1250"/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2. 球與手腕距離開始增加</a:t>
            </a:r>
            <a:endParaRPr sz="1250"/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3. 球同時向上移動</a:t>
            </a:r>
            <a:endParaRPr sz="1250"/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4. 離手後數個位置擬合初段方向</a:t>
            </a:r>
            <a:endParaRPr sz="12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AC0B431-A045-47A0-945A-1942A67A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521208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起飛角是影像平面上的估計值。</a:t>
            </a:r>
            <a:endParaRPr sz="1350"/>
          </a:p>
          <a:p xmlns:a="http://schemas.openxmlformats.org/drawingml/2006/main"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1350"/>
          </a:p>
          <a:p xmlns:a="http://schemas.openxmlformats.org/drawingml/2006/main"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比較不同次出手時，要固定相機位置、畫面比例與拍攝方向；它不等同真實世界的 3D 角度。</a:t>
            </a:r>
            <a:endParaRPr sz="13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FCDD06C-1C61-410B-BBC9-7C99F888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D03E97A-B096-498F-BF7C-F6F923F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Release 與角度</a:t>
            </a:r>
            <a:endParaRPr sz="900"/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5d03f1d7e4c00"/>
          <a:stretch xmlns:a="http://schemas.openxmlformats.org/drawingml/2006/main"/>
        </p:blipFill>
        <p:spPr>
          <a:xfrm xmlns:a="http://schemas.openxmlformats.org/drawingml/2006/main">
            <a:off x="6191250" y="2223625"/>
            <a:ext cx="5219700" cy="3191800"/>
          </a:xfrm>
          <a:prstGeom xmlns:a="http://schemas.openxmlformats.org/drawingml/2006/main" prst="roundRect">
            <a:avLst>
              <a:gd name="adj" fmla="val 1762"/>
            </a:avLst>
          </a:prstGeom>
        </p:spPr>
      </p:pic>
    </p:spTree>
    <p:extLst>
      <p:ext uri="{BB962C8B-B14F-4D97-AF65-F5344CB8AC3E}">
        <p14:creationId xmlns:p14="http://schemas.microsoft.com/office/powerpoint/2010/main" val="2131746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D514F5-5AF0-45DF-ACBA-768709FA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80a3cbf3a4e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4041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50BABCC-0D41-4E78-9BB7-049F0A2E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範例影片的事件結果</a:t>
            </a:r>
            <a:endParaRPr sz="3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4BE471C-9CBE-4220-A83B-5A5929B4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11094415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88243E4-4CA4-4781-8E16-5B37C3B7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d9cb52b1f40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676" y="1568196"/>
            <a:ext cx="338328" cy="338328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6380528-603D-4690-9166-8911DDDC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4173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讀數字前先做什麼？</a:t>
            </a:r>
            <a:endParaRPr sz="12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6E9B298-CA12-4608-B61C-6779BA4E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691640"/>
            <a:ext cx="99971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先確認事件數量、人物骨架、事件球與 release 畫面都合理，再解讀角度。</a:t>
            </a:r>
            <a:endParaRPr sz="135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4E1642C-2820-47D4-933C-B18BA1A0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094415" cy="1182624"/>
          </a:xfrm>
          <a:prstGeom xmlns:a="http://schemas.openxmlformats.org/drawingml/2006/main" prst="roundRect">
            <a:avLst>
              <a:gd name="adj" fmla="val 7732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443066B-6A79-4D02-8913-673AB07D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5445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405577FE-C963-439D-88BE-1CEC3ED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54452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 sz="15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F672D63-4C0A-4FCB-90C0-1921C799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40"/>
            <a:ext cx="995141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Event 1｜frame 43–51，release 43</a:t>
            </a:r>
            <a:endParaRPr sz="145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432EDE9-68DC-489E-954D-B2A65F21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35224"/>
            <a:ext cx="9951415" cy="725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右手出手 · 2D 起飛角 47.74° · release 手肘角約 165.2°</a:t>
            </a:r>
            <a:endParaRPr sz="12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7CE8A7D-2DDC-4CAB-93AF-8DBCA211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3528"/>
            <a:ext cx="11094415" cy="1182624"/>
          </a:xfrm>
          <a:prstGeom xmlns:a="http://schemas.openxmlformats.org/drawingml/2006/main" prst="roundRect">
            <a:avLst>
              <a:gd name="adj" fmla="val 7732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C739662-EEDE-4344-8E68-8563F1B3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833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6869FB0-E907-4DB0-AB1D-5737D59C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8338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15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FA857EF-8D5E-4049-9804-866741C7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34968"/>
            <a:ext cx="995141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Event 2｜frame 147–168，release 149</a:t>
            </a:r>
            <a:endParaRPr sz="145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F876672D-8A04-4E8E-90FD-CECC99A0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264152"/>
            <a:ext cx="9951415" cy="725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右手出手 · 2D 起飛角 41.30° · release 手肘角約 151.0°</a:t>
            </a:r>
            <a:endParaRPr sz="12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79DDE153-1497-43CC-BB74-09DEB5D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72456"/>
            <a:ext cx="11094415" cy="1182624"/>
          </a:xfrm>
          <a:prstGeom xmlns:a="http://schemas.openxmlformats.org/drawingml/2006/main" prst="roundRect">
            <a:avLst>
              <a:gd name="adj" fmla="val 7732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9ABA8B02-9356-4599-B4D2-30845005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1230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8259962-3214-4F49-A3A7-E3B359D9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1230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15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2532415-A323-4ABE-8B61-FDCB6963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263896"/>
            <a:ext cx="995141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判讀規則｜視覺驗證通過才保留</a:t>
            </a:r>
            <a:endParaRPr sz="145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F4CCB2B-7317-4B3B-836E-C4AD8E7E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593080"/>
            <a:ext cx="9951415" cy="725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兩個事件都要在 release 前／當下／後三格與完整 overlay 中確認球路連續。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CA05212-C2B4-4DFA-A648-001E5706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61BCE60B-2C74-4A6A-8E1B-E61709EE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實際結果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823680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BFF500A-42CB-4754-8377-1583A12D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90019187f40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4041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4157420-7F41-4339-8407-11FED108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912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100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人工檢查</a:t>
            </a:r>
            <a:endParaRPr sz="11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4E74568-C765-4A9A-A0FD-7B69BE95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13232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用三格畫面確認 release 是否合理</a:t>
            </a:r>
            <a:endParaRPr sz="24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5D4D8BC9-C577-4309-BF90-69E6A4BE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08760"/>
            <a:ext cx="5212080" cy="196596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703D392-9837-487A-9458-D82EEA86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64208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每個 event 都看三個時刻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30E40F3-CDCA-42FA-8D5D-B707F5BF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56816"/>
            <a:ext cx="47548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左：release 前 2 frames，球仍靠近手</a:t>
            </a:r>
            <a:endParaRPr sz="1250"/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中：release 當下，標示 RELEASE</a:t>
            </a:r>
            <a:endParaRPr sz="1250"/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右：release 後 4 frames，球沿真實球路上升</a:t>
            </a:r>
            <a:endParaRPr sz="12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AC0B431-A045-47A0-945A-1942A67A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03320"/>
            <a:ext cx="521208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紅色 event ball 應從投籃手附近開始，綠色箭頭指向初段球路。</a:t>
            </a:r>
            <a:endParaRPr sz="1350"/>
          </a:p>
          <a:p xmlns:a="http://schemas.openxmlformats.org/drawingml/2006/main"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/>
            </a:r>
            <a:endParaRPr sz="1350"/>
          </a:p>
          <a:p xmlns:a="http://schemas.openxmlformats.org/drawingml/2006/main"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若紅點跳到另一顆球、籃框或背景，這筆角度先標記為不可信。</a:t>
            </a:r>
            <a:endParaRPr sz="13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CFCDD06C-1C61-410B-BBC9-7C99F888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D03E97A-B096-498F-BF7C-F6F923F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事件視覺驗證</a:t>
            </a:r>
            <a:endParaRPr sz="900"/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9dc9032774792"/>
          <a:stretch xmlns:a="http://schemas.openxmlformats.org/drawingml/2006/main"/>
        </p:blipFill>
        <p:spPr>
          <a:xfrm xmlns:a="http://schemas.openxmlformats.org/drawingml/2006/main">
            <a:off x="6191250" y="2840831"/>
            <a:ext cx="5219700" cy="1957388"/>
          </a:xfrm>
          <a:prstGeom xmlns:a="http://schemas.openxmlformats.org/drawingml/2006/main" prst="roundRect">
            <a:avLst>
              <a:gd name="adj" fmla="val 1762"/>
            </a:avLst>
          </a:prstGeom>
        </p:spPr>
      </p:pic>
    </p:spTree>
    <p:extLst>
      <p:ext uri="{BB962C8B-B14F-4D97-AF65-F5344CB8AC3E}">
        <p14:creationId xmlns:p14="http://schemas.microsoft.com/office/powerpoint/2010/main" val="21317462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CFC584-8C20-4339-83D8-18BD4B47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eaacc13e240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4041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FF6736E-626A-4065-A65D-F2D9A1FB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課堂檢查與除錯順序</a:t>
            </a:r>
            <a:endParaRPr sz="3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37386283-BCB8-49BD-980D-A2333397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11094415" cy="1076706"/>
          </a:xfrm>
          <a:prstGeom xmlns:a="http://schemas.openxmlformats.org/drawingml/2006/main" prst="roundRect">
            <a:avLst>
              <a:gd name="adj" fmla="val 8493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2ED210D-9D30-409C-9815-DE268C21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0809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</p:spPr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b871f0c244b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446" y="1950735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419B2AD-C597-4F83-8CC3-166B17B5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627632"/>
            <a:ext cx="10088575" cy="9304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① 三份 notebook 的 using video 必須完全相同，frame 範圍也要一致。</a:t>
            </a:r>
            <a:endParaRPr sz="13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39577F9E-819A-4DE4-9E8C-5DD1B22E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95778"/>
            <a:ext cx="11094415" cy="1076706"/>
          </a:xfrm>
          <a:prstGeom xmlns:a="http://schemas.openxmlformats.org/drawingml/2006/main" prst="roundRect">
            <a:avLst>
              <a:gd name="adj" fmla="val 8493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E79D1E-41EF-474D-ABE8-6BDD70D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42107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</p:spPr>
      </p:sp>
      <p:pic>
        <p:nvPicPr>
          <p:cNvPr id="3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026e3745f42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446" y="3192033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2FB4A3EC-E266-457A-A5DC-491029D3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68930"/>
            <a:ext cx="10088575" cy="9304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② 先查單幀球框，再查人物身分，再查事件球，最後才查 release 與角度。</a:t>
            </a:r>
            <a:endParaRPr sz="1300"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41799A73-0891-4270-ABC4-512AD336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7076"/>
            <a:ext cx="11094415" cy="1076706"/>
          </a:xfrm>
          <a:prstGeom xmlns:a="http://schemas.openxmlformats.org/drawingml/2006/main" prst="roundRect">
            <a:avLst>
              <a:gd name="adj" fmla="val 8493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3FF2B502-CDDB-4782-AE5D-483A2A37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83405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</p:spPr>
      </p:sp>
      <p:pic>
        <p:nvPicPr>
          <p:cNvPr id="4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c771bea524a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446" y="4433331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2F55A63A-9967-4CED-8106-3740F57A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110228"/>
            <a:ext cx="10088575" cy="9304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③ 低 confidence 只是保留候選；候選還要通過手腕距離與軌跡連續性。</a:t>
            </a:r>
            <a:endParaRPr sz="130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CBCA3B1F-AE39-496F-BA51-CB8748F7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278374"/>
            <a:ext cx="11094415" cy="1076706"/>
          </a:xfrm>
          <a:prstGeom xmlns:a="http://schemas.openxmlformats.org/drawingml/2006/main" prst="roundRect">
            <a:avLst>
              <a:gd name="adj" fmla="val 8493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28FE348C-09F7-418B-8047-CE0C48CF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2470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65A"/>
          </a:solidFill>
        </p:spPr>
      </p:sp>
      <p:pic>
        <p:nvPicPr>
          <p:cNvPr id="4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4487e8a4448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446" y="5674629"/>
            <a:ext cx="284196" cy="284196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2A723D53-FB6E-49E0-B762-230BB027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351526"/>
            <a:ext cx="10088575" cy="93040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④ 2D 角度只在固定機位下做相對比較；遮擋、模糊與透視都會影響結果。</a:t>
            </a:r>
            <a:endParaRPr sz="1300"/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99B6A65F-0525-474B-B03F-8E059FA7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69F61A03-EF93-4A69-AC76-A3679EEE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除錯順序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125254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D514F5-5AF0-45DF-ACBA-768709FA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e68a57b6e944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1850" y="540410"/>
            <a:ext cx="473659" cy="473659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50BABCC-0D41-4E78-9BB7-049F0A2E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上課執行順序與 Google Drive 產出</a:t>
            </a:r>
            <a:endParaRPr sz="3000"/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24BE471C-9CBE-4220-A83B-5A5929B4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11094415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088243E4-4CA4-4781-8E16-5B37C3B7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0876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</p:spPr>
      </p:sp>
      <p:pic>
        <p:nvPicPr>
          <p:cNvPr id="3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c81bca91f4e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676" y="1568196"/>
            <a:ext cx="338328" cy="338328"/>
          </a:xfrm>
          <a:prstGeom xmlns:a="http://schemas.openxmlformats.org/drawingml/2006/main" prst="rect">
            <a:avLst/>
          </a:prstGeom>
        </p:spPr>
      </p:pic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6380528-603D-4690-9166-8911DDDC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4173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E8622D"/>
                </a:solidFill>
                <a:latin typeface="Microsoft JhengHei"/>
                <a:ea typeface="Microsoft JhengHei"/>
                <a:cs typeface="Microsoft JhengHei"/>
              </a:rPr>
              <a:t>所有 notebook 開始前</a:t>
            </a:r>
            <a:endParaRPr sz="12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6E9B298-CA12-4608-B61C-6779BA4E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691640"/>
            <a:ext cx="999713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50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先把硬體加速器設為 T4 GPU（不要選 TPU），再執行 init_colab.ipynb；確認模型完整、results 位於 Google Drive。</a:t>
            </a:r>
            <a:endParaRPr sz="135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4E1642C-2820-47D4-933C-B18BA1A0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1094415" cy="1182624"/>
          </a:xfrm>
          <a:prstGeom xmlns:a="http://schemas.openxmlformats.org/drawingml/2006/main" prst="roundRect">
            <a:avLst>
              <a:gd name="adj" fmla="val 7732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443066B-6A79-4D02-8913-673AB07D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5445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405577FE-C963-439D-88BE-1CEC3ED8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54452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 sz="15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F672D63-4C0A-4FCB-90C0-1921C799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606040"/>
            <a:ext cx="995141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① Day 4-01｜影片、球偵測與追蹤</a:t>
            </a:r>
            <a:endParaRPr sz="145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432EDE9-68DC-489E-954D-B2A65F21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935224"/>
            <a:ext cx="9951415" cy="725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確認 using video、5 張球框與 ByteTrack 預覽；結果寫入 assets/results/。</a:t>
            </a:r>
            <a:endParaRPr sz="12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7CE8A7D-2DDC-4CAB-93AF-8DBCA211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3528"/>
            <a:ext cx="11094415" cy="1182624"/>
          </a:xfrm>
          <a:prstGeom xmlns:a="http://schemas.openxmlformats.org/drawingml/2006/main" prst="roundRect">
            <a:avLst>
              <a:gd name="adj" fmla="val 7732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C739662-EEDE-4344-8E68-8563F1B3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833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6869FB0-E907-4DB0-AB1D-5737D59C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83380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15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FA857EF-8D5E-4049-9804-866741C7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3934968"/>
            <a:ext cx="995141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② Day 4-02｜投籃者骨架與角度</a:t>
            </a:r>
            <a:endParaRPr sz="145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F876672D-8A04-4E8E-90FD-CECC99A0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264152"/>
            <a:ext cx="9951415" cy="725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輸出 pose CSV、角度曲線與 overlay；先確認骨架身分再繼續。</a:t>
            </a:r>
            <a:endParaRPr sz="12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79DDE153-1497-43CC-BB74-09DEB5D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72456"/>
            <a:ext cx="11094415" cy="1182624"/>
          </a:xfrm>
          <a:prstGeom xmlns:a="http://schemas.openxmlformats.org/drawingml/2006/main" prst="roundRect">
            <a:avLst>
              <a:gd name="adj" fmla="val 7732"/>
            </a:avLst>
          </a:prstGeom>
          <a:solidFill xmlns:a="http://schemas.openxmlformats.org/drawingml/2006/main">
            <a:srgbClr val="F2F4F8"/>
          </a:solidFill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9ABA8B02-9356-4599-B4D2-30845005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1230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C8259962-3214-4F49-A3A7-E3B359D9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12308"/>
            <a:ext cx="502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15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52532415-A323-4ABE-8B61-FDCB6963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263896"/>
            <a:ext cx="995141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③ Day 4-03｜事件、release 與起飛角</a:t>
            </a:r>
            <a:endParaRPr sz="145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F4CCB2B-7317-4B3B-836E-C4AD8E7E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593080"/>
            <a:ext cx="9951415" cy="7254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2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輸出事件表、事件球軌跡、檢查圖與 overlay；完成視覺驗證後再解讀。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CA05212-C2B4-4DFA-A648-001E5706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51052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DAY 4  ·  Python 籃球運動資料分析課程</a:t>
            </a:r>
            <a:endParaRPr sz="9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61BCE60B-2C74-4A6A-8E1B-E61709EE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055" y="651052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上課順序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823680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C25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CAAC5D-03B8-4D0E-9DBB-6E648B4C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219456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622D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259837B-FD18-4A86-BE1D-E9DAC283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0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1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DAY 4 模型整理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B54804-CB3B-46F6-AC68-7E357C7E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110642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三個模型都放在 assets/models/；專題可以依需求單獨載入，也可以串成完整投籃分析流程。</a:t>
            </a:r>
            <a:endParaRPr sz="21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2C60594-1604-48CD-AEF5-833208FF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11064240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B3A67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BDE5C67-B554-4011-8008-9009D852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27832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2A65A"/>
                </a:solidFill>
                <a:latin typeface="Microsoft JhengHei"/>
                <a:ea typeface="Microsoft JhengHei"/>
                <a:cs typeface="Microsoft JhengHei"/>
              </a:rPr>
              <a:t>模型位置與用途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B3C61E1-7C13-4C73-B9AF-0C0766EC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66160"/>
            <a:ext cx="104241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detectors/ball_rimV8.pt｜球與籃框</a:t>
            </a:r>
            <a:endParaRPr sz="140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detectors/shot_detection.pt｜投籃候選與人物框</a:t>
            </a:r>
            <a:endParaRPr sz="1400"/>
          </a:p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pose/yolov8n-pose.pt｜17 個人體 keypoints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020269D-0C25-483E-A0B9-BA1296B8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" y="5266944"/>
            <a:ext cx="10161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A67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20096C6-A316-4899-B9C5-D0926733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6"/>
          </a:solidFill>
          <a:ln xmlns:a="http://schemas.openxmlformats.org/drawingml/2006/main" w="15875">
            <a:solidFill>
              <a:srgbClr val="CBD5E6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15D854A-967E-4C8A-BF30-F309EB17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B766EBA-EE6D-408B-9850-887DAB02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55321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球／籃框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B2082EF-0275-4ADD-BC9F-5C32A34D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392" y="5074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6"/>
          </a:solidFill>
          <a:ln xmlns:a="http://schemas.openxmlformats.org/drawingml/2006/main" w="15875">
            <a:solidFill>
              <a:srgbClr val="CBD5E6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55BE007-9B12-4CAD-A64D-9A96CB36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392" y="5074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96BB9D-1DEA-4573-B035-D27F1253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616" y="55321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投籃候選</a:t>
            </a:r>
            <a:endParaRPr sz="9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09884BA-0E4C-4EA1-AD8F-25909DB8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824" y="5074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D5E6"/>
          </a:solidFill>
          <a:ln xmlns:a="http://schemas.openxmlformats.org/drawingml/2006/main" w="15875">
            <a:solidFill>
              <a:srgbClr val="CBD5E6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6F2CDA1-CBD6-40E8-B6CA-71086CC6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824" y="5074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C2541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019CFE7-270B-4333-B496-2136A630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48" y="55321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人體骨架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726C7FE-C154-426E-B4D5-70FB9B9B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255" y="5074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22D"/>
          </a:solidFill>
          <a:ln xmlns:a="http://schemas.openxmlformats.org/drawingml/2006/main" w="15875">
            <a:solidFill>
              <a:srgbClr val="E8622D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0624DDD-DBEA-439F-A654-939582A2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4255" y="5074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2653D92-234D-4086-A503-A0277A78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479" y="55321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事件分析</a:t>
            </a:r>
            <a:endParaRPr sz="9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089EFE-1E32-4BA0-AE75-7EAC02FA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687" y="50749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2541"/>
          </a:solidFill>
          <a:ln xmlns:a="http://schemas.openxmlformats.org/drawingml/2006/main" w="15875">
            <a:solidFill>
              <a:srgbClr val="CBD5E6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8FEBE5-9A32-403F-89D3-47811C22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687" y="50749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A64A77E-5910-4BA5-8CDE-24469C5C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911" y="55321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CBD5E6"/>
                </a:solidFill>
                <a:latin typeface="Microsoft JhengHei"/>
                <a:ea typeface="Microsoft JhengHei"/>
                <a:cs typeface="Microsoft JhengHei"/>
              </a:rPr>
              <a:t>專題延伸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198BFCE-E540-4C81-AAD0-54E1853D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B6B8C"/>
                </a:solidFill>
                <a:latin typeface="Microsoft JhengHei"/>
                <a:ea typeface="Microsoft JhengHei"/>
                <a:cs typeface="Microsoft JhengHei"/>
              </a:rPr>
              <a:t>Python 籃球運動資料分析課程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6874864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2026-09-02T22:30:46.4730000Z</dcterms:created>
  <dcterms:modified xsi:type="dcterms:W3CDTF">2026-09-02T22:30:46.4730000Z</dcterms:modified>
</coreProperties>
</file>