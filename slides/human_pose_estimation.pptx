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charts/chart1.xml" ContentType="application/vnd.openxmlformats-officedocument.drawingml.chart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FF6B4A"/>
            </a:solidFill>
            <a:ln>
              <a:noFill/>
            </a:ln>
            <a:effectLst/>
          </c:spPr>
          <c:marker>
            <c:symbol val="circle"/>
            <c:size val="6"/>
            <c:spPr>
              <a:solidFill>
                <a:srgbClr val="FF6B4A"/>
              </a:solidFill>
              <a:ln w="9525" cap="flat">
                <a:solidFill>
                  <a:srgbClr val="FF6B4A"/>
                </a:solidFill>
                <a:prstDash val="solid"/>
                <a:round/>
              </a:ln>
              <a:effectLst/>
            </c:spPr>
          </c:marker>
          <c:xVal>
            <c:numRef>
              <c:f>Sheet1!$A$2:$A$5</c:f>
              <c:numCache>
                <c:formatCode>General</c:formatCode>
                <c:ptCount val="4"/>
                <c:pt idx="0">
                  <c:v>60</c:v>
                </c:pt>
                <c:pt idx="1">
                  <c:v>15</c:v>
                </c:pt>
                <c:pt idx="2">
                  <c:v>8</c:v>
                </c:pt>
                <c:pt idx="3">
                  <c:v>6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72</c:v>
                </c:pt>
                <c:pt idx="1">
                  <c:v>79</c:v>
                </c:pt>
                <c:pt idx="2">
                  <c:v>90</c:v>
                </c:pt>
                <c:pt idx="3">
                  <c:v>93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70"/>
          <c:min val="0"/>
        </c:scaling>
        <c:delete val="0"/>
        <c:axPos val="b"/>
        <c:majorGridlines>
          <c:spPr>
            <a:ln w="12700" cap="flat">
              <a:solidFill>
                <a:srgbClr val="CFE3E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000000"/>
                    </a:solidFill>
                    <a:latin typeface="Arial"/>
                  </a:rPr>
                  <a:t>速度 FPS (越右越快)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100"/>
          <c:min val="65"/>
        </c:scaling>
        <c:delete val="0"/>
        <c:axPos val="l"/>
        <c:majorGridlines>
          <c:spPr>
            <a:ln w="12700" cap="flat">
              <a:solidFill>
                <a:srgbClr val="CFE3E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000000"/>
                    </a:solidFill>
                    <a:latin typeface="Arial"/>
                  </a:rPr>
                  <a:t>精度 (越上越準)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開場:今天分兩部分。前半約45分鐘講觀念,從「什麼是姿態估計」到主流方法比較;後半帶大家用 MediaPipe 動手做即時姿態偵測。不需要深厚數學背景,重點放在直覺。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快速過一遍今天九個段落。可請學生舉手:有沒有人用過手機的體感遊戲、健身 App 或濾鏡? 那些背後很多都用到姿態估計。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強調:輸出不是「這是一張人的照片」(那是分類),而是一組座標點。把抽象問題具象成「找點+連線」。可對比人臉辨識(找的是身分)vs 姿態估計(找的是姿勢)。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初學者常誤以為模型「自己知道」怎麼連骨架。要澄清:(1)關節的數量與定義是資料集規格(COCO 17 點是最通用的),換資料集點數就不同;(2)骨架的連線(skeleton)也是預先定義的一張表;(3)左右手是不同類別,模型必須學會區分——這也是為什麼側面、交叉手腳時容易左右搞混。這頁幫後面理解 heatmap「每個關節一張圖」鋪路。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這頁幫學生建立「地圖」。今天主角是第二格。動作辨識常「接在」姿態估計後面(先抓骨架、再判斷動作)。3D 是進階版,今天以 2D 為主。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轉場。用問句帶學生思考:他們生活中哪裡看過?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每格花約20-30秒。可補例子:健身環、Snapchat 濾鏡、醫院跌倒警報、電影阿凡達的動捕。強調共通點:都需要「即時知道身體在哪、在做什麼」。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把「輸出是座標」講清楚是全場關鍵。信心分數(confidence)之後評估會用到。難點四項先埋伏筆,後面比較方法時會回來。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這是入門者最大的「隱形前提」。用放大鏡比喻:任何數位影像放到最大就是一格格像素,每格是 0-255 的亮度數字。灰階=一張表,彩色=紅綠藍三張表疊起來(3 個 channel)。所以一張圖 = 高×寬×3 的數字方塊(tensor),這正是入門篇問題定義說的 H×W×3。影片就是很多張這種方塊。強調:CNN 從頭到尾都在對這些數字做運算,沒有魔法。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實作階段最常見的 bug 來源。三個重點:(1)影像座標原點在左上、y 軸向下,和高中數學相反——自己畫點或算角度時容易上下顛倒;(2)座標有兩種表示:絕對像素 vs 正規化到 0~1;(3)MediaPipe 回傳的是正規化座標(0~1),要乘上影像寬高才變回像素。這頁直接對應後面 MediaPipe 實作,先講可省下大量除錯時間。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用生活比喻:Top-down 像先把每個人圈起來再各自畫骨架;Bottom-up 像把地上所有關節撿起來再配對成人。MediaPipe 走的是單人為主的高效路線。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把入門篇問題定義頁埋的「遮擋、多人、角度、動態模糊」伏筆完整展開,再加上深度歧義與罕見姿勢。這頁的用途是承先啟後:正因為有這些難點,後面才會有 heatmap(容忍不確定)、多階段修正、bottom-up 多人、3D 方法等。可請學生想想:哪些難點靠「更多資料」解、哪些要靠「更好的方法」解。深度歧義特別點出:這是 2D 先天的限制,也是為什麼有 3D pose estimation 這個獨立領域。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轉場。接著介紹最樸素的兩種做法,幫學生理解為什麼後來要用深度學習+熱圖。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直覺:要模型精準吐出「x=253, y=118」很難,一點點偏差 loss 就很大,而且沒有空間彈性。這帶出下一頁的熱圖思路。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這頁回答學生最常問的「為什麼一張圖能變成數字」。重點三句:(1)卷積層負責看懂內容、萃取特徵;(2)攤平把二維特徵變成一長串數字;(3)全連接層做線性組合,你要幾個輸出就設幾個神經元 —— 要 34 個座標就設 34 個。強調這跟預測股價、房價的回歸完全同構,差別只在輸出維度。也順帶說明:正因為要模型「一步到位」吐出精確座標很難(loss 對位置很敏感、沒有空間容錯),所以下一頁的熱圖才成為主流。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這是全場最重要的觀念之一。幾乎所有現代 2D 姿態模型(HRNet、OpenPose)骨子裡都在預測熱圖。把「回歸一個點」轉成「分類每個像素亮不亮」,問題就好學很多。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轉場到訓練流程。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回答學生「資料到底是什麼」。核心:一筆資料 = 圖片 + 標註。標註不只是座標,還有可見度(visible/occluded/out-of-frame)、人框、尺度。可見度是入門者常忽略的:被遮住的關節也要標位置,但訓練與評估時會分開處理(這也連到 OKS 公式裡的 v_i)。強調標註是人工做的、很貴,所以公開資料集(COCO 等)才珍貴,也是為什麼實務常用預訓練+微調。不放 JSON,用欄位說明即可。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跑第一份程式必踩的坑。四步:crop(裁出人)、resize(統一尺寸)、normalize(把像素值縮到 0~1 或標準化)、augment(資料增強)。兩個「為什麼」要講清楚:統一大小是因為 CNN 輸入通常固定、且方便批次運算;資料增強是用免費的方式擴充資料、防止過擬合。提醒一個常見坑:做左右翻轉增強時,左右關節的標籤也要跟著對調(左手↔右手),否則答案就錯了——呼應前面骨架拓樸頁講的左右之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強調步驟2「標註」是最花錢花時間的部分,也是為什麼公開資料集這麼珍貴(後面會講)。步驟3把離散座標變成連續熱圖是關鍵技巧。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遷移學習是連接理論與實作的橋樑。學生不必自己訓大模型,而是站在巨人肩膀上微調。點出後面 MediaPipe 環節就是這個概念的實踐。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轉場。承諾「盡量少數學」,這段用直覺解釋指標。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PCK 最好懂,先講。OKS/mAP 只需知道「論文排名用的、越高越好」即可,不深入公式。FPS 帶出速度-精度取捨,呼應下一段方法比較。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這頁給想看公式的學生。講解節奏:PCK 逐項念(距離、門檻、平均),最好懂,一定要講。OKS 只需點出「用高斯把誤差變相似度、越準越接近1」與「只算看得見的關節」,不必推導 s 和 k_i 的來源。mAP 說明是「多個門檻的 AP 平均」,呼應物件偵測若學生學過。符號表:p̂=預測點、p=真值、d=距離、α=比例係數、v=可見度。若時間緊,可只講 PCK 公式,OKS/mAP 帶過。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數字為示意,用來傳達趨勢而非精確 benchmark。重點是右上角難達成,實務要依場景取捨。MediaPipe 在右下、犧牲一點精度換來手機即時。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轉場。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不用背細節。給學生一個「光譜」:從最準(ViTPose)到最實用即時(MediaPipe)。研究看精度,產品看速度與部署難度。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轉場。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重點三個:COCO(最該記)、MPII、Human3.6M(3D)。最後一格「自建資料」是伏筆:很多實際專案是先用公開模型,再用自己標的小資料微調。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進入下半場實作。這裡開始節奏放慢,確保每個人環境都跑得起來。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強調「免訓練、開箱即用」對入門者的意義:今天不用 GPU、不用標資料,就能做出即時姿態偵測。33 點含手腳,做健身/手勢很方便。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逐行講解。最容易踩的坑:忘了 BGR→RGB,結果偵測很差。static_image_mode=True 用於單張圖;影片要設 False。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這是實作環節主程式。實機示範前先確認攝影機權限。可請學生站起來揮手,看骨架即時跟隨,通常這裡會有驚呼。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這頁是「客製化」的靈魂:重點不是重訓模型,而是善用輸出的座標寫規則邏輯。角度計算的例子最實用,健身 App 幾乎都這樣做。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給行有餘力的學生一個進階地圖。Model Maker 是最能連回「訓練/遷移學習」的點:當內建 33 點不夠、要辨識特定手勢時,就用自己的資料微調一個小分類器。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宣布實作規則:分組、時間、遇到問題舉手。先確認全班都裝好套件再開始。目標讓每個人都跑出即時骨架,行有餘力再做計次器。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五句話帶走。可請學生用自己的話複述「熱圖為什麼比較好學」當作快速檢核。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收尾。留時間問答,再自然過渡到實作環節(第28頁的四步驟)。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image" Target="../media/image-1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image" Target="../media/image-3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image" Target="../media/image-37-4.png"/><Relationship Id="rId5" Type="http://schemas.openxmlformats.org/officeDocument/2006/relationships/image" Target="../media/image-3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67544" y="1563624"/>
            <a:ext cx="0" cy="822960"/>
          </a:xfrm>
          <a:prstGeom prst="line">
            <a:avLst/>
          </a:prstGeom>
          <a:noFill/>
          <a:ln w="31750">
            <a:solidFill>
              <a:srgbClr val="3AAFA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67544" y="2386584"/>
            <a:ext cx="-640080" cy="548640"/>
          </a:xfrm>
          <a:prstGeom prst="line">
            <a:avLst/>
          </a:prstGeom>
          <a:noFill/>
          <a:ln w="31750">
            <a:solidFill>
              <a:srgbClr val="3AAFA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67544" y="2386584"/>
            <a:ext cx="640080" cy="548640"/>
          </a:xfrm>
          <a:prstGeom prst="line">
            <a:avLst/>
          </a:prstGeom>
          <a:noFill/>
          <a:ln w="31750">
            <a:solidFill>
              <a:srgbClr val="3AAFA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67544" y="2386584"/>
            <a:ext cx="0" cy="1280160"/>
          </a:xfrm>
          <a:prstGeom prst="line">
            <a:avLst/>
          </a:prstGeom>
          <a:noFill/>
          <a:ln w="31750">
            <a:solidFill>
              <a:srgbClr val="3AAFA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67544" y="3666744"/>
            <a:ext cx="-640080" cy="822960"/>
          </a:xfrm>
          <a:prstGeom prst="line">
            <a:avLst/>
          </a:prstGeom>
          <a:noFill/>
          <a:ln w="31750">
            <a:solidFill>
              <a:srgbClr val="3AAFA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67544" y="3666744"/>
            <a:ext cx="640080" cy="822960"/>
          </a:xfrm>
          <a:prstGeom prst="line">
            <a:avLst/>
          </a:prstGeom>
          <a:noFill/>
          <a:ln w="31750">
            <a:solidFill>
              <a:srgbClr val="3AAFA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27464" y="4489704"/>
            <a:ext cx="320040" cy="731520"/>
          </a:xfrm>
          <a:prstGeom prst="line">
            <a:avLst/>
          </a:prstGeom>
          <a:noFill/>
          <a:ln w="31750">
            <a:solidFill>
              <a:srgbClr val="3AAFA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707624" y="4489704"/>
            <a:ext cx="-320040" cy="731520"/>
          </a:xfrm>
          <a:prstGeom prst="line">
            <a:avLst/>
          </a:prstGeom>
          <a:noFill/>
          <a:ln w="31750">
            <a:solidFill>
              <a:srgbClr val="3AAFA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66960" y="1463040"/>
            <a:ext cx="201168" cy="201168"/>
          </a:xfrm>
          <a:prstGeom prst="ellipse">
            <a:avLst/>
          </a:prstGeom>
          <a:solidFill>
            <a:srgbClr val="F5B841"/>
          </a:solidFill>
          <a:ln/>
        </p:spPr>
      </p:sp>
      <p:sp>
        <p:nvSpPr>
          <p:cNvPr id="11" name="Shape 9"/>
          <p:cNvSpPr/>
          <p:nvPr/>
        </p:nvSpPr>
        <p:spPr>
          <a:xfrm>
            <a:off x="9966960" y="2286000"/>
            <a:ext cx="201168" cy="20116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2" name="Shape 10"/>
          <p:cNvSpPr/>
          <p:nvPr/>
        </p:nvSpPr>
        <p:spPr>
          <a:xfrm>
            <a:off x="9326880" y="2834640"/>
            <a:ext cx="201168" cy="20116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3" name="Shape 11"/>
          <p:cNvSpPr/>
          <p:nvPr/>
        </p:nvSpPr>
        <p:spPr>
          <a:xfrm>
            <a:off x="10607040" y="2834640"/>
            <a:ext cx="201168" cy="20116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4" name="Shape 12"/>
          <p:cNvSpPr/>
          <p:nvPr/>
        </p:nvSpPr>
        <p:spPr>
          <a:xfrm>
            <a:off x="9966960" y="3566160"/>
            <a:ext cx="201168" cy="20116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5" name="Shape 13"/>
          <p:cNvSpPr/>
          <p:nvPr/>
        </p:nvSpPr>
        <p:spPr>
          <a:xfrm>
            <a:off x="9326880" y="4389120"/>
            <a:ext cx="201168" cy="20116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6" name="Shape 14"/>
          <p:cNvSpPr/>
          <p:nvPr/>
        </p:nvSpPr>
        <p:spPr>
          <a:xfrm>
            <a:off x="10607040" y="4389120"/>
            <a:ext cx="201168" cy="20116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7" name="Shape 15"/>
          <p:cNvSpPr/>
          <p:nvPr/>
        </p:nvSpPr>
        <p:spPr>
          <a:xfrm>
            <a:off x="9646920" y="5120640"/>
            <a:ext cx="201168" cy="20116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8" name="Shape 16"/>
          <p:cNvSpPr/>
          <p:nvPr/>
        </p:nvSpPr>
        <p:spPr>
          <a:xfrm>
            <a:off x="10287000" y="5120640"/>
            <a:ext cx="201168" cy="20116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1520" y="196596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人體姿態估計</a:t>
            </a:r>
            <a:endParaRPr lang="en-US" sz="5200" dirty="0"/>
          </a:p>
        </p:txBody>
      </p:sp>
      <p:sp>
        <p:nvSpPr>
          <p:cNvPr id="20" name="Text 18"/>
          <p:cNvSpPr txBox="1"/>
          <p:nvPr/>
        </p:nvSpPr>
        <p:spPr>
          <a:xfrm>
            <a:off x="749808" y="288036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Pose Estimation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749808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E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從影像中「讀懂」人的動作 — 概念、方法與 MediaPipe 實作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77240" y="4343400"/>
            <a:ext cx="2011680" cy="0"/>
          </a:xfrm>
          <a:prstGeom prst="line">
            <a:avLst/>
          </a:prstGeom>
          <a:noFill/>
          <a:ln w="38100">
            <a:solidFill>
              <a:srgbClr val="FF6B4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9808" y="4526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C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大學部入門講座 · 約 60 分鐘 · 含實作環節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E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8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今天的路線圖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290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084832"/>
            <a:ext cx="713232" cy="713232"/>
          </a:xfrm>
          <a:prstGeom prst="ellipse">
            <a:avLst/>
          </a:prstGeom>
          <a:solidFill>
            <a:srgbClr val="0B3D4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688" y="2270272"/>
            <a:ext cx="342351" cy="34235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2029968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691640" y="228600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什麼是 Human Pose Estimation?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89120" y="1828800"/>
            <a:ext cx="34290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0288" y="2084832"/>
            <a:ext cx="713232" cy="713232"/>
          </a:xfrm>
          <a:prstGeom prst="ellipse">
            <a:avLst/>
          </a:prstGeom>
          <a:solidFill>
            <a:srgbClr val="13849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5728" y="2270272"/>
            <a:ext cx="342351" cy="34235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40680" y="2029968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5440680" y="228600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應用場景:它能做什麼?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138160" y="1828800"/>
            <a:ext cx="34290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39328" y="2084832"/>
            <a:ext cx="713232" cy="713232"/>
          </a:xfrm>
          <a:prstGeom prst="ellipse">
            <a:avLst/>
          </a:prstGeom>
          <a:solidFill>
            <a:srgbClr val="0B3D4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4768" y="2270272"/>
            <a:ext cx="342351" cy="34235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189720" y="2029968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9189720" y="228600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問題定義:輸入與輸出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40080" y="3383280"/>
            <a:ext cx="34290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41248" y="3639312"/>
            <a:ext cx="713232" cy="713232"/>
          </a:xfrm>
          <a:prstGeom prst="ellipse">
            <a:avLst/>
          </a:prstGeom>
          <a:solidFill>
            <a:srgbClr val="13849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688" y="3824752"/>
            <a:ext cx="342351" cy="342351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691640" y="3584448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00" dirty="0"/>
          </a:p>
        </p:txBody>
      </p:sp>
      <p:sp>
        <p:nvSpPr>
          <p:cNvPr id="23" name="Text 17"/>
          <p:cNvSpPr txBox="1"/>
          <p:nvPr/>
        </p:nvSpPr>
        <p:spPr>
          <a:xfrm>
            <a:off x="1691640" y="384048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最簡單的解法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4389120" y="3383280"/>
            <a:ext cx="34290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90288" y="3639312"/>
            <a:ext cx="713232" cy="713232"/>
          </a:xfrm>
          <a:prstGeom prst="ellipse">
            <a:avLst/>
          </a:prstGeom>
          <a:solidFill>
            <a:srgbClr val="0B3D4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5728" y="3824752"/>
            <a:ext cx="342351" cy="342351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440680" y="3584448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100" dirty="0"/>
          </a:p>
        </p:txBody>
      </p:sp>
      <p:sp>
        <p:nvSpPr>
          <p:cNvPr id="28" name="Text 21"/>
          <p:cNvSpPr txBox="1"/>
          <p:nvPr/>
        </p:nvSpPr>
        <p:spPr>
          <a:xfrm>
            <a:off x="5440680" y="384048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如何訓練一個模型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8138160" y="3383280"/>
            <a:ext cx="34290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39328" y="3639312"/>
            <a:ext cx="713232" cy="713232"/>
          </a:xfrm>
          <a:prstGeom prst="ellipse">
            <a:avLst/>
          </a:prstGeom>
          <a:solidFill>
            <a:srgbClr val="138496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4768" y="3824752"/>
            <a:ext cx="342351" cy="342351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189720" y="3584448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100" dirty="0"/>
          </a:p>
        </p:txBody>
      </p:sp>
      <p:sp>
        <p:nvSpPr>
          <p:cNvPr id="33" name="Text 25"/>
          <p:cNvSpPr txBox="1"/>
          <p:nvPr/>
        </p:nvSpPr>
        <p:spPr>
          <a:xfrm>
            <a:off x="9189720" y="384048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如何評估好壞</a:t>
            </a:r>
            <a:endParaRPr lang="en-US" sz="1300" dirty="0"/>
          </a:p>
        </p:txBody>
      </p:sp>
      <p:sp>
        <p:nvSpPr>
          <p:cNvPr id="34" name="Shape 26"/>
          <p:cNvSpPr/>
          <p:nvPr/>
        </p:nvSpPr>
        <p:spPr>
          <a:xfrm>
            <a:off x="640080" y="4937760"/>
            <a:ext cx="34290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841248" y="5193792"/>
            <a:ext cx="713232" cy="713232"/>
          </a:xfrm>
          <a:prstGeom prst="ellipse">
            <a:avLst/>
          </a:prstGeom>
          <a:solidFill>
            <a:srgbClr val="0B3D4A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6688" y="5379232"/>
            <a:ext cx="342351" cy="342351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1691640" y="5138928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100" dirty="0"/>
          </a:p>
        </p:txBody>
      </p:sp>
      <p:sp>
        <p:nvSpPr>
          <p:cNvPr id="38" name="Text 29"/>
          <p:cNvSpPr txBox="1"/>
          <p:nvPr/>
        </p:nvSpPr>
        <p:spPr>
          <a:xfrm>
            <a:off x="1691640" y="539496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主流方法比較</a:t>
            </a:r>
            <a:endParaRPr lang="en-US" sz="1300" dirty="0"/>
          </a:p>
        </p:txBody>
      </p:sp>
      <p:sp>
        <p:nvSpPr>
          <p:cNvPr id="39" name="Shape 30"/>
          <p:cNvSpPr/>
          <p:nvPr/>
        </p:nvSpPr>
        <p:spPr>
          <a:xfrm>
            <a:off x="4389120" y="4937760"/>
            <a:ext cx="34290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4590288" y="5193792"/>
            <a:ext cx="713232" cy="713232"/>
          </a:xfrm>
          <a:prstGeom prst="ellipse">
            <a:avLst/>
          </a:prstGeom>
          <a:solidFill>
            <a:srgbClr val="138496"/>
          </a:solidFill>
          <a:ln/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75728" y="5379232"/>
            <a:ext cx="342351" cy="342351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5440680" y="5138928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43" name="Text 33"/>
          <p:cNvSpPr txBox="1"/>
          <p:nvPr/>
        </p:nvSpPr>
        <p:spPr>
          <a:xfrm>
            <a:off x="5440680" y="539496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可用的資料集</a:t>
            </a:r>
            <a:endParaRPr lang="en-US" sz="1300" dirty="0"/>
          </a:p>
        </p:txBody>
      </p:sp>
      <p:sp>
        <p:nvSpPr>
          <p:cNvPr id="44" name="Shape 34"/>
          <p:cNvSpPr/>
          <p:nvPr/>
        </p:nvSpPr>
        <p:spPr>
          <a:xfrm>
            <a:off x="8138160" y="4937760"/>
            <a:ext cx="34290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45" name="Shape 35"/>
          <p:cNvSpPr/>
          <p:nvPr/>
        </p:nvSpPr>
        <p:spPr>
          <a:xfrm>
            <a:off x="8339328" y="5193792"/>
            <a:ext cx="713232" cy="713232"/>
          </a:xfrm>
          <a:prstGeom prst="ellipse">
            <a:avLst/>
          </a:prstGeom>
          <a:solidFill>
            <a:srgbClr val="0B3D4A"/>
          </a:solidFill>
          <a:ln/>
        </p:spPr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24768" y="5379232"/>
            <a:ext cx="342351" cy="342351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9189720" y="5138928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100" dirty="0"/>
          </a:p>
        </p:txBody>
      </p:sp>
      <p:sp>
        <p:nvSpPr>
          <p:cNvPr id="48" name="Text 37"/>
          <p:cNvSpPr txBox="1"/>
          <p:nvPr/>
        </p:nvSpPr>
        <p:spPr>
          <a:xfrm>
            <a:off x="9189720" y="539496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客製化 + 實作</a:t>
            </a:r>
            <a:endParaRPr lang="en-US" sz="1300" dirty="0"/>
          </a:p>
        </p:txBody>
      </p:sp>
      <p:sp>
        <p:nvSpPr>
          <p:cNvPr id="49" name="Text 38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8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WHAT IS 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什麼是 Human Pose Estimation?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一句話:</a:t>
            </a:r>
            <a:pPr indent="0" marL="0">
              <a:buNone/>
            </a:pPr>
            <a:r>
              <a:rPr lang="en-US" sz="1800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讓電腦從影像中找出人體「關鍵點」(keypoints),並拼出骨架。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5486400" cy="3566160"/>
          </a:xfrm>
          <a:prstGeom prst="roundRect">
            <a:avLst>
              <a:gd name="adj" fmla="val 2564"/>
            </a:avLst>
          </a:prstGeom>
          <a:solidFill>
            <a:srgbClr val="DEF2F1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005840" y="27432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它在回答的問題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05840" y="3337560"/>
            <a:ext cx="566928" cy="566928"/>
          </a:xfrm>
          <a:prstGeom prst="ellipse">
            <a:avLst/>
          </a:prstGeom>
          <a:solidFill>
            <a:srgbClr val="13849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3241" y="3484961"/>
            <a:ext cx="272125" cy="27212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737360" y="33192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「人在哪裡?」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737360" y="363931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先找到畫面中的人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1005840" y="4206240"/>
            <a:ext cx="566928" cy="566928"/>
          </a:xfrm>
          <a:prstGeom prst="ellipse">
            <a:avLst/>
          </a:prstGeom>
          <a:solidFill>
            <a:srgbClr val="13849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241" y="4353641"/>
            <a:ext cx="272125" cy="27212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737360" y="418795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「關節在哪?」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1737360" y="450799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定位鼻子、肩膀、手肘、膝蓋…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1005840" y="5074920"/>
            <a:ext cx="566928" cy="566928"/>
          </a:xfrm>
          <a:prstGeom prst="ellipse">
            <a:avLst/>
          </a:prstGeom>
          <a:solidFill>
            <a:srgbClr val="13849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3241" y="5222321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737360" y="505663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「姿勢是什麼?」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1737360" y="537667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把點連成骨架 → 站/坐/跑/揮手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492240" y="2468880"/>
            <a:ext cx="5029200" cy="3566160"/>
          </a:xfrm>
          <a:prstGeom prst="roundRect">
            <a:avLst>
              <a:gd name="adj" fmla="val 2564"/>
            </a:avLst>
          </a:prstGeom>
          <a:solidFill>
            <a:srgbClr val="0B3D4A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20" name="Text 15"/>
          <p:cNvSpPr txBox="1"/>
          <p:nvPr/>
        </p:nvSpPr>
        <p:spPr>
          <a:xfrm>
            <a:off x="6766560" y="269748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關鍵點 → 骨架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9006840" y="3337560"/>
            <a:ext cx="0" cy="432511"/>
          </a:xfrm>
          <a:prstGeom prst="line">
            <a:avLst/>
          </a:prstGeom>
          <a:noFill/>
          <a:ln w="31750">
            <a:solidFill>
              <a:srgbClr val="3AAFA9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9006840" y="3770071"/>
            <a:ext cx="-668426" cy="78638"/>
          </a:xfrm>
          <a:prstGeom prst="line">
            <a:avLst/>
          </a:prstGeom>
          <a:noFill/>
          <a:ln w="31750">
            <a:solidFill>
              <a:srgbClr val="3AAFA9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9006840" y="3770071"/>
            <a:ext cx="668426" cy="78638"/>
          </a:xfrm>
          <a:prstGeom prst="line">
            <a:avLst/>
          </a:prstGeom>
          <a:noFill/>
          <a:ln w="31750">
            <a:solidFill>
              <a:srgbClr val="3AAFA9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8338414" y="3848710"/>
            <a:ext cx="-235915" cy="550469"/>
          </a:xfrm>
          <a:prstGeom prst="line">
            <a:avLst/>
          </a:prstGeom>
          <a:noFill/>
          <a:ln w="31750">
            <a:solidFill>
              <a:srgbClr val="3AAFA9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9911182" y="4399178"/>
            <a:ext cx="-235915" cy="-550469"/>
          </a:xfrm>
          <a:prstGeom prst="line">
            <a:avLst/>
          </a:prstGeom>
          <a:noFill/>
          <a:ln w="31750">
            <a:solidFill>
              <a:srgbClr val="3AAFA9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8102498" y="4399178"/>
            <a:ext cx="-117958" cy="511150"/>
          </a:xfrm>
          <a:prstGeom prst="line">
            <a:avLst/>
          </a:prstGeom>
          <a:noFill/>
          <a:ln w="31750">
            <a:solidFill>
              <a:srgbClr val="3AAFA9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9911182" y="4399178"/>
            <a:ext cx="117958" cy="511150"/>
          </a:xfrm>
          <a:prstGeom prst="line">
            <a:avLst/>
          </a:prstGeom>
          <a:noFill/>
          <a:ln w="31750">
            <a:solidFill>
              <a:srgbClr val="3AAFA9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9006840" y="3770071"/>
            <a:ext cx="0" cy="943661"/>
          </a:xfrm>
          <a:prstGeom prst="line">
            <a:avLst/>
          </a:prstGeom>
          <a:noFill/>
          <a:ln w="31750">
            <a:solidFill>
              <a:srgbClr val="3AAFA9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9006840" y="4713732"/>
            <a:ext cx="-432511" cy="39319"/>
          </a:xfrm>
          <a:prstGeom prst="line">
            <a:avLst/>
          </a:prstGeom>
          <a:noFill/>
          <a:ln w="31750">
            <a:solidFill>
              <a:srgbClr val="3AAFA9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9006840" y="4713732"/>
            <a:ext cx="432511" cy="39319"/>
          </a:xfrm>
          <a:prstGeom prst="line">
            <a:avLst/>
          </a:prstGeom>
          <a:noFill/>
          <a:ln w="31750">
            <a:solidFill>
              <a:srgbClr val="3AAFA9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8574329" y="4753051"/>
            <a:ext cx="-78638" cy="589788"/>
          </a:xfrm>
          <a:prstGeom prst="line">
            <a:avLst/>
          </a:prstGeom>
          <a:noFill/>
          <a:ln w="31750">
            <a:solidFill>
              <a:srgbClr val="3AAFA9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9439351" y="4753051"/>
            <a:ext cx="78638" cy="589788"/>
          </a:xfrm>
          <a:prstGeom prst="line">
            <a:avLst/>
          </a:prstGeom>
          <a:noFill/>
          <a:ln w="31750">
            <a:solidFill>
              <a:srgbClr val="3AAFA9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8495690" y="5342839"/>
            <a:ext cx="-39319" cy="511150"/>
          </a:xfrm>
          <a:prstGeom prst="line">
            <a:avLst/>
          </a:prstGeom>
          <a:noFill/>
          <a:ln w="31750">
            <a:solidFill>
              <a:srgbClr val="3AAFA9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9517990" y="5342839"/>
            <a:ext cx="39319" cy="511150"/>
          </a:xfrm>
          <a:prstGeom prst="line">
            <a:avLst/>
          </a:prstGeom>
          <a:noFill/>
          <a:ln w="31750">
            <a:solidFill>
              <a:srgbClr val="3AAFA9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8938260" y="3268980"/>
            <a:ext cx="137160" cy="137160"/>
          </a:xfrm>
          <a:prstGeom prst="ellipse">
            <a:avLst/>
          </a:prstGeom>
          <a:solidFill>
            <a:srgbClr val="F5B841"/>
          </a:solidFill>
          <a:ln/>
        </p:spPr>
      </p:sp>
      <p:sp>
        <p:nvSpPr>
          <p:cNvPr id="36" name="Shape 31"/>
          <p:cNvSpPr/>
          <p:nvPr/>
        </p:nvSpPr>
        <p:spPr>
          <a:xfrm>
            <a:off x="8938260" y="3701491"/>
            <a:ext cx="137160" cy="13716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37" name="Shape 32"/>
          <p:cNvSpPr/>
          <p:nvPr/>
        </p:nvSpPr>
        <p:spPr>
          <a:xfrm>
            <a:off x="8269834" y="3780130"/>
            <a:ext cx="137160" cy="13716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38" name="Shape 33"/>
          <p:cNvSpPr/>
          <p:nvPr/>
        </p:nvSpPr>
        <p:spPr>
          <a:xfrm>
            <a:off x="9606686" y="3780130"/>
            <a:ext cx="137160" cy="13716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39" name="Shape 34"/>
          <p:cNvSpPr/>
          <p:nvPr/>
        </p:nvSpPr>
        <p:spPr>
          <a:xfrm>
            <a:off x="8033918" y="4330598"/>
            <a:ext cx="137160" cy="13716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40" name="Shape 35"/>
          <p:cNvSpPr/>
          <p:nvPr/>
        </p:nvSpPr>
        <p:spPr>
          <a:xfrm>
            <a:off x="9842602" y="4330598"/>
            <a:ext cx="137160" cy="13716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41" name="Shape 36"/>
          <p:cNvSpPr/>
          <p:nvPr/>
        </p:nvSpPr>
        <p:spPr>
          <a:xfrm>
            <a:off x="7915961" y="4841748"/>
            <a:ext cx="137160" cy="13716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42" name="Shape 37"/>
          <p:cNvSpPr/>
          <p:nvPr/>
        </p:nvSpPr>
        <p:spPr>
          <a:xfrm>
            <a:off x="9960559" y="4841748"/>
            <a:ext cx="137160" cy="13716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43" name="Shape 38"/>
          <p:cNvSpPr/>
          <p:nvPr/>
        </p:nvSpPr>
        <p:spPr>
          <a:xfrm>
            <a:off x="8938260" y="4645152"/>
            <a:ext cx="137160" cy="13716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44" name="Shape 39"/>
          <p:cNvSpPr/>
          <p:nvPr/>
        </p:nvSpPr>
        <p:spPr>
          <a:xfrm>
            <a:off x="8505749" y="4684471"/>
            <a:ext cx="137160" cy="13716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45" name="Shape 40"/>
          <p:cNvSpPr/>
          <p:nvPr/>
        </p:nvSpPr>
        <p:spPr>
          <a:xfrm>
            <a:off x="9370771" y="4684471"/>
            <a:ext cx="137160" cy="13716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46" name="Shape 41"/>
          <p:cNvSpPr/>
          <p:nvPr/>
        </p:nvSpPr>
        <p:spPr>
          <a:xfrm>
            <a:off x="8427110" y="5274259"/>
            <a:ext cx="137160" cy="13716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47" name="Shape 42"/>
          <p:cNvSpPr/>
          <p:nvPr/>
        </p:nvSpPr>
        <p:spPr>
          <a:xfrm>
            <a:off x="9449410" y="5274259"/>
            <a:ext cx="137160" cy="13716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48" name="Shape 43"/>
          <p:cNvSpPr/>
          <p:nvPr/>
        </p:nvSpPr>
        <p:spPr>
          <a:xfrm>
            <a:off x="8387791" y="5785409"/>
            <a:ext cx="137160" cy="13716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49" name="Shape 44"/>
          <p:cNvSpPr/>
          <p:nvPr/>
        </p:nvSpPr>
        <p:spPr>
          <a:xfrm>
            <a:off x="9488729" y="5785409"/>
            <a:ext cx="137160" cy="13716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50" name="Text 45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E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8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背景知識 · BACKGROUND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先說清楚:骨架是「人為定義」的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64208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模型只吐出一堆點,「哪個點是哪個關節、哪兩點該連」是我們事先規定好的。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34924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24688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點數是一種「規格」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14400" y="2971800"/>
            <a:ext cx="4800600" cy="1188720"/>
          </a:xfrm>
          <a:prstGeom prst="roundRect">
            <a:avLst>
              <a:gd name="adj" fmla="val 7692"/>
            </a:avLst>
          </a:prstGeom>
          <a:solidFill>
            <a:srgbClr val="DEF2F1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143000" y="324612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13849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43000" y="32461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 點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2606040" y="317296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8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606040" y="3483864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鼻、眼、耳、肩、肘、腕、髖、膝、踝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" y="4343400"/>
            <a:ext cx="4800600" cy="1188720"/>
          </a:xfrm>
          <a:prstGeom prst="roundRect">
            <a:avLst>
              <a:gd name="adj" fmla="val 7692"/>
            </a:avLst>
          </a:prstGeom>
          <a:solidFill>
            <a:srgbClr val="FFF3E8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143000" y="461772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FF6B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43000" y="46177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 點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2606040" y="454456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606040" y="4855464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 之外再加手指、腳掌、臉部細節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72200" y="2286000"/>
            <a:ext cx="5349240" cy="3749040"/>
          </a:xfrm>
          <a:prstGeom prst="roundRect">
            <a:avLst>
              <a:gd name="adj" fmla="val 2439"/>
            </a:avLst>
          </a:prstGeom>
          <a:solidFill>
            <a:srgbClr val="0B3D4A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446520" y="24688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點要「連對」才成骨架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366760" y="3063240"/>
            <a:ext cx="0" cy="384048"/>
          </a:xfrm>
          <a:prstGeom prst="line">
            <a:avLst/>
          </a:prstGeom>
          <a:noFill/>
          <a:ln w="31750">
            <a:solidFill>
              <a:srgbClr val="3AAFA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66760" y="3447288"/>
            <a:ext cx="-777240" cy="73152"/>
          </a:xfrm>
          <a:prstGeom prst="line">
            <a:avLst/>
          </a:prstGeom>
          <a:noFill/>
          <a:ln w="31750">
            <a:solidFill>
              <a:srgbClr val="3AAFA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66760" y="3447288"/>
            <a:ext cx="777240" cy="73152"/>
          </a:xfrm>
          <a:prstGeom prst="line">
            <a:avLst/>
          </a:prstGeom>
          <a:noFill/>
          <a:ln w="31750">
            <a:solidFill>
              <a:srgbClr val="3AAFA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89520" y="3520440"/>
            <a:ext cx="-274320" cy="502920"/>
          </a:xfrm>
          <a:prstGeom prst="line">
            <a:avLst/>
          </a:prstGeom>
          <a:noFill/>
          <a:ln w="31750">
            <a:solidFill>
              <a:srgbClr val="3AAFA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0" y="4023360"/>
            <a:ext cx="-137160" cy="457200"/>
          </a:xfrm>
          <a:prstGeom prst="line">
            <a:avLst/>
          </a:prstGeom>
          <a:noFill/>
          <a:ln w="31750">
            <a:solidFill>
              <a:srgbClr val="3AAFA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0" y="3520440"/>
            <a:ext cx="274320" cy="502920"/>
          </a:xfrm>
          <a:prstGeom prst="line">
            <a:avLst/>
          </a:prstGeom>
          <a:noFill/>
          <a:ln w="31750">
            <a:solidFill>
              <a:srgbClr val="3AAFA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418320" y="4023360"/>
            <a:ext cx="137160" cy="457200"/>
          </a:xfrm>
          <a:prstGeom prst="line">
            <a:avLst/>
          </a:prstGeom>
          <a:noFill/>
          <a:ln w="31750">
            <a:solidFill>
              <a:srgbClr val="3AAFA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66760" y="3447288"/>
            <a:ext cx="0" cy="896112"/>
          </a:xfrm>
          <a:prstGeom prst="line">
            <a:avLst/>
          </a:prstGeom>
          <a:noFill/>
          <a:ln w="31750">
            <a:solidFill>
              <a:srgbClr val="3AAFA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66760" y="4343400"/>
            <a:ext cx="-457200" cy="548640"/>
          </a:xfrm>
          <a:prstGeom prst="line">
            <a:avLst/>
          </a:prstGeom>
          <a:noFill/>
          <a:ln w="31750">
            <a:solidFill>
              <a:srgbClr val="3AAFA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66760" y="4343400"/>
            <a:ext cx="457200" cy="548640"/>
          </a:xfrm>
          <a:prstGeom prst="line">
            <a:avLst/>
          </a:prstGeom>
          <a:noFill/>
          <a:ln w="31750">
            <a:solidFill>
              <a:srgbClr val="3AAFA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84464" y="2980944"/>
            <a:ext cx="164592" cy="164592"/>
          </a:xfrm>
          <a:prstGeom prst="ellipse">
            <a:avLst/>
          </a:prstGeom>
          <a:solidFill>
            <a:srgbClr val="3AAFA9"/>
          </a:solidFill>
          <a:ln/>
        </p:spPr>
      </p:sp>
      <p:sp>
        <p:nvSpPr>
          <p:cNvPr id="30" name="Shape 28"/>
          <p:cNvSpPr/>
          <p:nvPr/>
        </p:nvSpPr>
        <p:spPr>
          <a:xfrm>
            <a:off x="8284464" y="3364992"/>
            <a:ext cx="164592" cy="164592"/>
          </a:xfrm>
          <a:prstGeom prst="ellipse">
            <a:avLst/>
          </a:prstGeom>
          <a:solidFill>
            <a:srgbClr val="3AAFA9"/>
          </a:solidFill>
          <a:ln/>
        </p:spPr>
      </p:sp>
      <p:sp>
        <p:nvSpPr>
          <p:cNvPr id="31" name="Shape 29"/>
          <p:cNvSpPr/>
          <p:nvPr/>
        </p:nvSpPr>
        <p:spPr>
          <a:xfrm>
            <a:off x="7507224" y="3438144"/>
            <a:ext cx="164592" cy="164592"/>
          </a:xfrm>
          <a:prstGeom prst="ellipse">
            <a:avLst/>
          </a:prstGeom>
          <a:solidFill>
            <a:srgbClr val="F5B841"/>
          </a:solidFill>
          <a:ln/>
        </p:spPr>
      </p:sp>
      <p:sp>
        <p:nvSpPr>
          <p:cNvPr id="32" name="Shape 30"/>
          <p:cNvSpPr/>
          <p:nvPr/>
        </p:nvSpPr>
        <p:spPr>
          <a:xfrm>
            <a:off x="9061704" y="3438144"/>
            <a:ext cx="164592" cy="164592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33" name="Shape 31"/>
          <p:cNvSpPr/>
          <p:nvPr/>
        </p:nvSpPr>
        <p:spPr>
          <a:xfrm>
            <a:off x="7232904" y="3941064"/>
            <a:ext cx="164592" cy="164592"/>
          </a:xfrm>
          <a:prstGeom prst="ellipse">
            <a:avLst/>
          </a:prstGeom>
          <a:solidFill>
            <a:srgbClr val="F5B841"/>
          </a:solidFill>
          <a:ln/>
        </p:spPr>
      </p:sp>
      <p:sp>
        <p:nvSpPr>
          <p:cNvPr id="34" name="Shape 32"/>
          <p:cNvSpPr/>
          <p:nvPr/>
        </p:nvSpPr>
        <p:spPr>
          <a:xfrm>
            <a:off x="9336024" y="3941064"/>
            <a:ext cx="164592" cy="164592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35" name="Shape 33"/>
          <p:cNvSpPr/>
          <p:nvPr/>
        </p:nvSpPr>
        <p:spPr>
          <a:xfrm>
            <a:off x="7095744" y="4398264"/>
            <a:ext cx="164592" cy="164592"/>
          </a:xfrm>
          <a:prstGeom prst="ellipse">
            <a:avLst/>
          </a:prstGeom>
          <a:solidFill>
            <a:srgbClr val="F5B841"/>
          </a:solidFill>
          <a:ln/>
        </p:spPr>
      </p:sp>
      <p:sp>
        <p:nvSpPr>
          <p:cNvPr id="36" name="Shape 34"/>
          <p:cNvSpPr/>
          <p:nvPr/>
        </p:nvSpPr>
        <p:spPr>
          <a:xfrm>
            <a:off x="9473184" y="4398264"/>
            <a:ext cx="164592" cy="164592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37" name="Shape 35"/>
          <p:cNvSpPr/>
          <p:nvPr/>
        </p:nvSpPr>
        <p:spPr>
          <a:xfrm>
            <a:off x="8284464" y="4261104"/>
            <a:ext cx="164592" cy="164592"/>
          </a:xfrm>
          <a:prstGeom prst="ellipse">
            <a:avLst/>
          </a:prstGeom>
          <a:solidFill>
            <a:srgbClr val="3AAFA9"/>
          </a:solidFill>
          <a:ln/>
        </p:spPr>
      </p:sp>
      <p:sp>
        <p:nvSpPr>
          <p:cNvPr id="38" name="Shape 36"/>
          <p:cNvSpPr/>
          <p:nvPr/>
        </p:nvSpPr>
        <p:spPr>
          <a:xfrm>
            <a:off x="7827264" y="4809744"/>
            <a:ext cx="164592" cy="164592"/>
          </a:xfrm>
          <a:prstGeom prst="ellipse">
            <a:avLst/>
          </a:prstGeom>
          <a:solidFill>
            <a:srgbClr val="F5B841"/>
          </a:solidFill>
          <a:ln/>
        </p:spPr>
      </p:sp>
      <p:sp>
        <p:nvSpPr>
          <p:cNvPr id="39" name="Shape 37"/>
          <p:cNvSpPr/>
          <p:nvPr/>
        </p:nvSpPr>
        <p:spPr>
          <a:xfrm>
            <a:off x="8741664" y="4809744"/>
            <a:ext cx="164592" cy="164592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446520" y="51663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左側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7772400" y="51663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右側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6446520" y="55321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FC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左右是不同的點:模型還要學會區分左手 / 右手。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E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8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WHAT IS 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別搞混:幾個相關但不同的任務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85900" y="2194560"/>
            <a:ext cx="914400" cy="914400"/>
          </a:xfrm>
          <a:prstGeom prst="ellipse">
            <a:avLst/>
          </a:prstGeom>
          <a:solidFill>
            <a:srgbClr val="0B3D4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3644" y="2432304"/>
            <a:ext cx="438912" cy="4389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32461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53872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物件偵測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02336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找出「有一個人」的框</a:t>
            </a:r>
            <a:endParaRPr lang="en-US" sz="12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408" y="3401568"/>
            <a:ext cx="219456" cy="21945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502152" y="187452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347972" y="2194560"/>
            <a:ext cx="914400" cy="91440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716" y="2432304"/>
            <a:ext cx="438912" cy="43891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639312" y="32461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 ESTIMATION</a:t>
            </a:r>
            <a:endParaRPr lang="en-US" sz="1100" dirty="0"/>
          </a:p>
        </p:txBody>
      </p:sp>
      <p:sp>
        <p:nvSpPr>
          <p:cNvPr id="15" name="Text 10"/>
          <p:cNvSpPr txBox="1"/>
          <p:nvPr/>
        </p:nvSpPr>
        <p:spPr>
          <a:xfrm>
            <a:off x="3639312" y="353872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姿態估計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3685032" y="402336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找出關節點與骨架</a:t>
            </a:r>
            <a:endParaRPr lang="en-US" sz="12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3401568"/>
            <a:ext cx="219456" cy="219456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364224" y="187452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7210044" y="2194560"/>
            <a:ext cx="914400" cy="914400"/>
          </a:xfrm>
          <a:prstGeom prst="ellipse">
            <a:avLst/>
          </a:prstGeom>
          <a:solidFill>
            <a:srgbClr val="138496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7788" y="2432304"/>
            <a:ext cx="438912" cy="43891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501384" y="32461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38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RECOGNITION</a:t>
            </a:r>
            <a:endParaRPr lang="en-US" sz="1100" dirty="0"/>
          </a:p>
        </p:txBody>
      </p:sp>
      <p:sp>
        <p:nvSpPr>
          <p:cNvPr id="22" name="Text 15"/>
          <p:cNvSpPr txBox="1"/>
          <p:nvPr/>
        </p:nvSpPr>
        <p:spPr>
          <a:xfrm>
            <a:off x="6501384" y="353872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動作辨識</a:t>
            </a:r>
            <a:endParaRPr lang="en-US" sz="1800" dirty="0"/>
          </a:p>
        </p:txBody>
      </p:sp>
      <p:sp>
        <p:nvSpPr>
          <p:cNvPr id="23" name="Text 16"/>
          <p:cNvSpPr txBox="1"/>
          <p:nvPr/>
        </p:nvSpPr>
        <p:spPr>
          <a:xfrm>
            <a:off x="6547104" y="402336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判斷「他在做什麼」</a:t>
            </a:r>
            <a:endParaRPr lang="en-US" sz="125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88552" y="3401568"/>
            <a:ext cx="219456" cy="219456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9226296" y="187452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10072116" y="2194560"/>
            <a:ext cx="914400" cy="914400"/>
          </a:xfrm>
          <a:prstGeom prst="ellipse">
            <a:avLst/>
          </a:prstGeom>
          <a:solidFill>
            <a:srgbClr val="3AAFA9"/>
          </a:solidFill>
          <a:ln/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09860" y="2432304"/>
            <a:ext cx="438912" cy="438912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9363456" y="32461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/ MESH</a:t>
            </a:r>
            <a:endParaRPr lang="en-US" sz="1100" dirty="0"/>
          </a:p>
        </p:txBody>
      </p:sp>
      <p:sp>
        <p:nvSpPr>
          <p:cNvPr id="29" name="Text 20"/>
          <p:cNvSpPr txBox="1"/>
          <p:nvPr/>
        </p:nvSpPr>
        <p:spPr>
          <a:xfrm>
            <a:off x="9363456" y="353872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三維姿態</a:t>
            </a:r>
            <a:endParaRPr lang="en-US" sz="1800" dirty="0"/>
          </a:p>
        </p:txBody>
      </p:sp>
      <p:sp>
        <p:nvSpPr>
          <p:cNvPr id="30" name="Text 21"/>
          <p:cNvSpPr txBox="1"/>
          <p:nvPr/>
        </p:nvSpPr>
        <p:spPr>
          <a:xfrm>
            <a:off x="9409176" y="402336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估計深度、建出人體模型</a:t>
            </a:r>
            <a:endParaRPr lang="en-US" sz="1250" dirty="0"/>
          </a:p>
        </p:txBody>
      </p:sp>
      <p:sp>
        <p:nvSpPr>
          <p:cNvPr id="31" name="Text 22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3D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9456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1384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2468880" y="24688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應用場景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2514600" y="3337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它到底能拿來做什麼?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14600" y="3886200"/>
            <a:ext cx="2286000" cy="0"/>
          </a:xfrm>
          <a:prstGeom prst="line">
            <a:avLst/>
          </a:prstGeom>
          <a:noFill/>
          <a:ln w="38100">
            <a:solidFill>
              <a:srgbClr val="FF6B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8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APPLICATIONS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六大應用場景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DEF2F1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75688"/>
            <a:ext cx="822960" cy="82296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70" y="2289658"/>
            <a:ext cx="395021" cy="3950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74520" y="210312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運動科技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283464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分析跑姿、投籃動作、即時計次與矯正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89120" y="178308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DEF2F1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2075688"/>
            <a:ext cx="822960" cy="822960"/>
          </a:xfrm>
          <a:prstGeom prst="ellipse">
            <a:avLst/>
          </a:prstGeom>
          <a:solidFill>
            <a:srgbClr val="13849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7410" y="2289658"/>
            <a:ext cx="395021" cy="39502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623560" y="210312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醫療復健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709160" y="283464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復健動作追蹤、跌倒偵測、步態分析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38160" y="178308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DEF2F1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12480" y="2075688"/>
            <a:ext cx="822960" cy="822960"/>
          </a:xfrm>
          <a:prstGeom prst="ellipse">
            <a:avLst/>
          </a:prstGeom>
          <a:solidFill>
            <a:srgbClr val="3AAFA9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6450" y="2289658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372600" y="210312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互動娛樂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458200" y="283464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體感遊戲、AR 濾鏡、虛擬替身 Avatar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" y="384048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DEF2F1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4400" y="4133088"/>
            <a:ext cx="822960" cy="822960"/>
          </a:xfrm>
          <a:prstGeom prst="ellipse">
            <a:avLst/>
          </a:prstGeom>
          <a:solidFill>
            <a:srgbClr val="0B3D4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8370" y="4347058"/>
            <a:ext cx="395021" cy="395021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874520" y="416052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智慧監控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960120" y="489204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異常行為偵測、人流與姿勢警示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89120" y="384048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DEF2F1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63440" y="4133088"/>
            <a:ext cx="822960" cy="822960"/>
          </a:xfrm>
          <a:prstGeom prst="ellipse">
            <a:avLst/>
          </a:prstGeom>
          <a:solidFill>
            <a:srgbClr val="F5B841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7410" y="4347058"/>
            <a:ext cx="395021" cy="395021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623560" y="416052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影視動畫</a:t>
            </a:r>
            <a:endParaRPr lang="en-US" sz="1700" dirty="0"/>
          </a:p>
        </p:txBody>
      </p:sp>
      <p:sp>
        <p:nvSpPr>
          <p:cNvPr id="28" name="Text 21"/>
          <p:cNvSpPr txBox="1"/>
          <p:nvPr/>
        </p:nvSpPr>
        <p:spPr>
          <a:xfrm>
            <a:off x="4709160" y="489204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無標記動作捕捉 (markerless mocap)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138160" y="384048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DEF2F1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12480" y="4133088"/>
            <a:ext cx="822960" cy="82296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6450" y="4347058"/>
            <a:ext cx="395021" cy="395021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372600" y="416052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人機互動</a:t>
            </a:r>
            <a:endParaRPr lang="en-US" sz="1700" dirty="0"/>
          </a:p>
        </p:txBody>
      </p:sp>
      <p:sp>
        <p:nvSpPr>
          <p:cNvPr id="33" name="Text 25"/>
          <p:cNvSpPr txBox="1"/>
          <p:nvPr/>
        </p:nvSpPr>
        <p:spPr>
          <a:xfrm>
            <a:off x="8458200" y="489204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手勢控制、駕駛疲勞與注意力偵測</a:t>
            </a:r>
            <a:endParaRPr lang="en-US" sz="1200" dirty="0"/>
          </a:p>
        </p:txBody>
      </p:sp>
      <p:sp>
        <p:nvSpPr>
          <p:cNvPr id="34" name="Text 26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8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問題定義:輸入是什麼,輸出是什麼?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291840" cy="4023360"/>
          </a:xfrm>
          <a:prstGeom prst="roundRect">
            <a:avLst>
              <a:gd name="adj" fmla="val 2778"/>
            </a:avLst>
          </a:prstGeom>
          <a:solidFill>
            <a:srgbClr val="0B3D4A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20574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輸入 INPUT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737360" y="2743200"/>
            <a:ext cx="1097280" cy="1097280"/>
          </a:xfrm>
          <a:prstGeom prst="ellipse">
            <a:avLst/>
          </a:prstGeom>
          <a:solidFill>
            <a:srgbClr val="13849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2653" y="3028493"/>
            <a:ext cx="526694" cy="52669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39776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一張影像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或一段影片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8463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FC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× W × 3 的像素矩陣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3657600"/>
            <a:ext cx="457200" cy="4572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754880" y="1828800"/>
            <a:ext cx="3291840" cy="4023360"/>
          </a:xfrm>
          <a:prstGeom prst="roundRect">
            <a:avLst>
              <a:gd name="adj" fmla="val 2778"/>
            </a:avLst>
          </a:prstGeom>
          <a:solidFill>
            <a:srgbClr val="DEF2F1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4754880" y="20574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輸出 OUTPUT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400800" y="2788920"/>
            <a:ext cx="0" cy="365760"/>
          </a:xfrm>
          <a:prstGeom prst="line">
            <a:avLst/>
          </a:prstGeom>
          <a:noFill/>
          <a:ln w="25400">
            <a:solidFill>
              <a:srgbClr val="13849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00800" y="3154680"/>
            <a:ext cx="-502920" cy="73152"/>
          </a:xfrm>
          <a:prstGeom prst="line">
            <a:avLst/>
          </a:prstGeom>
          <a:noFill/>
          <a:ln w="25400">
            <a:solidFill>
              <a:srgbClr val="13849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00800" y="3154680"/>
            <a:ext cx="502920" cy="73152"/>
          </a:xfrm>
          <a:prstGeom prst="line">
            <a:avLst/>
          </a:prstGeom>
          <a:noFill/>
          <a:ln w="25400">
            <a:solidFill>
              <a:srgbClr val="13849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897880" y="3227832"/>
            <a:ext cx="-182880" cy="429768"/>
          </a:xfrm>
          <a:prstGeom prst="line">
            <a:avLst/>
          </a:prstGeom>
          <a:noFill/>
          <a:ln w="25400">
            <a:solidFill>
              <a:srgbClr val="138496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903720" y="3227832"/>
            <a:ext cx="182880" cy="429768"/>
          </a:xfrm>
          <a:prstGeom prst="line">
            <a:avLst/>
          </a:prstGeom>
          <a:noFill/>
          <a:ln w="25400">
            <a:solidFill>
              <a:srgbClr val="13849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400800" y="3154680"/>
            <a:ext cx="0" cy="777240"/>
          </a:xfrm>
          <a:prstGeom prst="line">
            <a:avLst/>
          </a:prstGeom>
          <a:noFill/>
          <a:ln w="25400">
            <a:solidFill>
              <a:srgbClr val="138496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400800" y="3931920"/>
            <a:ext cx="-365760" cy="502920"/>
          </a:xfrm>
          <a:prstGeom prst="line">
            <a:avLst/>
          </a:prstGeom>
          <a:noFill/>
          <a:ln w="25400">
            <a:solidFill>
              <a:srgbClr val="138496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400800" y="3931920"/>
            <a:ext cx="365760" cy="502920"/>
          </a:xfrm>
          <a:prstGeom prst="line">
            <a:avLst/>
          </a:prstGeom>
          <a:noFill/>
          <a:ln w="25400">
            <a:solidFill>
              <a:srgbClr val="138496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345936" y="2734056"/>
            <a:ext cx="109728" cy="10972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22" name="Shape 18"/>
          <p:cNvSpPr/>
          <p:nvPr/>
        </p:nvSpPr>
        <p:spPr>
          <a:xfrm>
            <a:off x="6345936" y="3099816"/>
            <a:ext cx="109728" cy="10972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23" name="Shape 19"/>
          <p:cNvSpPr/>
          <p:nvPr/>
        </p:nvSpPr>
        <p:spPr>
          <a:xfrm>
            <a:off x="5843016" y="3172968"/>
            <a:ext cx="109728" cy="10972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24" name="Shape 20"/>
          <p:cNvSpPr/>
          <p:nvPr/>
        </p:nvSpPr>
        <p:spPr>
          <a:xfrm>
            <a:off x="6848856" y="3172968"/>
            <a:ext cx="109728" cy="10972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25" name="Shape 21"/>
          <p:cNvSpPr/>
          <p:nvPr/>
        </p:nvSpPr>
        <p:spPr>
          <a:xfrm>
            <a:off x="5660136" y="3602736"/>
            <a:ext cx="109728" cy="10972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26" name="Shape 22"/>
          <p:cNvSpPr/>
          <p:nvPr/>
        </p:nvSpPr>
        <p:spPr>
          <a:xfrm>
            <a:off x="7031736" y="3602736"/>
            <a:ext cx="109728" cy="10972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27" name="Shape 23"/>
          <p:cNvSpPr/>
          <p:nvPr/>
        </p:nvSpPr>
        <p:spPr>
          <a:xfrm>
            <a:off x="6345936" y="3877056"/>
            <a:ext cx="109728" cy="10972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28" name="Shape 24"/>
          <p:cNvSpPr/>
          <p:nvPr/>
        </p:nvSpPr>
        <p:spPr>
          <a:xfrm>
            <a:off x="5980176" y="4379976"/>
            <a:ext cx="109728" cy="10972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29" name="Shape 25"/>
          <p:cNvSpPr/>
          <p:nvPr/>
        </p:nvSpPr>
        <p:spPr>
          <a:xfrm>
            <a:off x="6711696" y="4379976"/>
            <a:ext cx="109728" cy="10972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4937760" y="47091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一組關鍵點座標</a:t>
            </a:r>
            <a:endParaRPr lang="en-US" sz="1800" dirty="0"/>
          </a:p>
        </p:txBody>
      </p:sp>
      <p:sp>
        <p:nvSpPr>
          <p:cNvPr id="31" name="Text 27"/>
          <p:cNvSpPr txBox="1"/>
          <p:nvPr/>
        </p:nvSpPr>
        <p:spPr>
          <a:xfrm>
            <a:off x="4937760" y="51206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每個點: (x, y, 信心分數)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8321040" y="1828800"/>
            <a:ext cx="3200400" cy="4023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33" name="Text 29"/>
          <p:cNvSpPr txBox="1"/>
          <p:nvPr/>
        </p:nvSpPr>
        <p:spPr>
          <a:xfrm>
            <a:off x="8549640" y="2057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直覺版定義</a:t>
            </a:r>
            <a:endParaRPr lang="en-US" sz="1600" dirty="0"/>
          </a:p>
        </p:txBody>
      </p:sp>
      <p:sp>
        <p:nvSpPr>
          <p:cNvPr id="34" name="Text 30"/>
          <p:cNvSpPr txBox="1"/>
          <p:nvPr/>
        </p:nvSpPr>
        <p:spPr>
          <a:xfrm>
            <a:off x="8549640" y="2514600"/>
            <a:ext cx="27889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找一個函數 f,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吃進一張圖,吐出 K 個點的位置。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常見 K: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點 (COCO)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點 (MediaPipe)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難點: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遮擋、多人、角度、動態模糊</a:t>
            </a:r>
            <a:endParaRPr lang="en-US" sz="1300" dirty="0"/>
          </a:p>
        </p:txBody>
      </p:sp>
      <p:sp>
        <p:nvSpPr>
          <p:cNvPr id="35" name="Text 31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8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背景知識 · BACKGROUND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影像其實就是一堆數字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64208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讀的不是「圖」,而是數字矩陣。理解這件事,才懂輸入為什麼是 H×W×3。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120640" cy="3749040"/>
          </a:xfrm>
          <a:prstGeom prst="roundRect">
            <a:avLst>
              <a:gd name="adj" fmla="val 2439"/>
            </a:avLst>
          </a:prstGeom>
          <a:solidFill>
            <a:srgbClr val="DEF2F1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2468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放大看:每個像素是一個亮度值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51560" y="2971800"/>
            <a:ext cx="539496" cy="539496"/>
          </a:xfrm>
          <a:prstGeom prst="rect">
            <a:avLst/>
          </a:prstGeom>
          <a:solidFill>
            <a:srgbClr val="343434"/>
          </a:solidFill>
          <a:ln w="6350">
            <a:solidFill>
              <a:srgbClr val="CFE3E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2971800"/>
            <a:ext cx="5394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E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618488" y="2971800"/>
            <a:ext cx="539496" cy="539496"/>
          </a:xfrm>
          <a:prstGeom prst="rect">
            <a:avLst/>
          </a:prstGeom>
          <a:solidFill>
            <a:srgbClr val="3C3C3C"/>
          </a:solidFill>
          <a:ln w="6350">
            <a:solidFill>
              <a:srgbClr val="CFE3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618488" y="2971800"/>
            <a:ext cx="5394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E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85416" y="2971800"/>
            <a:ext cx="539496" cy="539496"/>
          </a:xfrm>
          <a:prstGeom prst="rect">
            <a:avLst/>
          </a:prstGeom>
          <a:solidFill>
            <a:srgbClr val="5A5A5A"/>
          </a:solidFill>
          <a:ln w="6350">
            <a:solidFill>
              <a:srgbClr val="CFE3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185416" y="2971800"/>
            <a:ext cx="5394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E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52344" y="2971800"/>
            <a:ext cx="539496" cy="539496"/>
          </a:xfrm>
          <a:prstGeom prst="rect">
            <a:avLst/>
          </a:prstGeom>
          <a:solidFill>
            <a:srgbClr val="787878"/>
          </a:solidFill>
          <a:ln w="6350">
            <a:solidFill>
              <a:srgbClr val="CFE3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752344" y="2971800"/>
            <a:ext cx="5394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E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19272" y="2971800"/>
            <a:ext cx="539496" cy="539496"/>
          </a:xfrm>
          <a:prstGeom prst="rect">
            <a:avLst/>
          </a:prstGeom>
          <a:solidFill>
            <a:srgbClr val="3C3C3C"/>
          </a:solidFill>
          <a:ln w="6350">
            <a:solidFill>
              <a:srgbClr val="CFE3E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319272" y="2971800"/>
            <a:ext cx="5394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E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51560" y="3538728"/>
            <a:ext cx="539496" cy="539496"/>
          </a:xfrm>
          <a:prstGeom prst="rect">
            <a:avLst/>
          </a:prstGeom>
          <a:solidFill>
            <a:srgbClr val="464646"/>
          </a:solidFill>
          <a:ln w="6350">
            <a:solidFill>
              <a:srgbClr val="CFE3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51560" y="3538728"/>
            <a:ext cx="5394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E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618488" y="3538728"/>
            <a:ext cx="539496" cy="539496"/>
          </a:xfrm>
          <a:prstGeom prst="rect">
            <a:avLst/>
          </a:prstGeom>
          <a:solidFill>
            <a:srgbClr val="8C8C8C"/>
          </a:solidFill>
          <a:ln w="6350">
            <a:solidFill>
              <a:srgbClr val="CFE3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618488" y="3538728"/>
            <a:ext cx="5394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E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185416" y="3538728"/>
            <a:ext cx="539496" cy="539496"/>
          </a:xfrm>
          <a:prstGeom prst="rect">
            <a:avLst/>
          </a:prstGeom>
          <a:solidFill>
            <a:srgbClr val="C8C8C8"/>
          </a:solidFill>
          <a:ln w="6350">
            <a:solidFill>
              <a:srgbClr val="CFE3E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185416" y="3538728"/>
            <a:ext cx="5394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52344" y="3538728"/>
            <a:ext cx="539496" cy="539496"/>
          </a:xfrm>
          <a:prstGeom prst="rect">
            <a:avLst/>
          </a:prstGeom>
          <a:solidFill>
            <a:srgbClr val="969696"/>
          </a:solidFill>
          <a:ln w="6350">
            <a:solidFill>
              <a:srgbClr val="CFE3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752344" y="3538728"/>
            <a:ext cx="5394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19272" y="3538728"/>
            <a:ext cx="539496" cy="539496"/>
          </a:xfrm>
          <a:prstGeom prst="rect">
            <a:avLst/>
          </a:prstGeom>
          <a:solidFill>
            <a:srgbClr val="505050"/>
          </a:solidFill>
          <a:ln w="6350">
            <a:solidFill>
              <a:srgbClr val="CFE3E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319272" y="3538728"/>
            <a:ext cx="5394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E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051560" y="4105656"/>
            <a:ext cx="539496" cy="539496"/>
          </a:xfrm>
          <a:prstGeom prst="rect">
            <a:avLst/>
          </a:prstGeom>
          <a:solidFill>
            <a:srgbClr val="6E6E6E"/>
          </a:solidFill>
          <a:ln w="6350">
            <a:solidFill>
              <a:srgbClr val="CFE3E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51560" y="4105656"/>
            <a:ext cx="5394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E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618488" y="4105656"/>
            <a:ext cx="539496" cy="539496"/>
          </a:xfrm>
          <a:prstGeom prst="rect">
            <a:avLst/>
          </a:prstGeom>
          <a:solidFill>
            <a:srgbClr val="CDCDCD"/>
          </a:solidFill>
          <a:ln w="6350">
            <a:solidFill>
              <a:srgbClr val="CFE3E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618488" y="4105656"/>
            <a:ext cx="5394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205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185416" y="4105656"/>
            <a:ext cx="539496" cy="539496"/>
          </a:xfrm>
          <a:prstGeom prst="rect">
            <a:avLst/>
          </a:prstGeom>
          <a:solidFill>
            <a:srgbClr val="F0F0F0"/>
          </a:solidFill>
          <a:ln w="6350">
            <a:solidFill>
              <a:srgbClr val="CFE3E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185416" y="4105656"/>
            <a:ext cx="5394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240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52344" y="4105656"/>
            <a:ext cx="539496" cy="539496"/>
          </a:xfrm>
          <a:prstGeom prst="rect">
            <a:avLst/>
          </a:prstGeom>
          <a:solidFill>
            <a:srgbClr val="D2D2D2"/>
          </a:solidFill>
          <a:ln w="6350">
            <a:solidFill>
              <a:srgbClr val="CFE3E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752344" y="4105656"/>
            <a:ext cx="5394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210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319272" y="4105656"/>
            <a:ext cx="539496" cy="539496"/>
          </a:xfrm>
          <a:prstGeom prst="rect">
            <a:avLst/>
          </a:prstGeom>
          <a:solidFill>
            <a:srgbClr val="787878"/>
          </a:solidFill>
          <a:ln w="6350">
            <a:solidFill>
              <a:srgbClr val="CFE3E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319272" y="4105656"/>
            <a:ext cx="5394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E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051560" y="4672584"/>
            <a:ext cx="539496" cy="539496"/>
          </a:xfrm>
          <a:prstGeom prst="rect">
            <a:avLst/>
          </a:prstGeom>
          <a:solidFill>
            <a:srgbClr val="505050"/>
          </a:solidFill>
          <a:ln w="6350">
            <a:solidFill>
              <a:srgbClr val="CFE3E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51560" y="4672584"/>
            <a:ext cx="5394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E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618488" y="4672584"/>
            <a:ext cx="539496" cy="539496"/>
          </a:xfrm>
          <a:prstGeom prst="rect">
            <a:avLst/>
          </a:prstGeom>
          <a:solidFill>
            <a:srgbClr val="A0A0A0"/>
          </a:solidFill>
          <a:ln w="6350">
            <a:solidFill>
              <a:srgbClr val="CFE3E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618488" y="4672584"/>
            <a:ext cx="5394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160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185416" y="4672584"/>
            <a:ext cx="539496" cy="539496"/>
          </a:xfrm>
          <a:prstGeom prst="rect">
            <a:avLst/>
          </a:prstGeom>
          <a:solidFill>
            <a:srgbClr val="D2D2D2"/>
          </a:solidFill>
          <a:ln w="6350">
            <a:solidFill>
              <a:srgbClr val="CFE3E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2185416" y="4672584"/>
            <a:ext cx="5394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210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752344" y="4672584"/>
            <a:ext cx="539496" cy="539496"/>
          </a:xfrm>
          <a:prstGeom prst="rect">
            <a:avLst/>
          </a:prstGeom>
          <a:solidFill>
            <a:srgbClr val="969696"/>
          </a:solidFill>
          <a:ln w="6350">
            <a:solidFill>
              <a:srgbClr val="CFE3E2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2752344" y="4672584"/>
            <a:ext cx="5394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150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319272" y="4672584"/>
            <a:ext cx="539496" cy="539496"/>
          </a:xfrm>
          <a:prstGeom prst="rect">
            <a:avLst/>
          </a:prstGeom>
          <a:solidFill>
            <a:srgbClr val="464646"/>
          </a:solidFill>
          <a:ln w="6350">
            <a:solidFill>
              <a:srgbClr val="CFE3E2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319272" y="4672584"/>
            <a:ext cx="5394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E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051560" y="5239512"/>
            <a:ext cx="539496" cy="539496"/>
          </a:xfrm>
          <a:prstGeom prst="rect">
            <a:avLst/>
          </a:prstGeom>
          <a:solidFill>
            <a:srgbClr val="373737"/>
          </a:solidFill>
          <a:ln w="6350">
            <a:solidFill>
              <a:srgbClr val="CFE3E2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051560" y="5239512"/>
            <a:ext cx="5394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E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1618488" y="5239512"/>
            <a:ext cx="539496" cy="539496"/>
          </a:xfrm>
          <a:prstGeom prst="rect">
            <a:avLst/>
          </a:prstGeom>
          <a:solidFill>
            <a:srgbClr val="4B4B4B"/>
          </a:solidFill>
          <a:ln w="6350">
            <a:solidFill>
              <a:srgbClr val="CFE3E2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1618488" y="5239512"/>
            <a:ext cx="5394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E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75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185416" y="5239512"/>
            <a:ext cx="539496" cy="539496"/>
          </a:xfrm>
          <a:prstGeom prst="rect">
            <a:avLst/>
          </a:prstGeom>
          <a:solidFill>
            <a:srgbClr val="828282"/>
          </a:solidFill>
          <a:ln w="6350">
            <a:solidFill>
              <a:srgbClr val="CFE3E2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2185416" y="5239512"/>
            <a:ext cx="5394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E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130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752344" y="5239512"/>
            <a:ext cx="539496" cy="539496"/>
          </a:xfrm>
          <a:prstGeom prst="rect">
            <a:avLst/>
          </a:prstGeom>
          <a:solidFill>
            <a:srgbClr val="5F5F5F"/>
          </a:solidFill>
          <a:ln w="6350">
            <a:solidFill>
              <a:srgbClr val="CFE3E2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2752344" y="5239512"/>
            <a:ext cx="5394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E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95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3319272" y="5239512"/>
            <a:ext cx="539496" cy="539496"/>
          </a:xfrm>
          <a:prstGeom prst="rect">
            <a:avLst/>
          </a:prstGeom>
          <a:solidFill>
            <a:srgbClr val="3A3A3A"/>
          </a:solidFill>
          <a:ln w="6350">
            <a:solidFill>
              <a:srgbClr val="CFE3E2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3319272" y="5239512"/>
            <a:ext cx="5394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E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58</a:t>
            </a:r>
            <a:endParaRPr lang="en-US" sz="1000" dirty="0"/>
          </a:p>
        </p:txBody>
      </p:sp>
      <p:sp>
        <p:nvSpPr>
          <p:cNvPr id="57" name="Text 55"/>
          <p:cNvSpPr txBox="1"/>
          <p:nvPr/>
        </p:nvSpPr>
        <p:spPr>
          <a:xfrm>
            <a:off x="914400" y="5943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數字越大 = 越亮 (0 黑 → 255 白)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5943600" y="2286000"/>
            <a:ext cx="5577840" cy="3749040"/>
          </a:xfrm>
          <a:prstGeom prst="roundRect">
            <a:avLst>
              <a:gd name="adj" fmla="val 2439"/>
            </a:avLst>
          </a:prstGeom>
          <a:solidFill>
            <a:srgbClr val="0B3D4A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59" name="Text 57"/>
          <p:cNvSpPr txBox="1"/>
          <p:nvPr/>
        </p:nvSpPr>
        <p:spPr>
          <a:xfrm>
            <a:off x="6217920" y="24688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彩色 = 三張這樣的表疊起來</a:t>
            </a:r>
            <a:endParaRPr lang="en-US" sz="1500" dirty="0"/>
          </a:p>
        </p:txBody>
      </p:sp>
      <p:sp>
        <p:nvSpPr>
          <p:cNvPr id="60" name="Shape 58"/>
          <p:cNvSpPr/>
          <p:nvPr/>
        </p:nvSpPr>
        <p:spPr>
          <a:xfrm>
            <a:off x="6400800" y="3200400"/>
            <a:ext cx="1554480" cy="1554480"/>
          </a:xfrm>
          <a:prstGeom prst="roundRect">
            <a:avLst>
              <a:gd name="adj" fmla="val 3529"/>
            </a:avLst>
          </a:prstGeom>
          <a:solidFill>
            <a:srgbClr val="FF6B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6492240" y="327355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800" dirty="0"/>
          </a:p>
        </p:txBody>
      </p:sp>
      <p:sp>
        <p:nvSpPr>
          <p:cNvPr id="62" name="Shape 60"/>
          <p:cNvSpPr/>
          <p:nvPr/>
        </p:nvSpPr>
        <p:spPr>
          <a:xfrm>
            <a:off x="6720840" y="3376422"/>
            <a:ext cx="1554480" cy="1554480"/>
          </a:xfrm>
          <a:prstGeom prst="roundRect">
            <a:avLst>
              <a:gd name="adj" fmla="val 3529"/>
            </a:avLst>
          </a:prstGeom>
          <a:solidFill>
            <a:srgbClr val="3AAF5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6812280" y="344957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7040880" y="3552444"/>
            <a:ext cx="1554480" cy="1554480"/>
          </a:xfrm>
          <a:prstGeom prst="roundRect">
            <a:avLst>
              <a:gd name="adj" fmla="val 3529"/>
            </a:avLst>
          </a:prstGeom>
          <a:solidFill>
            <a:srgbClr val="13849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7132320" y="362559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800" dirty="0"/>
          </a:p>
        </p:txBody>
      </p:sp>
      <p:sp>
        <p:nvSpPr>
          <p:cNvPr id="66" name="Text 64"/>
          <p:cNvSpPr txBox="1"/>
          <p:nvPr/>
        </p:nvSpPr>
        <p:spPr>
          <a:xfrm>
            <a:off x="8595360" y="324612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E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紅、綠、藍三個「通道」(channel),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E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每個通道都是一整張亮度表。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6217920" y="5074920"/>
            <a:ext cx="5029200" cy="777240"/>
          </a:xfrm>
          <a:prstGeom prst="roundRect">
            <a:avLst>
              <a:gd name="adj" fmla="val 9412"/>
            </a:avLst>
          </a:prstGeom>
          <a:solidFill>
            <a:srgbClr val="0E2A32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6400800" y="51389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E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一張影像 = </a:t>
            </a:r>
            <a:pPr indent="0" marL="0">
              <a:buNone/>
            </a:pPr>
            <a:r>
              <a:rPr lang="en-US" sz="1400" b="1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 × 寬 × 3</a:t>
            </a:r>
            <a:pPr indent="0" marL="0">
              <a:buNone/>
            </a:pPr>
            <a:r>
              <a:rPr lang="en-US" sz="1400" dirty="0">
                <a:solidFill>
                  <a:srgbClr val="DE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的數字方塊 (tensor)</a:t>
            </a:r>
            <a:endParaRPr lang="en-US" sz="1400" dirty="0"/>
          </a:p>
        </p:txBody>
      </p:sp>
      <p:sp>
        <p:nvSpPr>
          <p:cNvPr id="69" name="Text 67"/>
          <p:cNvSpPr txBox="1"/>
          <p:nvPr/>
        </p:nvSpPr>
        <p:spPr>
          <a:xfrm>
            <a:off x="6400800" y="54864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FC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影片 = 一連串這樣的方塊,一格一格處理</a:t>
            </a:r>
            <a:endParaRPr lang="en-US" sz="1100" dirty="0"/>
          </a:p>
        </p:txBody>
      </p:sp>
      <p:sp>
        <p:nvSpPr>
          <p:cNvPr id="70" name="Text 68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E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8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背景知識 · BACKGROUND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座標系統:電腦怎麼描述「位置」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64208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關節位置用 (x, y) 表示,但電腦的座標和數學課的不一樣——實作時最常搞混這裡。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34924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1600" y="2880360"/>
            <a:ext cx="3566160" cy="2651760"/>
          </a:xfrm>
          <a:prstGeom prst="rect">
            <a:avLst/>
          </a:prstGeom>
          <a:solidFill>
            <a:srgbClr val="F0F6F6"/>
          </a:solidFill>
          <a:ln w="12700">
            <a:solidFill>
              <a:srgbClr val="5A6B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9304" y="2798064"/>
            <a:ext cx="164592" cy="164592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34440" y="2514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(0,0) 原點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371600" y="2880360"/>
            <a:ext cx="3840480" cy="0"/>
          </a:xfrm>
          <a:prstGeom prst="line">
            <a:avLst/>
          </a:prstGeom>
          <a:noFill/>
          <a:ln w="25400">
            <a:solidFill>
              <a:srgbClr val="0B3D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12080" y="2880360"/>
            <a:ext cx="-109728" cy="-73152"/>
          </a:xfrm>
          <a:prstGeom prst="line">
            <a:avLst/>
          </a:prstGeom>
          <a:noFill/>
          <a:ln w="25400">
            <a:solidFill>
              <a:srgbClr val="0B3D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12080" y="2880360"/>
            <a:ext cx="-109728" cy="73152"/>
          </a:xfrm>
          <a:prstGeom prst="line">
            <a:avLst/>
          </a:prstGeom>
          <a:noFill/>
          <a:ln w="25400">
            <a:solidFill>
              <a:srgbClr val="0B3D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63440" y="25603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→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371600" y="2880360"/>
            <a:ext cx="0" cy="2926080"/>
          </a:xfrm>
          <a:prstGeom prst="line">
            <a:avLst/>
          </a:prstGeom>
          <a:noFill/>
          <a:ln w="25400">
            <a:solidFill>
              <a:srgbClr val="0B3D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71600" y="5806440"/>
            <a:ext cx="-73152" cy="-109728"/>
          </a:xfrm>
          <a:prstGeom prst="line">
            <a:avLst/>
          </a:prstGeom>
          <a:noFill/>
          <a:ln w="25400">
            <a:solidFill>
              <a:srgbClr val="0B3D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71600" y="5806440"/>
            <a:ext cx="73152" cy="-109728"/>
          </a:xfrm>
          <a:prstGeom prst="line">
            <a:avLst/>
          </a:prstGeom>
          <a:noFill/>
          <a:ln w="25400">
            <a:solidFill>
              <a:srgbClr val="0B3D4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54406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↓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491179" y="3982212"/>
            <a:ext cx="182880" cy="182880"/>
          </a:xfrm>
          <a:prstGeom prst="ellipse">
            <a:avLst/>
          </a:prstGeom>
          <a:solidFill>
            <a:srgbClr val="138496"/>
          </a:solidFill>
          <a:ln/>
        </p:spPr>
      </p:sp>
      <p:sp>
        <p:nvSpPr>
          <p:cNvPr id="18" name="Shape 16"/>
          <p:cNvSpPr/>
          <p:nvPr/>
        </p:nvSpPr>
        <p:spPr>
          <a:xfrm>
            <a:off x="1371600" y="4073652"/>
            <a:ext cx="2211019" cy="0"/>
          </a:xfrm>
          <a:prstGeom prst="line">
            <a:avLst/>
          </a:prstGeom>
          <a:noFill/>
          <a:ln w="12700">
            <a:solidFill>
              <a:srgbClr val="3AAFA9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3582619" y="2880360"/>
            <a:ext cx="0" cy="1193292"/>
          </a:xfrm>
          <a:prstGeom prst="line">
            <a:avLst/>
          </a:prstGeom>
          <a:noFill/>
          <a:ln w="12700">
            <a:solidFill>
              <a:srgbClr val="3AAFA9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3719779" y="39822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8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關節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56235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原點在左上角,y 軸「向下」為正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72200" y="2286000"/>
            <a:ext cx="5349240" cy="3749040"/>
          </a:xfrm>
          <a:prstGeom prst="roundRect">
            <a:avLst>
              <a:gd name="adj" fmla="val 2439"/>
            </a:avLst>
          </a:prstGeom>
          <a:solidFill>
            <a:srgbClr val="0B3D4A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46520" y="2606040"/>
            <a:ext cx="566928" cy="566928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3921" y="2753441"/>
            <a:ext cx="272125" cy="272125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7178040" y="258775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原點在左上、y 往下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7178040" y="2907792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FC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和數學課(原點在左下、y 往上)相反,別畫顛倒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446520" y="3657600"/>
            <a:ext cx="566928" cy="566928"/>
          </a:xfrm>
          <a:prstGeom prst="ellipse">
            <a:avLst/>
          </a:prstGeom>
          <a:solidFill>
            <a:srgbClr val="138496"/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3921" y="3805001"/>
            <a:ext cx="272125" cy="272125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7178040" y="363931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兩種寫法:像素 vs 正規化</a:t>
            </a:r>
            <a:endParaRPr lang="en-US" sz="1400" dirty="0"/>
          </a:p>
        </p:txBody>
      </p:sp>
      <p:sp>
        <p:nvSpPr>
          <p:cNvPr id="30" name="Text 26"/>
          <p:cNvSpPr txBox="1"/>
          <p:nvPr/>
        </p:nvSpPr>
        <p:spPr>
          <a:xfrm>
            <a:off x="7178040" y="3959352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FC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像素:(253, 118);正規化:(0.4, 0.6),不管圖多大都在 0~1</a:t>
            </a:r>
            <a:endParaRPr lang="en-US" sz="1150" dirty="0"/>
          </a:p>
        </p:txBody>
      </p:sp>
      <p:sp>
        <p:nvSpPr>
          <p:cNvPr id="31" name="Shape 27"/>
          <p:cNvSpPr/>
          <p:nvPr/>
        </p:nvSpPr>
        <p:spPr>
          <a:xfrm>
            <a:off x="6446520" y="4709160"/>
            <a:ext cx="566928" cy="566928"/>
          </a:xfrm>
          <a:prstGeom prst="ellipse">
            <a:avLst/>
          </a:prstGeom>
          <a:solidFill>
            <a:srgbClr val="3AAFA9"/>
          </a:solidFill>
          <a:ln/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3921" y="4856561"/>
            <a:ext cx="272125" cy="272125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7178040" y="469087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為何用正規化</a:t>
            </a:r>
            <a:endParaRPr lang="en-US" sz="1400" dirty="0"/>
          </a:p>
        </p:txBody>
      </p:sp>
      <p:sp>
        <p:nvSpPr>
          <p:cNvPr id="34" name="Text 29"/>
          <p:cNvSpPr txBox="1"/>
          <p:nvPr/>
        </p:nvSpPr>
        <p:spPr>
          <a:xfrm>
            <a:off x="7178040" y="5010912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FC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圖片縮放後座標不變,MediaPipe 就是輸出 0~1 的值</a:t>
            </a:r>
            <a:endParaRPr lang="en-US" sz="1150" dirty="0"/>
          </a:p>
        </p:txBody>
      </p:sp>
      <p:sp>
        <p:nvSpPr>
          <p:cNvPr id="35" name="Text 30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DE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8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多人怎麼辦?兩種思路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5780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48840"/>
            <a:ext cx="777240" cy="777240"/>
          </a:xfrm>
          <a:prstGeom prst="ellipse">
            <a:avLst/>
          </a:prstGeom>
          <a:solidFill>
            <a:srgbClr val="0B3D4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482" y="2350922"/>
            <a:ext cx="373075" cy="37307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28800" y="21945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Top-down 由上而下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1828800" y="26060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先偵測每個人 → 再對每個框各自估姿態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3246120"/>
            <a:ext cx="47548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E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精度高,單人框內乾淨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E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概念簡單、易上手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人越多越慢 (每人跑一次)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偵測錯了就全錯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263640" y="1874520"/>
            <a:ext cx="5257800" cy="4023360"/>
          </a:xfrm>
          <a:prstGeom prst="roundRect">
            <a:avLst>
              <a:gd name="adj" fmla="val 2273"/>
            </a:avLst>
          </a:prstGeom>
          <a:solidFill>
            <a:srgbClr val="0B3D4A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37960" y="2148840"/>
            <a:ext cx="777240" cy="777240"/>
          </a:xfrm>
          <a:prstGeom prst="ellipse">
            <a:avLst/>
          </a:prstGeom>
          <a:solidFill>
            <a:srgbClr val="13849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0042" y="2350922"/>
            <a:ext cx="373075" cy="37307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452360" y="21945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Bottom-up 由下而上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7452360" y="26060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C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先找出所有關節 → 再把點「分組」給不同人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6537960" y="3246120"/>
            <a:ext cx="47548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8FE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速度與人數無關,適合多人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8FE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一次前傳搞定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「分組」是難題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實作較複雜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8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背景知識 · BACKGROUND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問題定義裡的「難」在哪?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64208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姿態估計聽起來單純,但真實世界有一堆讓它變難的狀況——這些決定了方法為何越做越複雜。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F0F6F6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578608"/>
            <a:ext cx="777240" cy="77724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482" y="2780690"/>
            <a:ext cx="373075" cy="37307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828800" y="26060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遮擋 Occlusion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333756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關節被身體、物體或別人擋住,看不到也要「猜」出來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89120" y="228600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DEF2F1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2578608"/>
            <a:ext cx="777240" cy="777240"/>
          </a:xfrm>
          <a:prstGeom prst="ellipse">
            <a:avLst/>
          </a:prstGeom>
          <a:solidFill>
            <a:srgbClr val="0B3D4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5522" y="2780690"/>
            <a:ext cx="373075" cy="37307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577840" y="26060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多人 Multi-person</a:t>
            </a:r>
            <a:endParaRPr lang="en-US" sz="1450" dirty="0"/>
          </a:p>
        </p:txBody>
      </p:sp>
      <p:sp>
        <p:nvSpPr>
          <p:cNvPr id="14" name="Text 10"/>
          <p:cNvSpPr txBox="1"/>
          <p:nvPr/>
        </p:nvSpPr>
        <p:spPr>
          <a:xfrm>
            <a:off x="4709160" y="333756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畫面多人時,關節該分給誰?重疊時更難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138160" y="228600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F0F6F6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12480" y="2578608"/>
            <a:ext cx="777240" cy="777240"/>
          </a:xfrm>
          <a:prstGeom prst="ellipse">
            <a:avLst/>
          </a:prstGeom>
          <a:solidFill>
            <a:srgbClr val="13849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4562" y="2780690"/>
            <a:ext cx="373075" cy="37307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326880" y="26060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尺度變化 Scale</a:t>
            </a:r>
            <a:endParaRPr lang="en-US" sz="1450" dirty="0"/>
          </a:p>
        </p:txBody>
      </p:sp>
      <p:sp>
        <p:nvSpPr>
          <p:cNvPr id="19" name="Text 14"/>
          <p:cNvSpPr txBox="1"/>
          <p:nvPr/>
        </p:nvSpPr>
        <p:spPr>
          <a:xfrm>
            <a:off x="8458200" y="333756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有人離鏡頭近、有人遠,同一關節大小差很多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40080" y="4315968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DEF2F1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14400" y="4608576"/>
            <a:ext cx="777240" cy="777240"/>
          </a:xfrm>
          <a:prstGeom prst="ellipse">
            <a:avLst/>
          </a:prstGeom>
          <a:solidFill>
            <a:srgbClr val="3AAFA9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482" y="4810658"/>
            <a:ext cx="373075" cy="373075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828800" y="4636008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深度歧義 Depth</a:t>
            </a:r>
            <a:endParaRPr lang="en-US" sz="1450" dirty="0"/>
          </a:p>
        </p:txBody>
      </p:sp>
      <p:sp>
        <p:nvSpPr>
          <p:cNvPr id="24" name="Text 18"/>
          <p:cNvSpPr txBox="1"/>
          <p:nvPr/>
        </p:nvSpPr>
        <p:spPr>
          <a:xfrm>
            <a:off x="960120" y="5367528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影像丟失深度,同一投影可能對應多種 3D 姿勢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389120" y="4315968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F0F6F6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663440" y="4608576"/>
            <a:ext cx="777240" cy="777240"/>
          </a:xfrm>
          <a:prstGeom prst="ellipse">
            <a:avLst/>
          </a:prstGeom>
          <a:solidFill>
            <a:srgbClr val="F5B841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5522" y="4810658"/>
            <a:ext cx="373075" cy="373075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5577840" y="4636008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動態模糊 Motion</a:t>
            </a:r>
            <a:endParaRPr lang="en-US" sz="1450" dirty="0"/>
          </a:p>
        </p:txBody>
      </p:sp>
      <p:sp>
        <p:nvSpPr>
          <p:cNvPr id="29" name="Text 22"/>
          <p:cNvSpPr txBox="1"/>
          <p:nvPr/>
        </p:nvSpPr>
        <p:spPr>
          <a:xfrm>
            <a:off x="4709160" y="5367528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快速動作在影片中糊掉,邊緣不清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8138160" y="4315968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DEF2F1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412480" y="4608576"/>
            <a:ext cx="777240" cy="77724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4562" y="4810658"/>
            <a:ext cx="373075" cy="373075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9326880" y="4636008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罕見姿勢 Pose</a:t>
            </a:r>
            <a:endParaRPr lang="en-US" sz="1450" dirty="0"/>
          </a:p>
        </p:txBody>
      </p:sp>
      <p:sp>
        <p:nvSpPr>
          <p:cNvPr id="34" name="Text 26"/>
          <p:cNvSpPr txBox="1"/>
          <p:nvPr/>
        </p:nvSpPr>
        <p:spPr>
          <a:xfrm>
            <a:off x="8458200" y="5367528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瑜伽、體操等極端姿勢,訓練資料少見</a:t>
            </a:r>
            <a:endParaRPr lang="en-US" sz="1100" dirty="0"/>
          </a:p>
        </p:txBody>
      </p:sp>
      <p:sp>
        <p:nvSpPr>
          <p:cNvPr id="35" name="Text 27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3D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9456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1384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2468880" y="24688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最簡單的解法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2514600" y="3337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先建立一個「夠用就好」的心智模型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14600" y="3886200"/>
            <a:ext cx="2286000" cy="0"/>
          </a:xfrm>
          <a:prstGeom prst="line">
            <a:avLst/>
          </a:prstGeom>
          <a:noFill/>
          <a:ln w="38100">
            <a:solidFill>
              <a:srgbClr val="FF6B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8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BASELINE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方法一:直接回歸座標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把整張圖丟進 CNN,直接讓它輸出 K×2 個數字 (每個關節的 x,y)。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2468880"/>
            <a:ext cx="2103120" cy="1554480"/>
          </a:xfrm>
          <a:prstGeom prst="roundRect">
            <a:avLst>
              <a:gd name="adj" fmla="val 5882"/>
            </a:avLst>
          </a:prstGeom>
          <a:solidFill>
            <a:srgbClr val="DEF2F1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81912" y="2724912"/>
            <a:ext cx="768096" cy="768096"/>
          </a:xfrm>
          <a:prstGeom prst="ellipse">
            <a:avLst/>
          </a:prstGeom>
          <a:solidFill>
            <a:srgbClr val="0B3D4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1617" y="2924617"/>
            <a:ext cx="368686" cy="36868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05840" y="35204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影像</a:t>
            </a:r>
            <a:endParaRPr lang="en-US" sz="16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3063240"/>
            <a:ext cx="320040" cy="3200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611880" y="2468880"/>
            <a:ext cx="2103120" cy="1554480"/>
          </a:xfrm>
          <a:prstGeom prst="roundRect">
            <a:avLst>
              <a:gd name="adj" fmla="val 5882"/>
            </a:avLst>
          </a:prstGeom>
          <a:solidFill>
            <a:srgbClr val="0B3D4A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279392" y="2724912"/>
            <a:ext cx="768096" cy="768096"/>
          </a:xfrm>
          <a:prstGeom prst="ellipse">
            <a:avLst/>
          </a:prstGeom>
          <a:solidFill>
            <a:srgbClr val="138496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9097" y="2924617"/>
            <a:ext cx="368686" cy="36868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703320" y="35204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</a:t>
            </a:r>
            <a:endParaRPr lang="en-US" sz="16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3063240"/>
            <a:ext cx="320040" cy="32004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6309360" y="2468880"/>
            <a:ext cx="2103120" cy="1554480"/>
          </a:xfrm>
          <a:prstGeom prst="roundRect">
            <a:avLst>
              <a:gd name="adj" fmla="val 5882"/>
            </a:avLst>
          </a:prstGeom>
          <a:solidFill>
            <a:srgbClr val="DEF2F1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6976872" y="2724912"/>
            <a:ext cx="768096" cy="768096"/>
          </a:xfrm>
          <a:prstGeom prst="ellipse">
            <a:avLst/>
          </a:prstGeom>
          <a:solidFill>
            <a:srgbClr val="0B3D4A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6577" y="2924617"/>
            <a:ext cx="368686" cy="368686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6400800" y="35204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 個數字</a:t>
            </a:r>
            <a:endParaRPr lang="en-US" sz="16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9640" y="3063240"/>
            <a:ext cx="320040" cy="32004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9006840" y="2468880"/>
            <a:ext cx="2103120" cy="1554480"/>
          </a:xfrm>
          <a:prstGeom prst="roundRect">
            <a:avLst>
              <a:gd name="adj" fmla="val 5882"/>
            </a:avLst>
          </a:prstGeom>
          <a:solidFill>
            <a:srgbClr val="DEF2F1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21" name="Shape 13"/>
          <p:cNvSpPr/>
          <p:nvPr/>
        </p:nvSpPr>
        <p:spPr>
          <a:xfrm>
            <a:off x="9674352" y="2724912"/>
            <a:ext cx="768096" cy="768096"/>
          </a:xfrm>
          <a:prstGeom prst="ellipse">
            <a:avLst/>
          </a:prstGeom>
          <a:solidFill>
            <a:srgbClr val="0B3D4A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74057" y="2924617"/>
            <a:ext cx="368686" cy="368686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9098280" y="35204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骨架</a:t>
            </a:r>
            <a:endParaRPr lang="en-US" sz="1600" dirty="0"/>
          </a:p>
        </p:txBody>
      </p:sp>
      <p:sp>
        <p:nvSpPr>
          <p:cNvPr id="24" name="Shape 15"/>
          <p:cNvSpPr/>
          <p:nvPr/>
        </p:nvSpPr>
        <p:spPr>
          <a:xfrm>
            <a:off x="914400" y="4434840"/>
            <a:ext cx="5120640" cy="1600200"/>
          </a:xfrm>
          <a:prstGeom prst="roundRect">
            <a:avLst>
              <a:gd name="adj" fmla="val 5714"/>
            </a:avLst>
          </a:prstGeom>
          <a:solidFill>
            <a:srgbClr val="DEF2F1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25" name="Text 16"/>
          <p:cNvSpPr txBox="1"/>
          <p:nvPr/>
        </p:nvSpPr>
        <p:spPr>
          <a:xfrm>
            <a:off x="1188720" y="4617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優點</a:t>
            </a:r>
            <a:endParaRPr lang="en-US" sz="1400" dirty="0"/>
          </a:p>
        </p:txBody>
      </p:sp>
      <p:sp>
        <p:nvSpPr>
          <p:cNvPr id="26" name="Text 17"/>
          <p:cNvSpPr txBox="1"/>
          <p:nvPr/>
        </p:nvSpPr>
        <p:spPr>
          <a:xfrm>
            <a:off x="1188720" y="498348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概念最直覺、實作最短、推論很快</a:t>
            </a:r>
            <a:endParaRPr lang="en-US" sz="1400" dirty="0"/>
          </a:p>
        </p:txBody>
      </p:sp>
      <p:sp>
        <p:nvSpPr>
          <p:cNvPr id="27" name="Shape 18"/>
          <p:cNvSpPr/>
          <p:nvPr/>
        </p:nvSpPr>
        <p:spPr>
          <a:xfrm>
            <a:off x="6309360" y="4434840"/>
            <a:ext cx="5212080" cy="1600200"/>
          </a:xfrm>
          <a:prstGeom prst="roundRect">
            <a:avLst>
              <a:gd name="adj" fmla="val 5714"/>
            </a:avLst>
          </a:prstGeom>
          <a:solidFill>
            <a:srgbClr val="FDECE8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28" name="Text 19"/>
          <p:cNvSpPr txBox="1"/>
          <p:nvPr/>
        </p:nvSpPr>
        <p:spPr>
          <a:xfrm>
            <a:off x="6583680" y="4617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缺點</a:t>
            </a:r>
            <a:endParaRPr lang="en-US" sz="1400" dirty="0"/>
          </a:p>
        </p:txBody>
      </p:sp>
      <p:sp>
        <p:nvSpPr>
          <p:cNvPr id="29" name="Text 20"/>
          <p:cNvSpPr txBox="1"/>
          <p:nvPr/>
        </p:nvSpPr>
        <p:spPr>
          <a:xfrm>
            <a:off x="6583680" y="498348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「一個座標」很難學、對位置敏感,精度普遍不佳</a:t>
            </a:r>
            <a:endParaRPr lang="en-US" sz="1400" dirty="0"/>
          </a:p>
        </p:txBody>
      </p:sp>
      <p:sp>
        <p:nvSpPr>
          <p:cNvPr id="30" name="Text 21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8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BASELINE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補充:CNN 為什麼能「吐出數字」?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64208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關鍵在最後幾層 —— 前面萃取特徵,最後用全連接層把特徵「壓成」你要的幾個數字。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2487168" cy="1828800"/>
          </a:xfrm>
          <a:prstGeom prst="roundRect">
            <a:avLst>
              <a:gd name="adj" fmla="val 5000"/>
            </a:avLst>
          </a:prstGeom>
          <a:solidFill>
            <a:srgbClr val="DEF2F1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99616" y="2587752"/>
            <a:ext cx="768096" cy="768096"/>
          </a:xfrm>
          <a:prstGeom prst="ellipse">
            <a:avLst/>
          </a:prstGeom>
          <a:solidFill>
            <a:srgbClr val="0B3D4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9321" y="2787457"/>
            <a:ext cx="368686" cy="36868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3355848"/>
            <a:ext cx="23042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輸入影像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3685032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一堆像素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(H×W×3)</a:t>
            </a:r>
            <a:endParaRPr lang="en-US" sz="10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820" y="3017520"/>
            <a:ext cx="237744" cy="23774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383280" y="2331720"/>
            <a:ext cx="2487168" cy="1828800"/>
          </a:xfrm>
          <a:prstGeom prst="roundRect">
            <a:avLst>
              <a:gd name="adj" fmla="val 5000"/>
            </a:avLst>
          </a:prstGeom>
          <a:solidFill>
            <a:srgbClr val="DEF2F1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242816" y="2587752"/>
            <a:ext cx="768096" cy="768096"/>
          </a:xfrm>
          <a:prstGeom prst="ellipse">
            <a:avLst/>
          </a:prstGeom>
          <a:solidFill>
            <a:srgbClr val="0B3D4A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2521" y="2787457"/>
            <a:ext cx="368686" cy="36868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474720" y="3355848"/>
            <a:ext cx="23042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卷積層堆疊</a:t>
            </a:r>
            <a:endParaRPr lang="en-US" sz="1450" dirty="0"/>
          </a:p>
        </p:txBody>
      </p:sp>
      <p:sp>
        <p:nvSpPr>
          <p:cNvPr id="15" name="Text 10"/>
          <p:cNvSpPr txBox="1"/>
          <p:nvPr/>
        </p:nvSpPr>
        <p:spPr>
          <a:xfrm>
            <a:off x="3493008" y="3685032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逐層萃取特徵: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邊緣→部位→姿態</a:t>
            </a:r>
            <a:endParaRPr lang="en-US" sz="10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5020" y="3017520"/>
            <a:ext cx="237744" cy="237744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126480" y="2331720"/>
            <a:ext cx="2487168" cy="1828800"/>
          </a:xfrm>
          <a:prstGeom prst="roundRect">
            <a:avLst>
              <a:gd name="adj" fmla="val 5000"/>
            </a:avLst>
          </a:prstGeom>
          <a:solidFill>
            <a:srgbClr val="DEF2F1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6986016" y="2587752"/>
            <a:ext cx="768096" cy="768096"/>
          </a:xfrm>
          <a:prstGeom prst="ellipse">
            <a:avLst/>
          </a:prstGeom>
          <a:solidFill>
            <a:srgbClr val="0B3D4A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5721" y="2787457"/>
            <a:ext cx="368686" cy="368686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217920" y="3355848"/>
            <a:ext cx="23042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攤平 Flatten</a:t>
            </a:r>
            <a:endParaRPr lang="en-US" sz="1450" dirty="0"/>
          </a:p>
        </p:txBody>
      </p:sp>
      <p:sp>
        <p:nvSpPr>
          <p:cNvPr id="21" name="Text 14"/>
          <p:cNvSpPr txBox="1"/>
          <p:nvPr/>
        </p:nvSpPr>
        <p:spPr>
          <a:xfrm>
            <a:off x="6236208" y="3685032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把特徵圖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拉成一長串數字</a:t>
            </a:r>
            <a:endParaRPr lang="en-US" sz="105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8220" y="3017520"/>
            <a:ext cx="237744" cy="237744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8869680" y="2331720"/>
            <a:ext cx="2487168" cy="1828800"/>
          </a:xfrm>
          <a:prstGeom prst="roundRect">
            <a:avLst>
              <a:gd name="adj" fmla="val 5000"/>
            </a:avLst>
          </a:prstGeom>
          <a:solidFill>
            <a:srgbClr val="0B3D4A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9729216" y="2587752"/>
            <a:ext cx="768096" cy="768096"/>
          </a:xfrm>
          <a:prstGeom prst="ellipse">
            <a:avLst/>
          </a:prstGeom>
          <a:solidFill>
            <a:srgbClr val="138496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8921" y="2787457"/>
            <a:ext cx="368686" cy="368686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8961120" y="3355848"/>
            <a:ext cx="23042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全連接層</a:t>
            </a:r>
            <a:endParaRPr lang="en-US" sz="1450" dirty="0"/>
          </a:p>
        </p:txBody>
      </p:sp>
      <p:sp>
        <p:nvSpPr>
          <p:cNvPr id="27" name="Text 18"/>
          <p:cNvSpPr txBox="1"/>
          <p:nvPr/>
        </p:nvSpPr>
        <p:spPr>
          <a:xfrm>
            <a:off x="8979408" y="3685032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DE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線性組合輸出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DE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剛好 2K 個數字</a:t>
            </a:r>
            <a:endParaRPr lang="en-US" sz="1050" dirty="0"/>
          </a:p>
        </p:txBody>
      </p:sp>
      <p:sp>
        <p:nvSpPr>
          <p:cNvPr id="28" name="Shape 19"/>
          <p:cNvSpPr/>
          <p:nvPr/>
        </p:nvSpPr>
        <p:spPr>
          <a:xfrm>
            <a:off x="640080" y="4526280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E8F3F2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29" name="Text 20"/>
          <p:cNvSpPr txBox="1"/>
          <p:nvPr/>
        </p:nvSpPr>
        <p:spPr>
          <a:xfrm>
            <a:off x="914400" y="472744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這其實就是「回歸」</a:t>
            </a:r>
            <a:endParaRPr lang="en-US" sz="1500" dirty="0"/>
          </a:p>
        </p:txBody>
      </p:sp>
      <p:sp>
        <p:nvSpPr>
          <p:cNvPr id="30" name="Text 21"/>
          <p:cNvSpPr txBox="1"/>
          <p:nvPr/>
        </p:nvSpPr>
        <p:spPr>
          <a:xfrm>
            <a:off x="914400" y="509320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和「用過去股價預測明天股價」是同一件事:</a:t>
            </a:r>
            <a:endParaRPr lang="en-US" sz="115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5486400"/>
            <a:ext cx="2734833" cy="475488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914400" y="59436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輸入一串數字 → 輸出一個連續數值</a:t>
            </a:r>
            <a:endParaRPr lang="en-US" sz="1050" dirty="0"/>
          </a:p>
        </p:txBody>
      </p:sp>
      <p:sp>
        <p:nvSpPr>
          <p:cNvPr id="33" name="Shape 23"/>
          <p:cNvSpPr/>
          <p:nvPr/>
        </p:nvSpPr>
        <p:spPr>
          <a:xfrm>
            <a:off x="6172200" y="4526280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0B3D4A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34" name="Text 24"/>
          <p:cNvSpPr txBox="1"/>
          <p:nvPr/>
        </p:nvSpPr>
        <p:spPr>
          <a:xfrm>
            <a:off x="6446520" y="472744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姿態估計只是輸出更多數字</a:t>
            </a:r>
            <a:endParaRPr lang="en-US" sz="1500" dirty="0"/>
          </a:p>
        </p:txBody>
      </p:sp>
      <p:sp>
        <p:nvSpPr>
          <p:cNvPr id="35" name="Text 25"/>
          <p:cNvSpPr txBox="1"/>
          <p:nvPr/>
        </p:nvSpPr>
        <p:spPr>
          <a:xfrm>
            <a:off x="6446520" y="509320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C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把「一個數值」換成「2K 個座標值」:</a:t>
            </a:r>
            <a:endParaRPr lang="en-US" sz="1150" dirty="0"/>
          </a:p>
        </p:txBody>
      </p:sp>
      <p:sp>
        <p:nvSpPr>
          <p:cNvPr id="36" name="Shape 26"/>
          <p:cNvSpPr/>
          <p:nvPr/>
        </p:nvSpPr>
        <p:spPr>
          <a:xfrm>
            <a:off x="6446520" y="5440680"/>
            <a:ext cx="3165348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/>
        </p:spPr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3680" y="5513832"/>
            <a:ext cx="2891028" cy="384048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DE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8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BASELINE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方法二:熱圖 Heatmap(主流骨幹)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不直接猜座標,而是為每個關節畫一張「機率地圖」,最亮的地方就是關節。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94360" y="2286000"/>
            <a:ext cx="3145536" cy="3145536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514600"/>
            <a:ext cx="365760" cy="365760"/>
          </a:xfrm>
          <a:prstGeom prst="rect">
            <a:avLst/>
          </a:prstGeom>
          <a:solidFill>
            <a:srgbClr val="DEF2F1"/>
          </a:solidFill>
          <a:ln/>
        </p:spPr>
      </p:sp>
      <p:sp>
        <p:nvSpPr>
          <p:cNvPr id="7" name="Shape 5"/>
          <p:cNvSpPr/>
          <p:nvPr/>
        </p:nvSpPr>
        <p:spPr>
          <a:xfrm>
            <a:off x="1207008" y="2514600"/>
            <a:ext cx="365760" cy="365760"/>
          </a:xfrm>
          <a:prstGeom prst="rect">
            <a:avLst/>
          </a:prstGeom>
          <a:solidFill>
            <a:srgbClr val="DEF2F1"/>
          </a:solidFill>
          <a:ln/>
        </p:spPr>
      </p:sp>
      <p:sp>
        <p:nvSpPr>
          <p:cNvPr id="8" name="Shape 6"/>
          <p:cNvSpPr/>
          <p:nvPr/>
        </p:nvSpPr>
        <p:spPr>
          <a:xfrm>
            <a:off x="1591056" y="2514600"/>
            <a:ext cx="365760" cy="365760"/>
          </a:xfrm>
          <a:prstGeom prst="rect">
            <a:avLst/>
          </a:prstGeom>
          <a:solidFill>
            <a:srgbClr val="E2E2DE"/>
          </a:solidFill>
          <a:ln/>
        </p:spPr>
      </p:sp>
      <p:sp>
        <p:nvSpPr>
          <p:cNvPr id="9" name="Shape 7"/>
          <p:cNvSpPr/>
          <p:nvPr/>
        </p:nvSpPr>
        <p:spPr>
          <a:xfrm>
            <a:off x="1975104" y="2514600"/>
            <a:ext cx="365760" cy="365760"/>
          </a:xfrm>
          <a:prstGeom prst="rect">
            <a:avLst/>
          </a:prstGeom>
          <a:solidFill>
            <a:srgbClr val="E8C9BF"/>
          </a:solidFill>
          <a:ln/>
        </p:spPr>
      </p:sp>
      <p:sp>
        <p:nvSpPr>
          <p:cNvPr id="10" name="Shape 8"/>
          <p:cNvSpPr/>
          <p:nvPr/>
        </p:nvSpPr>
        <p:spPr>
          <a:xfrm>
            <a:off x="2359152" y="2514600"/>
            <a:ext cx="365760" cy="365760"/>
          </a:xfrm>
          <a:prstGeom prst="rect">
            <a:avLst/>
          </a:prstGeom>
          <a:solidFill>
            <a:srgbClr val="EABFB2"/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0" y="2514600"/>
            <a:ext cx="365760" cy="365760"/>
          </a:xfrm>
          <a:prstGeom prst="rect">
            <a:avLst/>
          </a:prstGeom>
          <a:solidFill>
            <a:srgbClr val="E8C9BF"/>
          </a:solidFill>
          <a:ln/>
        </p:spPr>
      </p:sp>
      <p:sp>
        <p:nvSpPr>
          <p:cNvPr id="12" name="Shape 10"/>
          <p:cNvSpPr/>
          <p:nvPr/>
        </p:nvSpPr>
        <p:spPr>
          <a:xfrm>
            <a:off x="3127248" y="2514600"/>
            <a:ext cx="365760" cy="365760"/>
          </a:xfrm>
          <a:prstGeom prst="rect">
            <a:avLst/>
          </a:prstGeom>
          <a:solidFill>
            <a:srgbClr val="E2E2D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2898648"/>
            <a:ext cx="365760" cy="365760"/>
          </a:xfrm>
          <a:prstGeom prst="rect">
            <a:avLst/>
          </a:prstGeom>
          <a:solidFill>
            <a:srgbClr val="DEF2F1"/>
          </a:solidFill>
          <a:ln/>
        </p:spPr>
      </p:sp>
      <p:sp>
        <p:nvSpPr>
          <p:cNvPr id="14" name="Shape 12"/>
          <p:cNvSpPr/>
          <p:nvPr/>
        </p:nvSpPr>
        <p:spPr>
          <a:xfrm>
            <a:off x="1207008" y="2898648"/>
            <a:ext cx="365760" cy="365760"/>
          </a:xfrm>
          <a:prstGeom prst="rect">
            <a:avLst/>
          </a:prstGeom>
          <a:solidFill>
            <a:srgbClr val="DEF0EF"/>
          </a:solidFill>
          <a:ln/>
        </p:spPr>
      </p:sp>
      <p:sp>
        <p:nvSpPr>
          <p:cNvPr id="15" name="Shape 13"/>
          <p:cNvSpPr/>
          <p:nvPr/>
        </p:nvSpPr>
        <p:spPr>
          <a:xfrm>
            <a:off x="1591056" y="2898648"/>
            <a:ext cx="365760" cy="365760"/>
          </a:xfrm>
          <a:prstGeom prst="rect">
            <a:avLst/>
          </a:prstGeom>
          <a:solidFill>
            <a:srgbClr val="E8C9BF"/>
          </a:solidFill>
          <a:ln/>
        </p:spPr>
      </p:sp>
      <p:sp>
        <p:nvSpPr>
          <p:cNvPr id="16" name="Shape 14"/>
          <p:cNvSpPr/>
          <p:nvPr/>
        </p:nvSpPr>
        <p:spPr>
          <a:xfrm>
            <a:off x="1975104" y="2898648"/>
            <a:ext cx="365760" cy="365760"/>
          </a:xfrm>
          <a:prstGeom prst="rect">
            <a:avLst/>
          </a:prstGeom>
          <a:solidFill>
            <a:srgbClr val="F0A794"/>
          </a:solidFill>
          <a:ln/>
        </p:spPr>
      </p:sp>
      <p:sp>
        <p:nvSpPr>
          <p:cNvPr id="17" name="Shape 15"/>
          <p:cNvSpPr/>
          <p:nvPr/>
        </p:nvSpPr>
        <p:spPr>
          <a:xfrm>
            <a:off x="2359152" y="2898648"/>
            <a:ext cx="365760" cy="365760"/>
          </a:xfrm>
          <a:prstGeom prst="rect">
            <a:avLst/>
          </a:prstGeom>
          <a:solidFill>
            <a:srgbClr val="F5957E"/>
          </a:solidFill>
          <a:ln/>
        </p:spPr>
      </p:sp>
      <p:sp>
        <p:nvSpPr>
          <p:cNvPr id="18" name="Shape 16"/>
          <p:cNvSpPr/>
          <p:nvPr/>
        </p:nvSpPr>
        <p:spPr>
          <a:xfrm>
            <a:off x="2743200" y="2898648"/>
            <a:ext cx="365760" cy="365760"/>
          </a:xfrm>
          <a:prstGeom prst="rect">
            <a:avLst/>
          </a:prstGeom>
          <a:solidFill>
            <a:srgbClr val="F0A794"/>
          </a:solidFill>
          <a:ln/>
        </p:spPr>
      </p:sp>
      <p:sp>
        <p:nvSpPr>
          <p:cNvPr id="19" name="Shape 17"/>
          <p:cNvSpPr/>
          <p:nvPr/>
        </p:nvSpPr>
        <p:spPr>
          <a:xfrm>
            <a:off x="3127248" y="2898648"/>
            <a:ext cx="365760" cy="365760"/>
          </a:xfrm>
          <a:prstGeom prst="rect">
            <a:avLst/>
          </a:prstGeom>
          <a:solidFill>
            <a:srgbClr val="E8C9BF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3282696"/>
            <a:ext cx="365760" cy="365760"/>
          </a:xfrm>
          <a:prstGeom prst="rect">
            <a:avLst/>
          </a:prstGeom>
          <a:solidFill>
            <a:srgbClr val="DEF2F1"/>
          </a:solidFill>
          <a:ln/>
        </p:spPr>
      </p:sp>
      <p:sp>
        <p:nvSpPr>
          <p:cNvPr id="21" name="Shape 19"/>
          <p:cNvSpPr/>
          <p:nvPr/>
        </p:nvSpPr>
        <p:spPr>
          <a:xfrm>
            <a:off x="1207008" y="3282696"/>
            <a:ext cx="365760" cy="365760"/>
          </a:xfrm>
          <a:prstGeom prst="rect">
            <a:avLst/>
          </a:prstGeom>
          <a:solidFill>
            <a:srgbClr val="E0EAE7"/>
          </a:solidFill>
          <a:ln/>
        </p:spPr>
      </p:sp>
      <p:sp>
        <p:nvSpPr>
          <p:cNvPr id="22" name="Shape 20"/>
          <p:cNvSpPr/>
          <p:nvPr/>
        </p:nvSpPr>
        <p:spPr>
          <a:xfrm>
            <a:off x="1591056" y="3282696"/>
            <a:ext cx="365760" cy="365760"/>
          </a:xfrm>
          <a:prstGeom prst="rect">
            <a:avLst/>
          </a:prstGeom>
          <a:solidFill>
            <a:srgbClr val="EABFB2"/>
          </a:solidFill>
          <a:ln/>
        </p:spPr>
      </p:sp>
      <p:sp>
        <p:nvSpPr>
          <p:cNvPr id="23" name="Shape 21"/>
          <p:cNvSpPr/>
          <p:nvPr/>
        </p:nvSpPr>
        <p:spPr>
          <a:xfrm>
            <a:off x="1975104" y="3282696"/>
            <a:ext cx="365760" cy="365760"/>
          </a:xfrm>
          <a:prstGeom prst="rect">
            <a:avLst/>
          </a:prstGeom>
          <a:solidFill>
            <a:srgbClr val="F5957E"/>
          </a:solidFill>
          <a:ln/>
        </p:spPr>
      </p:sp>
      <p:sp>
        <p:nvSpPr>
          <p:cNvPr id="24" name="Shape 22"/>
          <p:cNvSpPr/>
          <p:nvPr/>
        </p:nvSpPr>
        <p:spPr>
          <a:xfrm>
            <a:off x="2359152" y="3282696"/>
            <a:ext cx="365760" cy="365760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25" name="Shape 23"/>
          <p:cNvSpPr/>
          <p:nvPr/>
        </p:nvSpPr>
        <p:spPr>
          <a:xfrm>
            <a:off x="2743200" y="3282696"/>
            <a:ext cx="365760" cy="365760"/>
          </a:xfrm>
          <a:prstGeom prst="rect">
            <a:avLst/>
          </a:prstGeom>
          <a:solidFill>
            <a:srgbClr val="F5957E"/>
          </a:solidFill>
          <a:ln/>
        </p:spPr>
      </p:sp>
      <p:sp>
        <p:nvSpPr>
          <p:cNvPr id="26" name="Shape 24"/>
          <p:cNvSpPr/>
          <p:nvPr/>
        </p:nvSpPr>
        <p:spPr>
          <a:xfrm>
            <a:off x="3127248" y="3282696"/>
            <a:ext cx="365760" cy="365760"/>
          </a:xfrm>
          <a:prstGeom prst="rect">
            <a:avLst/>
          </a:prstGeom>
          <a:solidFill>
            <a:srgbClr val="EABFB2"/>
          </a:solidFill>
          <a:ln/>
        </p:spPr>
      </p:sp>
      <p:sp>
        <p:nvSpPr>
          <p:cNvPr id="27" name="Shape 25"/>
          <p:cNvSpPr/>
          <p:nvPr/>
        </p:nvSpPr>
        <p:spPr>
          <a:xfrm>
            <a:off x="822960" y="3666744"/>
            <a:ext cx="365760" cy="365760"/>
          </a:xfrm>
          <a:prstGeom prst="rect">
            <a:avLst/>
          </a:prstGeom>
          <a:solidFill>
            <a:srgbClr val="DEF2F1"/>
          </a:solidFill>
          <a:ln/>
        </p:spPr>
      </p:sp>
      <p:sp>
        <p:nvSpPr>
          <p:cNvPr id="28" name="Shape 26"/>
          <p:cNvSpPr/>
          <p:nvPr/>
        </p:nvSpPr>
        <p:spPr>
          <a:xfrm>
            <a:off x="1207008" y="3666744"/>
            <a:ext cx="365760" cy="365760"/>
          </a:xfrm>
          <a:prstGeom prst="rect">
            <a:avLst/>
          </a:prstGeom>
          <a:solidFill>
            <a:srgbClr val="DEF0EF"/>
          </a:solidFill>
          <a:ln/>
        </p:spPr>
      </p:sp>
      <p:sp>
        <p:nvSpPr>
          <p:cNvPr id="29" name="Shape 27"/>
          <p:cNvSpPr/>
          <p:nvPr/>
        </p:nvSpPr>
        <p:spPr>
          <a:xfrm>
            <a:off x="1591056" y="3666744"/>
            <a:ext cx="365760" cy="365760"/>
          </a:xfrm>
          <a:prstGeom prst="rect">
            <a:avLst/>
          </a:prstGeom>
          <a:solidFill>
            <a:srgbClr val="E8C9BF"/>
          </a:solidFill>
          <a:ln/>
        </p:spPr>
      </p:sp>
      <p:sp>
        <p:nvSpPr>
          <p:cNvPr id="30" name="Shape 28"/>
          <p:cNvSpPr/>
          <p:nvPr/>
        </p:nvSpPr>
        <p:spPr>
          <a:xfrm>
            <a:off x="1975104" y="3666744"/>
            <a:ext cx="365760" cy="365760"/>
          </a:xfrm>
          <a:prstGeom prst="rect">
            <a:avLst/>
          </a:prstGeom>
          <a:solidFill>
            <a:srgbClr val="F0A794"/>
          </a:solidFill>
          <a:ln/>
        </p:spPr>
      </p:sp>
      <p:sp>
        <p:nvSpPr>
          <p:cNvPr id="31" name="Shape 29"/>
          <p:cNvSpPr/>
          <p:nvPr/>
        </p:nvSpPr>
        <p:spPr>
          <a:xfrm>
            <a:off x="2359152" y="3666744"/>
            <a:ext cx="365760" cy="365760"/>
          </a:xfrm>
          <a:prstGeom prst="rect">
            <a:avLst/>
          </a:prstGeom>
          <a:solidFill>
            <a:srgbClr val="F5957E"/>
          </a:solidFill>
          <a:ln/>
        </p:spPr>
      </p:sp>
      <p:sp>
        <p:nvSpPr>
          <p:cNvPr id="32" name="Shape 30"/>
          <p:cNvSpPr/>
          <p:nvPr/>
        </p:nvSpPr>
        <p:spPr>
          <a:xfrm>
            <a:off x="2743200" y="3666744"/>
            <a:ext cx="365760" cy="365760"/>
          </a:xfrm>
          <a:prstGeom prst="rect">
            <a:avLst/>
          </a:prstGeom>
          <a:solidFill>
            <a:srgbClr val="F0A794"/>
          </a:solidFill>
          <a:ln/>
        </p:spPr>
      </p:sp>
      <p:sp>
        <p:nvSpPr>
          <p:cNvPr id="33" name="Shape 31"/>
          <p:cNvSpPr/>
          <p:nvPr/>
        </p:nvSpPr>
        <p:spPr>
          <a:xfrm>
            <a:off x="3127248" y="3666744"/>
            <a:ext cx="365760" cy="365760"/>
          </a:xfrm>
          <a:prstGeom prst="rect">
            <a:avLst/>
          </a:prstGeom>
          <a:solidFill>
            <a:srgbClr val="E8C9BF"/>
          </a:solidFill>
          <a:ln/>
        </p:spPr>
      </p:sp>
      <p:sp>
        <p:nvSpPr>
          <p:cNvPr id="34" name="Shape 32"/>
          <p:cNvSpPr/>
          <p:nvPr/>
        </p:nvSpPr>
        <p:spPr>
          <a:xfrm>
            <a:off x="822960" y="4050792"/>
            <a:ext cx="365760" cy="365760"/>
          </a:xfrm>
          <a:prstGeom prst="rect">
            <a:avLst/>
          </a:prstGeom>
          <a:solidFill>
            <a:srgbClr val="DEF2F1"/>
          </a:solidFill>
          <a:ln/>
        </p:spPr>
      </p:sp>
      <p:sp>
        <p:nvSpPr>
          <p:cNvPr id="35" name="Shape 33"/>
          <p:cNvSpPr/>
          <p:nvPr/>
        </p:nvSpPr>
        <p:spPr>
          <a:xfrm>
            <a:off x="1207008" y="4050792"/>
            <a:ext cx="365760" cy="365760"/>
          </a:xfrm>
          <a:prstGeom prst="rect">
            <a:avLst/>
          </a:prstGeom>
          <a:solidFill>
            <a:srgbClr val="DEF2F1"/>
          </a:solidFill>
          <a:ln/>
        </p:spPr>
      </p:sp>
      <p:sp>
        <p:nvSpPr>
          <p:cNvPr id="36" name="Shape 34"/>
          <p:cNvSpPr/>
          <p:nvPr/>
        </p:nvSpPr>
        <p:spPr>
          <a:xfrm>
            <a:off x="1591056" y="4050792"/>
            <a:ext cx="365760" cy="365760"/>
          </a:xfrm>
          <a:prstGeom prst="rect">
            <a:avLst/>
          </a:prstGeom>
          <a:solidFill>
            <a:srgbClr val="E2E2DE"/>
          </a:solidFill>
          <a:ln/>
        </p:spPr>
      </p:sp>
      <p:sp>
        <p:nvSpPr>
          <p:cNvPr id="37" name="Shape 35"/>
          <p:cNvSpPr/>
          <p:nvPr/>
        </p:nvSpPr>
        <p:spPr>
          <a:xfrm>
            <a:off x="1975104" y="4050792"/>
            <a:ext cx="365760" cy="365760"/>
          </a:xfrm>
          <a:prstGeom prst="rect">
            <a:avLst/>
          </a:prstGeom>
          <a:solidFill>
            <a:srgbClr val="E8C9BF"/>
          </a:solidFill>
          <a:ln/>
        </p:spPr>
      </p:sp>
      <p:sp>
        <p:nvSpPr>
          <p:cNvPr id="38" name="Shape 36"/>
          <p:cNvSpPr/>
          <p:nvPr/>
        </p:nvSpPr>
        <p:spPr>
          <a:xfrm>
            <a:off x="2359152" y="4050792"/>
            <a:ext cx="365760" cy="365760"/>
          </a:xfrm>
          <a:prstGeom prst="rect">
            <a:avLst/>
          </a:prstGeom>
          <a:solidFill>
            <a:srgbClr val="EABFB2"/>
          </a:solidFill>
          <a:ln/>
        </p:spPr>
      </p:sp>
      <p:sp>
        <p:nvSpPr>
          <p:cNvPr id="39" name="Shape 37"/>
          <p:cNvSpPr/>
          <p:nvPr/>
        </p:nvSpPr>
        <p:spPr>
          <a:xfrm>
            <a:off x="2743200" y="4050792"/>
            <a:ext cx="365760" cy="365760"/>
          </a:xfrm>
          <a:prstGeom prst="rect">
            <a:avLst/>
          </a:prstGeom>
          <a:solidFill>
            <a:srgbClr val="E8C9BF"/>
          </a:solidFill>
          <a:ln/>
        </p:spPr>
      </p:sp>
      <p:sp>
        <p:nvSpPr>
          <p:cNvPr id="40" name="Shape 38"/>
          <p:cNvSpPr/>
          <p:nvPr/>
        </p:nvSpPr>
        <p:spPr>
          <a:xfrm>
            <a:off x="3127248" y="4050792"/>
            <a:ext cx="365760" cy="365760"/>
          </a:xfrm>
          <a:prstGeom prst="rect">
            <a:avLst/>
          </a:prstGeom>
          <a:solidFill>
            <a:srgbClr val="E2E2DE"/>
          </a:solidFill>
          <a:ln/>
        </p:spPr>
      </p:sp>
      <p:sp>
        <p:nvSpPr>
          <p:cNvPr id="41" name="Shape 39"/>
          <p:cNvSpPr/>
          <p:nvPr/>
        </p:nvSpPr>
        <p:spPr>
          <a:xfrm>
            <a:off x="822960" y="4434840"/>
            <a:ext cx="365760" cy="365760"/>
          </a:xfrm>
          <a:prstGeom prst="rect">
            <a:avLst/>
          </a:prstGeom>
          <a:solidFill>
            <a:srgbClr val="DEF2F1"/>
          </a:solidFill>
          <a:ln/>
        </p:spPr>
      </p:sp>
      <p:sp>
        <p:nvSpPr>
          <p:cNvPr id="42" name="Shape 40"/>
          <p:cNvSpPr/>
          <p:nvPr/>
        </p:nvSpPr>
        <p:spPr>
          <a:xfrm>
            <a:off x="1207008" y="4434840"/>
            <a:ext cx="365760" cy="365760"/>
          </a:xfrm>
          <a:prstGeom prst="rect">
            <a:avLst/>
          </a:prstGeom>
          <a:solidFill>
            <a:srgbClr val="DEF2F1"/>
          </a:solidFill>
          <a:ln/>
        </p:spPr>
      </p:sp>
      <p:sp>
        <p:nvSpPr>
          <p:cNvPr id="43" name="Shape 41"/>
          <p:cNvSpPr/>
          <p:nvPr/>
        </p:nvSpPr>
        <p:spPr>
          <a:xfrm>
            <a:off x="1591056" y="4434840"/>
            <a:ext cx="365760" cy="365760"/>
          </a:xfrm>
          <a:prstGeom prst="rect">
            <a:avLst/>
          </a:prstGeom>
          <a:solidFill>
            <a:srgbClr val="DEF2F1"/>
          </a:solidFill>
          <a:ln/>
        </p:spPr>
      </p:sp>
      <p:sp>
        <p:nvSpPr>
          <p:cNvPr id="44" name="Shape 42"/>
          <p:cNvSpPr/>
          <p:nvPr/>
        </p:nvSpPr>
        <p:spPr>
          <a:xfrm>
            <a:off x="1975104" y="4434840"/>
            <a:ext cx="365760" cy="365760"/>
          </a:xfrm>
          <a:prstGeom prst="rect">
            <a:avLst/>
          </a:prstGeom>
          <a:solidFill>
            <a:srgbClr val="DEF0EF"/>
          </a:solidFill>
          <a:ln/>
        </p:spPr>
      </p:sp>
      <p:sp>
        <p:nvSpPr>
          <p:cNvPr id="45" name="Shape 43"/>
          <p:cNvSpPr/>
          <p:nvPr/>
        </p:nvSpPr>
        <p:spPr>
          <a:xfrm>
            <a:off x="2359152" y="4434840"/>
            <a:ext cx="365760" cy="365760"/>
          </a:xfrm>
          <a:prstGeom prst="rect">
            <a:avLst/>
          </a:prstGeom>
          <a:solidFill>
            <a:srgbClr val="E0EAE7"/>
          </a:solidFill>
          <a:ln/>
        </p:spPr>
      </p:sp>
      <p:sp>
        <p:nvSpPr>
          <p:cNvPr id="46" name="Shape 44"/>
          <p:cNvSpPr/>
          <p:nvPr/>
        </p:nvSpPr>
        <p:spPr>
          <a:xfrm>
            <a:off x="2743200" y="4434840"/>
            <a:ext cx="365760" cy="365760"/>
          </a:xfrm>
          <a:prstGeom prst="rect">
            <a:avLst/>
          </a:prstGeom>
          <a:solidFill>
            <a:srgbClr val="DEF0EF"/>
          </a:solidFill>
          <a:ln/>
        </p:spPr>
      </p:sp>
      <p:sp>
        <p:nvSpPr>
          <p:cNvPr id="47" name="Shape 45"/>
          <p:cNvSpPr/>
          <p:nvPr/>
        </p:nvSpPr>
        <p:spPr>
          <a:xfrm>
            <a:off x="3127248" y="4434840"/>
            <a:ext cx="365760" cy="365760"/>
          </a:xfrm>
          <a:prstGeom prst="rect">
            <a:avLst/>
          </a:prstGeom>
          <a:solidFill>
            <a:srgbClr val="DEF2F1"/>
          </a:solidFill>
          <a:ln/>
        </p:spPr>
      </p:sp>
      <p:sp>
        <p:nvSpPr>
          <p:cNvPr id="48" name="Shape 46"/>
          <p:cNvSpPr/>
          <p:nvPr/>
        </p:nvSpPr>
        <p:spPr>
          <a:xfrm>
            <a:off x="822960" y="4818888"/>
            <a:ext cx="365760" cy="365760"/>
          </a:xfrm>
          <a:prstGeom prst="rect">
            <a:avLst/>
          </a:prstGeom>
          <a:solidFill>
            <a:srgbClr val="DEF2F1"/>
          </a:solidFill>
          <a:ln/>
        </p:spPr>
      </p:sp>
      <p:sp>
        <p:nvSpPr>
          <p:cNvPr id="49" name="Shape 47"/>
          <p:cNvSpPr/>
          <p:nvPr/>
        </p:nvSpPr>
        <p:spPr>
          <a:xfrm>
            <a:off x="1207008" y="4818888"/>
            <a:ext cx="365760" cy="365760"/>
          </a:xfrm>
          <a:prstGeom prst="rect">
            <a:avLst/>
          </a:prstGeom>
          <a:solidFill>
            <a:srgbClr val="DEF2F1"/>
          </a:solidFill>
          <a:ln/>
        </p:spPr>
      </p:sp>
      <p:sp>
        <p:nvSpPr>
          <p:cNvPr id="50" name="Shape 48"/>
          <p:cNvSpPr/>
          <p:nvPr/>
        </p:nvSpPr>
        <p:spPr>
          <a:xfrm>
            <a:off x="1591056" y="4818888"/>
            <a:ext cx="365760" cy="365760"/>
          </a:xfrm>
          <a:prstGeom prst="rect">
            <a:avLst/>
          </a:prstGeom>
          <a:solidFill>
            <a:srgbClr val="DEF2F1"/>
          </a:solidFill>
          <a:ln/>
        </p:spPr>
      </p:sp>
      <p:sp>
        <p:nvSpPr>
          <p:cNvPr id="51" name="Shape 49"/>
          <p:cNvSpPr/>
          <p:nvPr/>
        </p:nvSpPr>
        <p:spPr>
          <a:xfrm>
            <a:off x="1975104" y="4818888"/>
            <a:ext cx="365760" cy="365760"/>
          </a:xfrm>
          <a:prstGeom prst="rect">
            <a:avLst/>
          </a:prstGeom>
          <a:solidFill>
            <a:srgbClr val="DEF2F1"/>
          </a:solidFill>
          <a:ln/>
        </p:spPr>
      </p:sp>
      <p:sp>
        <p:nvSpPr>
          <p:cNvPr id="52" name="Shape 50"/>
          <p:cNvSpPr/>
          <p:nvPr/>
        </p:nvSpPr>
        <p:spPr>
          <a:xfrm>
            <a:off x="2359152" y="4818888"/>
            <a:ext cx="365760" cy="365760"/>
          </a:xfrm>
          <a:prstGeom prst="rect">
            <a:avLst/>
          </a:prstGeom>
          <a:solidFill>
            <a:srgbClr val="DEF2F1"/>
          </a:solidFill>
          <a:ln/>
        </p:spPr>
      </p:sp>
      <p:sp>
        <p:nvSpPr>
          <p:cNvPr id="53" name="Shape 51"/>
          <p:cNvSpPr/>
          <p:nvPr/>
        </p:nvSpPr>
        <p:spPr>
          <a:xfrm>
            <a:off x="2743200" y="4818888"/>
            <a:ext cx="365760" cy="365760"/>
          </a:xfrm>
          <a:prstGeom prst="rect">
            <a:avLst/>
          </a:prstGeom>
          <a:solidFill>
            <a:srgbClr val="DEF2F1"/>
          </a:solidFill>
          <a:ln/>
        </p:spPr>
      </p:sp>
      <p:sp>
        <p:nvSpPr>
          <p:cNvPr id="54" name="Shape 52"/>
          <p:cNvSpPr/>
          <p:nvPr/>
        </p:nvSpPr>
        <p:spPr>
          <a:xfrm>
            <a:off x="3127248" y="4818888"/>
            <a:ext cx="365760" cy="365760"/>
          </a:xfrm>
          <a:prstGeom prst="rect">
            <a:avLst/>
          </a:prstGeom>
          <a:solidFill>
            <a:srgbClr val="DEF2F1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594360" y="5522976"/>
            <a:ext cx="31455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一張關節的熱圖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4754880" y="251460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為什麼熱圖更好?</a:t>
            </a:r>
            <a:endParaRPr lang="en-US" sz="1900" dirty="0"/>
          </a:p>
        </p:txBody>
      </p:sp>
      <p:sp>
        <p:nvSpPr>
          <p:cNvPr id="57" name="Shape 55"/>
          <p:cNvSpPr/>
          <p:nvPr/>
        </p:nvSpPr>
        <p:spPr>
          <a:xfrm>
            <a:off x="4754880" y="3063240"/>
            <a:ext cx="502920" cy="502920"/>
          </a:xfrm>
          <a:prstGeom prst="ellipse">
            <a:avLst/>
          </a:prstGeom>
          <a:solidFill>
            <a:srgbClr val="138496"/>
          </a:solidFill>
          <a:ln/>
        </p:spPr>
      </p:sp>
      <p:pic>
        <p:nvPicPr>
          <p:cNvPr id="5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85639" y="3193999"/>
            <a:ext cx="241402" cy="241402"/>
          </a:xfrm>
          <a:prstGeom prst="rect">
            <a:avLst/>
          </a:prstGeom>
        </p:spPr>
      </p:pic>
      <p:sp>
        <p:nvSpPr>
          <p:cNvPr id="59" name="Text 56"/>
          <p:cNvSpPr txBox="1"/>
          <p:nvPr/>
        </p:nvSpPr>
        <p:spPr>
          <a:xfrm>
            <a:off x="5440680" y="3035808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保留空間資訊</a:t>
            </a:r>
            <a:endParaRPr lang="en-US" sz="1500" dirty="0"/>
          </a:p>
        </p:txBody>
      </p:sp>
      <p:sp>
        <p:nvSpPr>
          <p:cNvPr id="60" name="Text 57"/>
          <p:cNvSpPr txBox="1"/>
          <p:nvPr/>
        </p:nvSpPr>
        <p:spPr>
          <a:xfrm>
            <a:off x="5440680" y="3346704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模型輸出仍是「圖」,CNN 最擅長處理</a:t>
            </a:r>
            <a:endParaRPr lang="en-US" sz="1200" dirty="0"/>
          </a:p>
        </p:txBody>
      </p:sp>
      <p:sp>
        <p:nvSpPr>
          <p:cNvPr id="61" name="Shape 58"/>
          <p:cNvSpPr/>
          <p:nvPr/>
        </p:nvSpPr>
        <p:spPr>
          <a:xfrm>
            <a:off x="4754880" y="3794760"/>
            <a:ext cx="502920" cy="502920"/>
          </a:xfrm>
          <a:prstGeom prst="ellipse">
            <a:avLst/>
          </a:prstGeom>
          <a:solidFill>
            <a:srgbClr val="138496"/>
          </a:solidFill>
          <a:ln/>
        </p:spPr>
      </p:sp>
      <p:pic>
        <p:nvPicPr>
          <p:cNvPr id="6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5639" y="3925519"/>
            <a:ext cx="241402" cy="241402"/>
          </a:xfrm>
          <a:prstGeom prst="rect">
            <a:avLst/>
          </a:prstGeom>
        </p:spPr>
      </p:pic>
      <p:sp>
        <p:nvSpPr>
          <p:cNvPr id="63" name="Text 59"/>
          <p:cNvSpPr txBox="1"/>
          <p:nvPr/>
        </p:nvSpPr>
        <p:spPr>
          <a:xfrm>
            <a:off x="5440680" y="3767328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容忍小誤差</a:t>
            </a:r>
            <a:endParaRPr lang="en-US" sz="1500" dirty="0"/>
          </a:p>
        </p:txBody>
      </p:sp>
      <p:sp>
        <p:nvSpPr>
          <p:cNvPr id="64" name="Text 60"/>
          <p:cNvSpPr txBox="1"/>
          <p:nvPr/>
        </p:nvSpPr>
        <p:spPr>
          <a:xfrm>
            <a:off x="5440680" y="4078224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附近亮一點也沒關係,訓練更穩定</a:t>
            </a:r>
            <a:endParaRPr lang="en-US" sz="1200" dirty="0"/>
          </a:p>
        </p:txBody>
      </p:sp>
      <p:sp>
        <p:nvSpPr>
          <p:cNvPr id="65" name="Shape 61"/>
          <p:cNvSpPr/>
          <p:nvPr/>
        </p:nvSpPr>
        <p:spPr>
          <a:xfrm>
            <a:off x="4754880" y="4526280"/>
            <a:ext cx="502920" cy="502920"/>
          </a:xfrm>
          <a:prstGeom prst="ellipse">
            <a:avLst/>
          </a:prstGeom>
          <a:solidFill>
            <a:srgbClr val="138496"/>
          </a:solidFill>
          <a:ln/>
        </p:spPr>
      </p:sp>
      <p:pic>
        <p:nvPicPr>
          <p:cNvPr id="6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5639" y="4657039"/>
            <a:ext cx="241402" cy="241402"/>
          </a:xfrm>
          <a:prstGeom prst="rect">
            <a:avLst/>
          </a:prstGeom>
        </p:spPr>
      </p:pic>
      <p:sp>
        <p:nvSpPr>
          <p:cNvPr id="67" name="Text 62"/>
          <p:cNvSpPr txBox="1"/>
          <p:nvPr/>
        </p:nvSpPr>
        <p:spPr>
          <a:xfrm>
            <a:off x="5440680" y="4498848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天然給信心</a:t>
            </a:r>
            <a:endParaRPr lang="en-US" sz="1500" dirty="0"/>
          </a:p>
        </p:txBody>
      </p:sp>
      <p:sp>
        <p:nvSpPr>
          <p:cNvPr id="68" name="Text 63"/>
          <p:cNvSpPr txBox="1"/>
          <p:nvPr/>
        </p:nvSpPr>
        <p:spPr>
          <a:xfrm>
            <a:off x="5440680" y="4809744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亮度高低 = 這個關節的把握程度</a:t>
            </a:r>
            <a:endParaRPr lang="en-US" sz="1200" dirty="0"/>
          </a:p>
        </p:txBody>
      </p:sp>
      <p:sp>
        <p:nvSpPr>
          <p:cNvPr id="69" name="Shape 64"/>
          <p:cNvSpPr/>
          <p:nvPr/>
        </p:nvSpPr>
        <p:spPr>
          <a:xfrm>
            <a:off x="4754880" y="5257800"/>
            <a:ext cx="502920" cy="502920"/>
          </a:xfrm>
          <a:prstGeom prst="ellipse">
            <a:avLst/>
          </a:prstGeom>
          <a:solidFill>
            <a:srgbClr val="138496"/>
          </a:solidFill>
          <a:ln/>
        </p:spPr>
      </p:sp>
      <p:pic>
        <p:nvPicPr>
          <p:cNvPr id="7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5639" y="5388559"/>
            <a:ext cx="241402" cy="241402"/>
          </a:xfrm>
          <a:prstGeom prst="rect">
            <a:avLst/>
          </a:prstGeom>
        </p:spPr>
      </p:pic>
      <p:sp>
        <p:nvSpPr>
          <p:cNvPr id="71" name="Text 65"/>
          <p:cNvSpPr txBox="1"/>
          <p:nvPr/>
        </p:nvSpPr>
        <p:spPr>
          <a:xfrm>
            <a:off x="5440680" y="5230368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取峰值即座標</a:t>
            </a:r>
            <a:endParaRPr lang="en-US" sz="1500" dirty="0"/>
          </a:p>
        </p:txBody>
      </p:sp>
      <p:sp>
        <p:nvSpPr>
          <p:cNvPr id="72" name="Text 66"/>
          <p:cNvSpPr txBox="1"/>
          <p:nvPr/>
        </p:nvSpPr>
        <p:spPr>
          <a:xfrm>
            <a:off x="5440680" y="5541264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找最亮點 (argmax) 就得到 (x, y)</a:t>
            </a:r>
            <a:endParaRPr lang="en-US" sz="1200" dirty="0"/>
          </a:p>
        </p:txBody>
      </p:sp>
      <p:sp>
        <p:nvSpPr>
          <p:cNvPr id="73" name="Text 67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3D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9456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1384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2468880" y="24688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如何訓練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2514600" y="3337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 → 標註 → 學習 → 收斂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14600" y="3886200"/>
            <a:ext cx="2286000" cy="0"/>
          </a:xfrm>
          <a:prstGeom prst="line">
            <a:avLst/>
          </a:prstGeom>
          <a:noFill/>
          <a:ln w="38100">
            <a:solidFill>
              <a:srgbClr val="FF6B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DE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8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背景知識 · BACKGROUND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訓練資料長什麼樣?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64208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每一筆資料 = 一張圖片 + 一份「標準答案」標註。模型就是拿自己的預測去對答案學習。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2468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圖片 + 標好的關節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280160" y="2971800"/>
            <a:ext cx="3749040" cy="2606040"/>
          </a:xfrm>
          <a:prstGeom prst="rect">
            <a:avLst/>
          </a:prstGeom>
          <a:solidFill>
            <a:srgbClr val="DDE8E8"/>
          </a:solidFill>
          <a:ln w="12700">
            <a:solidFill>
              <a:srgbClr val="5A6B7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80160" y="31546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(一張人像照片)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54680" y="3474720"/>
            <a:ext cx="0" cy="365760"/>
          </a:xfrm>
          <a:prstGeom prst="line">
            <a:avLst/>
          </a:prstGeom>
          <a:noFill/>
          <a:ln w="25400">
            <a:solidFill>
              <a:srgbClr val="13849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54680" y="3840480"/>
            <a:ext cx="-548640" cy="73152"/>
          </a:xfrm>
          <a:prstGeom prst="line">
            <a:avLst/>
          </a:prstGeom>
          <a:noFill/>
          <a:ln w="25400">
            <a:solidFill>
              <a:srgbClr val="13849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54680" y="3840480"/>
            <a:ext cx="548640" cy="73152"/>
          </a:xfrm>
          <a:prstGeom prst="line">
            <a:avLst/>
          </a:prstGeom>
          <a:noFill/>
          <a:ln w="25400">
            <a:solidFill>
              <a:srgbClr val="13849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06040" y="3913632"/>
            <a:ext cx="-228600" cy="475488"/>
          </a:xfrm>
          <a:prstGeom prst="line">
            <a:avLst/>
          </a:prstGeom>
          <a:noFill/>
          <a:ln w="25400">
            <a:solidFill>
              <a:srgbClr val="13849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03320" y="3913632"/>
            <a:ext cx="228600" cy="475488"/>
          </a:xfrm>
          <a:prstGeom prst="line">
            <a:avLst/>
          </a:prstGeom>
          <a:noFill/>
          <a:ln w="25400">
            <a:solidFill>
              <a:srgbClr val="13849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54680" y="3840480"/>
            <a:ext cx="0" cy="822960"/>
          </a:xfrm>
          <a:prstGeom prst="line">
            <a:avLst/>
          </a:prstGeom>
          <a:noFill/>
          <a:ln w="25400">
            <a:solidFill>
              <a:srgbClr val="13849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54680" y="4663440"/>
            <a:ext cx="-365760" cy="594360"/>
          </a:xfrm>
          <a:prstGeom prst="line">
            <a:avLst/>
          </a:prstGeom>
          <a:noFill/>
          <a:ln w="25400">
            <a:solidFill>
              <a:srgbClr val="13849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54680" y="4663440"/>
            <a:ext cx="365760" cy="594360"/>
          </a:xfrm>
          <a:prstGeom prst="line">
            <a:avLst/>
          </a:prstGeom>
          <a:noFill/>
          <a:ln w="25400">
            <a:solidFill>
              <a:srgbClr val="13849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81528" y="3401568"/>
            <a:ext cx="146304" cy="146304"/>
          </a:xfrm>
          <a:prstGeom prst="ellipse">
            <a:avLst/>
          </a:prstGeom>
          <a:solidFill>
            <a:srgbClr val="FF6B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81528" y="3767328"/>
            <a:ext cx="146304" cy="146304"/>
          </a:xfrm>
          <a:prstGeom prst="ellipse">
            <a:avLst/>
          </a:prstGeom>
          <a:solidFill>
            <a:srgbClr val="FF6B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32888" y="3840480"/>
            <a:ext cx="146304" cy="146304"/>
          </a:xfrm>
          <a:prstGeom prst="ellipse">
            <a:avLst/>
          </a:prstGeom>
          <a:solidFill>
            <a:srgbClr val="FF6B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30168" y="3840480"/>
            <a:ext cx="146304" cy="146304"/>
          </a:xfrm>
          <a:prstGeom prst="ellipse">
            <a:avLst/>
          </a:prstGeom>
          <a:solidFill>
            <a:srgbClr val="FF6B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04288" y="4315968"/>
            <a:ext cx="146304" cy="146304"/>
          </a:xfrm>
          <a:prstGeom prst="ellipse">
            <a:avLst/>
          </a:prstGeom>
          <a:solidFill>
            <a:srgbClr val="FF6B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58768" y="4315968"/>
            <a:ext cx="146304" cy="146304"/>
          </a:xfrm>
          <a:prstGeom prst="ellipse">
            <a:avLst/>
          </a:prstGeom>
          <a:solidFill>
            <a:srgbClr val="FF6B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81528" y="4590288"/>
            <a:ext cx="146304" cy="146304"/>
          </a:xfrm>
          <a:prstGeom prst="ellipse">
            <a:avLst/>
          </a:prstGeom>
          <a:solidFill>
            <a:srgbClr val="FF6B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15768" y="5184648"/>
            <a:ext cx="146304" cy="146304"/>
          </a:xfrm>
          <a:prstGeom prst="ellipse">
            <a:avLst/>
          </a:prstGeom>
          <a:solidFill>
            <a:srgbClr val="FF6B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47288" y="5184648"/>
            <a:ext cx="146304" cy="146304"/>
          </a:xfrm>
          <a:prstGeom prst="ellipse">
            <a:avLst/>
          </a:prstGeom>
          <a:solidFill>
            <a:srgbClr val="FF6B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14400" y="5669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每個關節由人工點出精確位置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852160" y="2286000"/>
            <a:ext cx="5669280" cy="3749040"/>
          </a:xfrm>
          <a:prstGeom prst="roundRect">
            <a:avLst>
              <a:gd name="adj" fmla="val 2439"/>
            </a:avLst>
          </a:prstGeom>
          <a:solidFill>
            <a:srgbClr val="0B3D4A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6126480" y="24688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標註檔記錄什麼?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72200" y="2926080"/>
            <a:ext cx="493776" cy="493776"/>
          </a:xfrm>
          <a:prstGeom prst="ellipse">
            <a:avLst/>
          </a:prstGeom>
          <a:solidFill>
            <a:srgbClr val="138496"/>
          </a:solidFill>
          <a:ln/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0582" y="3054462"/>
            <a:ext cx="237012" cy="237012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6858000" y="290779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每個關節的座標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6858000" y="320040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C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(x, y) — 那個關節在圖上的位置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6172200" y="3584448"/>
            <a:ext cx="493776" cy="493776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582" y="3712830"/>
            <a:ext cx="237012" cy="237012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6858000" y="356616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可見度 visibility</a:t>
            </a:r>
            <a:endParaRPr lang="en-US" sz="1300" dirty="0"/>
          </a:p>
        </p:txBody>
      </p:sp>
      <p:sp>
        <p:nvSpPr>
          <p:cNvPr id="36" name="Text 32"/>
          <p:cNvSpPr txBox="1"/>
          <p:nvPr/>
        </p:nvSpPr>
        <p:spPr>
          <a:xfrm>
            <a:off x="6858000" y="385876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C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看得到 / 被遮住 / 不在畫面內</a:t>
            </a:r>
            <a:endParaRPr lang="en-US" sz="1050" dirty="0"/>
          </a:p>
        </p:txBody>
      </p:sp>
      <p:sp>
        <p:nvSpPr>
          <p:cNvPr id="37" name="Shape 33"/>
          <p:cNvSpPr/>
          <p:nvPr/>
        </p:nvSpPr>
        <p:spPr>
          <a:xfrm>
            <a:off x="6172200" y="4242816"/>
            <a:ext cx="493776" cy="493776"/>
          </a:xfrm>
          <a:prstGeom prst="ellipse">
            <a:avLst/>
          </a:prstGeom>
          <a:solidFill>
            <a:srgbClr val="3AAFA9"/>
          </a:solidFill>
          <a:ln/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582" y="4371198"/>
            <a:ext cx="237012" cy="237012"/>
          </a:xfrm>
          <a:prstGeom prst="rect">
            <a:avLst/>
          </a:prstGeom>
        </p:spPr>
      </p:pic>
      <p:sp>
        <p:nvSpPr>
          <p:cNvPr id="39" name="Text 34"/>
          <p:cNvSpPr txBox="1"/>
          <p:nvPr/>
        </p:nvSpPr>
        <p:spPr>
          <a:xfrm>
            <a:off x="6858000" y="422452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人的框 bbox</a:t>
            </a:r>
            <a:endParaRPr lang="en-US" sz="1300" dirty="0"/>
          </a:p>
        </p:txBody>
      </p:sp>
      <p:sp>
        <p:nvSpPr>
          <p:cNvPr id="40" name="Text 35"/>
          <p:cNvSpPr txBox="1"/>
          <p:nvPr/>
        </p:nvSpPr>
        <p:spPr>
          <a:xfrm>
            <a:off x="6858000" y="4517136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C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這個人大概在哪個範圍(多人時用)</a:t>
            </a:r>
            <a:endParaRPr lang="en-US" sz="1050" dirty="0"/>
          </a:p>
        </p:txBody>
      </p:sp>
      <p:sp>
        <p:nvSpPr>
          <p:cNvPr id="41" name="Shape 36"/>
          <p:cNvSpPr/>
          <p:nvPr/>
        </p:nvSpPr>
        <p:spPr>
          <a:xfrm>
            <a:off x="6172200" y="4901184"/>
            <a:ext cx="493776" cy="493776"/>
          </a:xfrm>
          <a:prstGeom prst="ellipse">
            <a:avLst/>
          </a:prstGeom>
          <a:solidFill>
            <a:srgbClr val="F5B841"/>
          </a:solidFill>
          <a:ln/>
        </p:spPr>
      </p:sp>
      <p:pic>
        <p:nvPicPr>
          <p:cNvPr id="4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0582" y="5029566"/>
            <a:ext cx="237012" cy="237012"/>
          </a:xfrm>
          <a:prstGeom prst="rect">
            <a:avLst/>
          </a:prstGeom>
        </p:spPr>
      </p:pic>
      <p:sp>
        <p:nvSpPr>
          <p:cNvPr id="43" name="Text 37"/>
          <p:cNvSpPr txBox="1"/>
          <p:nvPr/>
        </p:nvSpPr>
        <p:spPr>
          <a:xfrm>
            <a:off x="6858000" y="4882896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人的尺度 scale</a:t>
            </a:r>
            <a:endParaRPr lang="en-US" sz="1300" dirty="0"/>
          </a:p>
        </p:txBody>
      </p:sp>
      <p:sp>
        <p:nvSpPr>
          <p:cNvPr id="44" name="Text 38"/>
          <p:cNvSpPr txBox="1"/>
          <p:nvPr/>
        </p:nvSpPr>
        <p:spPr>
          <a:xfrm>
            <a:off x="6858000" y="5175504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C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這個人有多大(評估 OKS 會用到)</a:t>
            </a:r>
            <a:endParaRPr lang="en-US" sz="1050" dirty="0"/>
          </a:p>
        </p:txBody>
      </p:sp>
      <p:sp>
        <p:nvSpPr>
          <p:cNvPr id="45" name="Text 39"/>
          <p:cNvSpPr txBox="1"/>
          <p:nvPr/>
        </p:nvSpPr>
        <p:spPr>
          <a:xfrm>
            <a:off x="6172200" y="56235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「可見度」很關鍵:被遮住的關節仍要標,但評估時分開算。</a:t>
            </a:r>
            <a:endParaRPr lang="en-US" sz="1050" dirty="0"/>
          </a:p>
        </p:txBody>
      </p:sp>
      <p:sp>
        <p:nvSpPr>
          <p:cNvPr id="46" name="Text 40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8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背景知識 · BACKGROUND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資料進模型前的「前處理」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64208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原始照片不能直接丟進模型,要先整理成統一、乾淨的格式——這步驟叫 preprocessing。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2487168" cy="1828800"/>
          </a:xfrm>
          <a:prstGeom prst="roundRect">
            <a:avLst>
              <a:gd name="adj" fmla="val 5000"/>
            </a:avLst>
          </a:prstGeom>
          <a:solidFill>
            <a:srgbClr val="F0F6F6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99616" y="2587752"/>
            <a:ext cx="768096" cy="768096"/>
          </a:xfrm>
          <a:prstGeom prst="ellipse">
            <a:avLst/>
          </a:prstGeom>
          <a:solidFill>
            <a:srgbClr val="0B3D4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9321" y="2787457"/>
            <a:ext cx="368686" cy="36868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3355848"/>
            <a:ext cx="23042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裁切 Crop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703320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把人裁出來,去掉多餘背景</a:t>
            </a:r>
            <a:endParaRPr lang="en-US" sz="10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820" y="3017520"/>
            <a:ext cx="237744" cy="23774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383280" y="2331720"/>
            <a:ext cx="2487168" cy="1828800"/>
          </a:xfrm>
          <a:prstGeom prst="roundRect">
            <a:avLst>
              <a:gd name="adj" fmla="val 5000"/>
            </a:avLst>
          </a:prstGeom>
          <a:solidFill>
            <a:srgbClr val="DEF2F1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242816" y="2587752"/>
            <a:ext cx="768096" cy="768096"/>
          </a:xfrm>
          <a:prstGeom prst="ellipse">
            <a:avLst/>
          </a:prstGeom>
          <a:solidFill>
            <a:srgbClr val="138496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2521" y="2787457"/>
            <a:ext cx="368686" cy="36868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474720" y="3355848"/>
            <a:ext cx="23042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縮放 Resize</a:t>
            </a:r>
            <a:endParaRPr lang="en-US" sz="1450" dirty="0"/>
          </a:p>
        </p:txBody>
      </p:sp>
      <p:sp>
        <p:nvSpPr>
          <p:cNvPr id="15" name="Text 10"/>
          <p:cNvSpPr txBox="1"/>
          <p:nvPr/>
        </p:nvSpPr>
        <p:spPr>
          <a:xfrm>
            <a:off x="3520440" y="3703320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統一成固定大小(如 256×256)</a:t>
            </a:r>
            <a:endParaRPr lang="en-US" sz="10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5020" y="3017520"/>
            <a:ext cx="237744" cy="237744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126480" y="2331720"/>
            <a:ext cx="2487168" cy="1828800"/>
          </a:xfrm>
          <a:prstGeom prst="roundRect">
            <a:avLst>
              <a:gd name="adj" fmla="val 5000"/>
            </a:avLst>
          </a:prstGeom>
          <a:solidFill>
            <a:srgbClr val="F0F6F6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6986016" y="2587752"/>
            <a:ext cx="768096" cy="768096"/>
          </a:xfrm>
          <a:prstGeom prst="ellipse">
            <a:avLst/>
          </a:prstGeom>
          <a:solidFill>
            <a:srgbClr val="3AAFA9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5721" y="2787457"/>
            <a:ext cx="368686" cy="368686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217920" y="3355848"/>
            <a:ext cx="23042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正規化 Normalize</a:t>
            </a:r>
            <a:endParaRPr lang="en-US" sz="1450" dirty="0"/>
          </a:p>
        </p:txBody>
      </p:sp>
      <p:sp>
        <p:nvSpPr>
          <p:cNvPr id="21" name="Text 14"/>
          <p:cNvSpPr txBox="1"/>
          <p:nvPr/>
        </p:nvSpPr>
        <p:spPr>
          <a:xfrm>
            <a:off x="6263640" y="3703320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 0~255 縮成 0~1 或標準分佈</a:t>
            </a:r>
            <a:endParaRPr lang="en-US" sz="105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8220" y="3017520"/>
            <a:ext cx="237744" cy="237744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8869680" y="2331720"/>
            <a:ext cx="2487168" cy="1828800"/>
          </a:xfrm>
          <a:prstGeom prst="roundRect">
            <a:avLst>
              <a:gd name="adj" fmla="val 5000"/>
            </a:avLst>
          </a:prstGeom>
          <a:solidFill>
            <a:srgbClr val="DEF2F1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9729216" y="2587752"/>
            <a:ext cx="768096" cy="768096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8921" y="2787457"/>
            <a:ext cx="368686" cy="368686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8961120" y="3355848"/>
            <a:ext cx="23042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增強 Augment</a:t>
            </a:r>
            <a:endParaRPr lang="en-US" sz="1450" dirty="0"/>
          </a:p>
        </p:txBody>
      </p:sp>
      <p:sp>
        <p:nvSpPr>
          <p:cNvPr id="27" name="Text 18"/>
          <p:cNvSpPr txBox="1"/>
          <p:nvPr/>
        </p:nvSpPr>
        <p:spPr>
          <a:xfrm>
            <a:off x="9006840" y="3703320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翻轉、旋轉、變色,增加資料多樣性</a:t>
            </a:r>
            <a:endParaRPr lang="en-US" sz="1050" dirty="0"/>
          </a:p>
        </p:txBody>
      </p:sp>
      <p:sp>
        <p:nvSpPr>
          <p:cNvPr id="28" name="Shape 19"/>
          <p:cNvSpPr/>
          <p:nvPr/>
        </p:nvSpPr>
        <p:spPr>
          <a:xfrm>
            <a:off x="640080" y="4480560"/>
            <a:ext cx="5349240" cy="1600200"/>
          </a:xfrm>
          <a:prstGeom prst="roundRect">
            <a:avLst>
              <a:gd name="adj" fmla="val 5714"/>
            </a:avLst>
          </a:prstGeom>
          <a:solidFill>
            <a:srgbClr val="0B3D4A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29" name="Shape 20"/>
          <p:cNvSpPr/>
          <p:nvPr/>
        </p:nvSpPr>
        <p:spPr>
          <a:xfrm>
            <a:off x="914400" y="4709160"/>
            <a:ext cx="566928" cy="566928"/>
          </a:xfrm>
          <a:prstGeom prst="ellipse">
            <a:avLst/>
          </a:prstGeom>
          <a:solidFill>
            <a:srgbClr val="138496"/>
          </a:solidFill>
          <a:ln/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1801" y="4856561"/>
            <a:ext cx="272125" cy="272125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1645920" y="468172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為什麼要統一大小?</a:t>
            </a:r>
            <a:endParaRPr lang="en-US" sz="1400" dirty="0"/>
          </a:p>
        </p:txBody>
      </p:sp>
      <p:sp>
        <p:nvSpPr>
          <p:cNvPr id="32" name="Text 22"/>
          <p:cNvSpPr txBox="1"/>
          <p:nvPr/>
        </p:nvSpPr>
        <p:spPr>
          <a:xfrm>
            <a:off x="1645920" y="502920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FC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的輸入尺寸通常固定;統一大小才能整批一起算,也讓模型學得更穩。</a:t>
            </a:r>
            <a:endParaRPr lang="en-US" sz="1150" dirty="0"/>
          </a:p>
        </p:txBody>
      </p:sp>
      <p:sp>
        <p:nvSpPr>
          <p:cNvPr id="33" name="Shape 23"/>
          <p:cNvSpPr/>
          <p:nvPr/>
        </p:nvSpPr>
        <p:spPr>
          <a:xfrm>
            <a:off x="6172200" y="4480560"/>
            <a:ext cx="5349240" cy="1600200"/>
          </a:xfrm>
          <a:prstGeom prst="roundRect">
            <a:avLst>
              <a:gd name="adj" fmla="val 5714"/>
            </a:avLst>
          </a:prstGeom>
          <a:solidFill>
            <a:srgbClr val="FFF3E8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34" name="Shape 24"/>
          <p:cNvSpPr/>
          <p:nvPr/>
        </p:nvSpPr>
        <p:spPr>
          <a:xfrm>
            <a:off x="6446520" y="4709160"/>
            <a:ext cx="566928" cy="566928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93921" y="4856561"/>
            <a:ext cx="272125" cy="272125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7178040" y="468172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為什麼要資料增強?</a:t>
            </a:r>
            <a:endParaRPr lang="en-US" sz="1400" dirty="0"/>
          </a:p>
        </p:txBody>
      </p:sp>
      <p:sp>
        <p:nvSpPr>
          <p:cNvPr id="37" name="Text 26"/>
          <p:cNvSpPr txBox="1"/>
          <p:nvPr/>
        </p:nvSpPr>
        <p:spPr>
          <a:xfrm>
            <a:off x="7178040" y="502920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同一張圖翻轉/變色後就是「新樣本」,讓模型見過更多變化、更不容易死背。</a:t>
            </a:r>
            <a:endParaRPr lang="en-US" sz="1150" dirty="0"/>
          </a:p>
        </p:txBody>
      </p:sp>
      <p:sp>
        <p:nvSpPr>
          <p:cNvPr id="38" name="Text 27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8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TRAINING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訓練流程:五個步驟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01952"/>
            <a:ext cx="512064" cy="512064"/>
          </a:xfrm>
          <a:prstGeom prst="ellipse">
            <a:avLst/>
          </a:prstGeom>
          <a:solidFill>
            <a:srgbClr val="0B3D4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817" y="2035089"/>
            <a:ext cx="245791" cy="24579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911096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準備資料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663440" y="1911096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蒐集人像圖片,涵蓋各種姿勢、角度、光線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40080" y="2624328"/>
            <a:ext cx="10881360" cy="749808"/>
          </a:xfrm>
          <a:prstGeom prst="roundRect">
            <a:avLst>
              <a:gd name="adj" fmla="val 12195"/>
            </a:avLst>
          </a:prstGeom>
          <a:solidFill>
            <a:srgbClr val="DEF2F1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68680" y="2743200"/>
            <a:ext cx="512064" cy="512064"/>
          </a:xfrm>
          <a:prstGeom prst="ellipse">
            <a:avLst/>
          </a:prstGeom>
          <a:solidFill>
            <a:srgbClr val="13849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817" y="2876337"/>
            <a:ext cx="245791" cy="24579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54480" y="2752344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人工標註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663440" y="2752344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在每張圖標出關節座標 (ground truth)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40080" y="3465576"/>
            <a:ext cx="1088136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3584448"/>
            <a:ext cx="512064" cy="512064"/>
          </a:xfrm>
          <a:prstGeom prst="ellipse">
            <a:avLst/>
          </a:prstGeom>
          <a:solidFill>
            <a:srgbClr val="0B3D4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817" y="3717585"/>
            <a:ext cx="245791" cy="24579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3593592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產生目標熱圖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4663440" y="3593592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把每個標註點畫成高斯亮點,當作學習目標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40080" y="4306824"/>
            <a:ext cx="10881360" cy="749808"/>
          </a:xfrm>
          <a:prstGeom prst="roundRect">
            <a:avLst>
              <a:gd name="adj" fmla="val 12195"/>
            </a:avLst>
          </a:prstGeom>
          <a:solidFill>
            <a:srgbClr val="DEF2F1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68680" y="4425696"/>
            <a:ext cx="512064" cy="512064"/>
          </a:xfrm>
          <a:prstGeom prst="ellipse">
            <a:avLst/>
          </a:prstGeom>
          <a:solidFill>
            <a:srgbClr val="13849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817" y="4558833"/>
            <a:ext cx="245791" cy="245791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54480" y="44348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· 模型學習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4663440" y="4434840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預測熱圖,與目標比對算誤差 (loss)</a:t>
            </a:r>
            <a:endParaRPr lang="en-US" sz="1350" dirty="0"/>
          </a:p>
        </p:txBody>
      </p:sp>
      <p:sp>
        <p:nvSpPr>
          <p:cNvPr id="24" name="Shape 18"/>
          <p:cNvSpPr/>
          <p:nvPr/>
        </p:nvSpPr>
        <p:spPr>
          <a:xfrm>
            <a:off x="640080" y="5148072"/>
            <a:ext cx="1088136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68680" y="5266944"/>
            <a:ext cx="512064" cy="512064"/>
          </a:xfrm>
          <a:prstGeom prst="ellipse">
            <a:avLst/>
          </a:prstGeom>
          <a:solidFill>
            <a:srgbClr val="0B3D4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817" y="5400081"/>
            <a:ext cx="245791" cy="245791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554480" y="527608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· 反覆優化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4663440" y="5276088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用梯度下降更新權重,直到誤差夠低</a:t>
            </a:r>
            <a:endParaRPr lang="en-US" sz="1350" dirty="0"/>
          </a:p>
        </p:txBody>
      </p:sp>
      <p:sp>
        <p:nvSpPr>
          <p:cNvPr id="29" name="Text 22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DE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8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TRAINING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兩個讓訓練變簡單的關鍵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48840"/>
            <a:ext cx="777240" cy="77724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482" y="2350922"/>
            <a:ext cx="373075" cy="37307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28800" y="22402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損失函數 Loss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1828800" y="26974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「猜的熱圖」和「正確熱圖」差多少?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3246120"/>
            <a:ext cx="48463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常用做法:逐像素比較兩張熱圖 (MSE)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差越大 → loss 越大 → 模型調整越多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直覺: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就像老師改考卷,錯越多扣越多分,學生下次會往對的方向改。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172200" y="1874520"/>
            <a:ext cx="5349240" cy="3977640"/>
          </a:xfrm>
          <a:prstGeom prst="roundRect">
            <a:avLst>
              <a:gd name="adj" fmla="val 2299"/>
            </a:avLst>
          </a:prstGeom>
          <a:solidFill>
            <a:srgbClr val="0B3D4A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46520" y="2148840"/>
            <a:ext cx="777240" cy="777240"/>
          </a:xfrm>
          <a:prstGeom prst="ellipse">
            <a:avLst/>
          </a:prstGeom>
          <a:solidFill>
            <a:srgbClr val="13849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50922"/>
            <a:ext cx="373075" cy="37307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360920" y="22402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遷移學習 Transfer Learning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7360920" y="26974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C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不用從零開始訓練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6446520" y="3246120"/>
            <a:ext cx="48463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先拿在大資料集上訓練好的模型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再用自己的少量資料「微調」(fine-tune)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好處: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E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資料需求少、訓練更快、效果更好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這正是我們待會用 MediaPipe 客製化的精神。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3D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9456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1384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2468880" y="24688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如何評估成效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2514600" y="3337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模型到底準不準?怎麼用數字說話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14600" y="3886200"/>
            <a:ext cx="2286000" cy="0"/>
          </a:xfrm>
          <a:prstGeom prst="line">
            <a:avLst/>
          </a:prstGeom>
          <a:noFill/>
          <a:ln w="38100">
            <a:solidFill>
              <a:srgbClr val="FF6B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8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METRICS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三個常見指標(直覺版)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3931920"/>
          </a:xfrm>
          <a:prstGeom prst="roundRect">
            <a:avLst>
              <a:gd name="adj" fmla="val 2597"/>
            </a:avLst>
          </a:prstGeom>
          <a:solidFill>
            <a:srgbClr val="DEF2F1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43100" y="2148840"/>
            <a:ext cx="914400" cy="914400"/>
          </a:xfrm>
          <a:prstGeom prst="ellipse">
            <a:avLst/>
          </a:prstGeom>
          <a:solidFill>
            <a:srgbClr val="13849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0844" y="2386584"/>
            <a:ext cx="438912" cy="4389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324612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PCK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70332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138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關節「猜得夠近」的比例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416052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預測點落在正確點附近一定範圍內就算對。範圍通常用頭或身體大小當標準。越高越好。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416552" y="1828800"/>
            <a:ext cx="3520440" cy="3931920"/>
          </a:xfrm>
          <a:prstGeom prst="roundRect">
            <a:avLst>
              <a:gd name="adj" fmla="val 2597"/>
            </a:avLst>
          </a:prstGeom>
          <a:solidFill>
            <a:srgbClr val="0B3D4A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719572" y="2148840"/>
            <a:ext cx="914400" cy="914400"/>
          </a:xfrm>
          <a:prstGeom prst="ellipse">
            <a:avLst/>
          </a:prstGeom>
          <a:solidFill>
            <a:srgbClr val="13849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7316" y="2386584"/>
            <a:ext cx="438912" cy="43891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53712" y="324612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OKS / mAP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4553712" y="370332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 官方主指標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4690872" y="416052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E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類似物件偵測的 mAP,但比的是關節。會同時考量距離誤差與關節可見度。論文常用它排名。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193024" y="1828800"/>
            <a:ext cx="3520440" cy="3931920"/>
          </a:xfrm>
          <a:prstGeom prst="roundRect">
            <a:avLst>
              <a:gd name="adj" fmla="val 2597"/>
            </a:avLst>
          </a:prstGeom>
          <a:solidFill>
            <a:srgbClr val="DEF2F1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496044" y="2148840"/>
            <a:ext cx="914400" cy="91440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3788" y="2386584"/>
            <a:ext cx="438912" cy="43891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330184" y="324612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FPS</a:t>
            </a:r>
            <a:endParaRPr lang="en-US" sz="2200" dirty="0"/>
          </a:p>
        </p:txBody>
      </p:sp>
      <p:sp>
        <p:nvSpPr>
          <p:cNvPr id="20" name="Text 15"/>
          <p:cNvSpPr txBox="1"/>
          <p:nvPr/>
        </p:nvSpPr>
        <p:spPr>
          <a:xfrm>
            <a:off x="8330184" y="370332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每秒能處理幾張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8467344" y="416052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即時應用的命脈。再準,如果一秒只能算 2 張圖,體感遊戲就沒法玩。準度與速度常要取捨。</a:t>
            </a:r>
            <a:endParaRPr lang="en-US" sz="1250" dirty="0"/>
          </a:p>
        </p:txBody>
      </p:sp>
      <p:sp>
        <p:nvSpPr>
          <p:cNvPr id="22" name="Text 17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8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METRICS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補充:三個指標的具體數學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64208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公式看起來多,拆開其實都在做一件簡單的事 —— 下面每條都配白話翻譯。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0881360" cy="1170432"/>
          </a:xfrm>
          <a:prstGeom prst="roundRect">
            <a:avLst>
              <a:gd name="adj" fmla="val 7813"/>
            </a:avLst>
          </a:prstGeom>
          <a:solidFill>
            <a:srgbClr val="DEF2F1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578608"/>
            <a:ext cx="1234440" cy="585216"/>
          </a:xfrm>
          <a:prstGeom prst="roundRect">
            <a:avLst>
              <a:gd name="adj" fmla="val 12500"/>
            </a:avLst>
          </a:prstGeom>
          <a:solidFill>
            <a:srgbClr val="FF6B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578608"/>
            <a:ext cx="12344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PCK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2331720" y="2395728"/>
            <a:ext cx="4892040" cy="95097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82081" y="2459736"/>
            <a:ext cx="3391319" cy="82296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406640" y="2414016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正確關節的比例。若預測點與真值的距離 ≤ 門檻(α×身體尺度 d),就算「命中」,再取平均。α 常設 0.5,d 常用頭部大小。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3566160"/>
            <a:ext cx="10881360" cy="1170432"/>
          </a:xfrm>
          <a:prstGeom prst="roundRect">
            <a:avLst>
              <a:gd name="adj" fmla="val 7813"/>
            </a:avLst>
          </a:prstGeom>
          <a:solidFill>
            <a:srgbClr val="E8F3F2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68680" y="3858768"/>
            <a:ext cx="1234440" cy="585216"/>
          </a:xfrm>
          <a:prstGeom prst="roundRect">
            <a:avLst>
              <a:gd name="adj" fmla="val 12500"/>
            </a:avLst>
          </a:prstGeom>
          <a:solidFill>
            <a:srgbClr val="0B3D4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68680" y="3858768"/>
            <a:ext cx="12344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OKS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2331720" y="3675888"/>
            <a:ext cx="4892040" cy="95097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362" y="3739896"/>
            <a:ext cx="2544756" cy="82296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406640" y="3694176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把每個關節的誤差 d_i 用高斯轉成 0~1 的相似度:差越小越接近 1。s 是人的尺度、k_i 是各關節的容忍度,只算可見關節 (v_i&gt;0)。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40080" y="4846320"/>
            <a:ext cx="10881360" cy="1170432"/>
          </a:xfrm>
          <a:prstGeom prst="roundRect">
            <a:avLst>
              <a:gd name="adj" fmla="val 7813"/>
            </a:avLst>
          </a:prstGeom>
          <a:solidFill>
            <a:srgbClr val="DEF2F1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68680" y="5138928"/>
            <a:ext cx="1234440" cy="585216"/>
          </a:xfrm>
          <a:prstGeom prst="roundRect">
            <a:avLst>
              <a:gd name="adj" fmla="val 12500"/>
            </a:avLst>
          </a:prstGeom>
          <a:solidFill>
            <a:srgbClr val="138496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868680" y="5138928"/>
            <a:ext cx="12344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</a:t>
            </a:r>
            <a:endParaRPr lang="en-US" sz="1900" dirty="0"/>
          </a:p>
        </p:txBody>
      </p:sp>
      <p:sp>
        <p:nvSpPr>
          <p:cNvPr id="20" name="Shape 16"/>
          <p:cNvSpPr/>
          <p:nvPr/>
        </p:nvSpPr>
        <p:spPr>
          <a:xfrm>
            <a:off x="2331720" y="4956048"/>
            <a:ext cx="4892040" cy="95097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1740" y="5084050"/>
            <a:ext cx="4572000" cy="69497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7406640" y="4974336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掃過一串 OKS 門檻 (0.5→0.95),在每個門檻算一次 AP(準確率-召回率曲線下面積),再全部平均。這就是 COCO 的排名分數。</a:t>
            </a:r>
            <a:endParaRPr lang="en-US" sz="11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6144768"/>
            <a:ext cx="799021" cy="36576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2926080" y="612648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 = 每秒可推論的張數,直接由單張耗時決定 —— 準度之外的另一半故事。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DE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8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METRICS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核心取捨:精度 vs 速度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沒有「最好」的模型,只有「最適合你場景」的模型。</a:t>
            </a:r>
            <a:endParaRPr lang="en-US" sz="1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822960" y="2377440"/>
          <a:ext cx="667512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952129" y="510235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2922814" y="442569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OpenPose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2369602" y="3362379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HRNet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2211542" y="307238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ViTPose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772400" y="2377440"/>
            <a:ext cx="3749040" cy="402336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8001000" y="2606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怎麼讀這張圖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3063240"/>
            <a:ext cx="3291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右上角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又快又準(理想但難)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左上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很準但慢 → 離線分析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38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右下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很快夠用 → 手機即時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選擇偏「快」,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正好適合我們待會的即時實作。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3D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9456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1384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2468880" y="24688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主流方法比較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2514600" y="3337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四個你會反覆聽到的名字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14600" y="3886200"/>
            <a:ext cx="2286000" cy="0"/>
          </a:xfrm>
          <a:prstGeom prst="line">
            <a:avLst/>
          </a:prstGeom>
          <a:noFill/>
          <a:ln w="38100">
            <a:solidFill>
              <a:srgbClr val="FF6B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8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COMPARE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四大主流方案一覽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377440" cy="548640"/>
          </a:xfrm>
          <a:prstGeom prst="rect">
            <a:avLst/>
          </a:prstGeom>
          <a:solidFill>
            <a:srgbClr val="0B3D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8745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方案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017520" y="1874520"/>
            <a:ext cx="2743200" cy="548640"/>
          </a:xfrm>
          <a:prstGeom prst="rect">
            <a:avLst/>
          </a:prstGeom>
          <a:solidFill>
            <a:srgbClr val="0B3D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154680" y="18745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思路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760720" y="1874520"/>
            <a:ext cx="3291840" cy="548640"/>
          </a:xfrm>
          <a:prstGeom prst="rect">
            <a:avLst/>
          </a:prstGeom>
          <a:solidFill>
            <a:srgbClr val="0B3D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897880" y="18745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特色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052560" y="1874520"/>
            <a:ext cx="2468880" cy="548640"/>
          </a:xfrm>
          <a:prstGeom prst="rect">
            <a:avLst/>
          </a:prstGeom>
          <a:solidFill>
            <a:srgbClr val="0B3D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89720" y="18745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適合場景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2423160"/>
            <a:ext cx="23774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423160"/>
            <a:ext cx="2103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OpenPose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017520" y="2423160"/>
            <a:ext cx="27432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154680" y="2423160"/>
            <a:ext cx="24688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760720" y="2423160"/>
            <a:ext cx="32918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897880" y="2423160"/>
            <a:ext cx="30175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多人即時的經典代表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052560" y="2423160"/>
            <a:ext cx="24688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89720" y="2423160"/>
            <a:ext cx="21945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多人、監控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3264408"/>
            <a:ext cx="2377440" cy="841248"/>
          </a:xfrm>
          <a:prstGeom prst="rect">
            <a:avLst/>
          </a:prstGeom>
          <a:solidFill>
            <a:srgbClr val="DEF2F1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3264408"/>
            <a:ext cx="2103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HRNet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017520" y="3264408"/>
            <a:ext cx="2743200" cy="841248"/>
          </a:xfrm>
          <a:prstGeom prst="rect">
            <a:avLst/>
          </a:prstGeom>
          <a:solidFill>
            <a:srgbClr val="DEF2F1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154680" y="3264408"/>
            <a:ext cx="24688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 + 熱圖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760720" y="3264408"/>
            <a:ext cx="3291840" cy="841248"/>
          </a:xfrm>
          <a:prstGeom prst="rect">
            <a:avLst/>
          </a:prstGeom>
          <a:solidFill>
            <a:srgbClr val="DEF2F1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897880" y="3264408"/>
            <a:ext cx="30175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高解析、精度標竿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9052560" y="3264408"/>
            <a:ext cx="2468880" cy="841248"/>
          </a:xfrm>
          <a:prstGeom prst="rect">
            <a:avLst/>
          </a:prstGeom>
          <a:solidFill>
            <a:srgbClr val="DEF2F1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189720" y="3264408"/>
            <a:ext cx="21945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研究、離線高精度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0080" y="4105656"/>
            <a:ext cx="23774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7240" y="4105656"/>
            <a:ext cx="2103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ViTPose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017520" y="4105656"/>
            <a:ext cx="27432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154680" y="4105656"/>
            <a:ext cx="24688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760720" y="4105656"/>
            <a:ext cx="32918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897880" y="4105656"/>
            <a:ext cx="30175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近年 SOTA、準度極高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9052560" y="4105656"/>
            <a:ext cx="24688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189720" y="4105656"/>
            <a:ext cx="21945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追求最高精度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40080" y="4946904"/>
            <a:ext cx="2377440" cy="841248"/>
          </a:xfrm>
          <a:prstGeom prst="rect">
            <a:avLst/>
          </a:prstGeom>
          <a:solidFill>
            <a:srgbClr val="FFF3E8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77240" y="4946904"/>
            <a:ext cx="2103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017520" y="4946904"/>
            <a:ext cx="2743200" cy="841248"/>
          </a:xfrm>
          <a:prstGeom prst="rect">
            <a:avLst/>
          </a:prstGeom>
          <a:solidFill>
            <a:srgbClr val="FFF3E8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154680" y="4946904"/>
            <a:ext cx="24688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單人輕量管線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5760720" y="4946904"/>
            <a:ext cx="3291840" cy="841248"/>
          </a:xfrm>
          <a:prstGeom prst="rect">
            <a:avLst/>
          </a:prstGeom>
          <a:solidFill>
            <a:srgbClr val="FFF3E8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897880" y="4946904"/>
            <a:ext cx="30175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手機/瀏覽器即時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9052560" y="4946904"/>
            <a:ext cx="2468880" cy="841248"/>
          </a:xfrm>
          <a:prstGeom prst="rect">
            <a:avLst/>
          </a:prstGeom>
          <a:solidFill>
            <a:srgbClr val="FFF3E8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189720" y="4946904"/>
            <a:ext cx="21945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App、原型、教學</a:t>
            </a:r>
            <a:endParaRPr lang="en-US" sz="1250" dirty="0"/>
          </a:p>
        </p:txBody>
      </p:sp>
      <p:sp>
        <p:nvSpPr>
          <p:cNvPr id="44" name="Text 42"/>
          <p:cNvSpPr txBox="1"/>
          <p:nvPr/>
        </p:nvSpPr>
        <p:spPr>
          <a:xfrm>
            <a:off x="640080" y="5971032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今天實作用 MediaPipe:安裝快、跨平台、即時,最適合入門與快速驗證想法。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3D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9456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1384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2468880" y="24688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可用的資料集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2514600" y="3337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模型的養分從哪來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14600" y="3886200"/>
            <a:ext cx="2286000" cy="0"/>
          </a:xfrm>
          <a:prstGeom prst="line">
            <a:avLst/>
          </a:prstGeom>
          <a:noFill/>
          <a:ln w="38100">
            <a:solidFill>
              <a:srgbClr val="FF6B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8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DATASETS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常用公開資料集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29000" cy="1783080"/>
          </a:xfrm>
          <a:prstGeom prst="roundRect">
            <a:avLst>
              <a:gd name="adj" fmla="val 5128"/>
            </a:avLst>
          </a:prstGeom>
          <a:solidFill>
            <a:srgbClr val="DEF2F1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75688"/>
            <a:ext cx="164592" cy="164592"/>
          </a:xfrm>
          <a:prstGeom prst="ellipse">
            <a:avLst/>
          </a:prstGeom>
          <a:solidFill>
            <a:srgbClr val="13849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07008" y="1984248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COCO Keypoints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246888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最主流的 benchmark。20 萬+ 張、17 個關鍵點,多人、真實場景。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3200400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38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入門與比較首選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1783080"/>
            <a:ext cx="3429000" cy="1783080"/>
          </a:xfrm>
          <a:prstGeom prst="roundRect">
            <a:avLst>
              <a:gd name="adj" fmla="val 5128"/>
            </a:avLst>
          </a:prstGeom>
          <a:solidFill>
            <a:srgbClr val="DEF2F1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2075688"/>
            <a:ext cx="164592" cy="164592"/>
          </a:xfrm>
          <a:prstGeom prst="ellipse">
            <a:avLst/>
          </a:prstGeom>
          <a:solidFill>
            <a:srgbClr val="0B3D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956048" y="1984248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MPII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81728" y="246888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~2.5 萬張日常活動影像,涵蓋 400+ 種動作類別。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681728" y="3200400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動作多樣性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38160" y="1783080"/>
            <a:ext cx="3429000" cy="1783080"/>
          </a:xfrm>
          <a:prstGeom prst="roundRect">
            <a:avLst>
              <a:gd name="adj" fmla="val 5128"/>
            </a:avLst>
          </a:prstGeom>
          <a:solidFill>
            <a:srgbClr val="DEF2F1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0" y="2075688"/>
            <a:ext cx="164592" cy="164592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705088" y="1984248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Human3.6M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430768" y="246888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室內動捕、含 3D 標註,適合 3D 姿態研究。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430768" y="3200400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姿態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858768"/>
            <a:ext cx="3429000" cy="1783080"/>
          </a:xfrm>
          <a:prstGeom prst="roundRect">
            <a:avLst>
              <a:gd name="adj" fmla="val 5128"/>
            </a:avLst>
          </a:prstGeom>
          <a:solidFill>
            <a:srgbClr val="DEF2F1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4151376"/>
            <a:ext cx="164592" cy="164592"/>
          </a:xfrm>
          <a:prstGeom prst="ellipse">
            <a:avLst/>
          </a:prstGeom>
          <a:solidFill>
            <a:srgbClr val="F5B84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207008" y="4059936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CrowdPose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32688" y="4544568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專為「擁擠、重疊」場景設計,測試多人難度。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932688" y="5276088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擁擠多人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89120" y="3858768"/>
            <a:ext cx="3429000" cy="1783080"/>
          </a:xfrm>
          <a:prstGeom prst="roundRect">
            <a:avLst>
              <a:gd name="adj" fmla="val 5128"/>
            </a:avLst>
          </a:prstGeom>
          <a:solidFill>
            <a:srgbClr val="DEF2F1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4151376"/>
            <a:ext cx="164592" cy="164592"/>
          </a:xfrm>
          <a:prstGeom prst="ellipse">
            <a:avLst/>
          </a:prstGeom>
          <a:solidFill>
            <a:srgbClr val="3AAFA9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956048" y="4059936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PoseTrack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681728" y="4544568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影片資料集,含時間軸,適合姿態追蹤。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4681728" y="5276088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影片追蹤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38160" y="3858768"/>
            <a:ext cx="3429000" cy="1783080"/>
          </a:xfrm>
          <a:prstGeom prst="roundRect">
            <a:avLst>
              <a:gd name="adj" fmla="val 5128"/>
            </a:avLst>
          </a:prstGeom>
          <a:solidFill>
            <a:srgbClr val="FFF3E8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12480" y="4151376"/>
            <a:ext cx="164592" cy="164592"/>
          </a:xfrm>
          <a:prstGeom prst="ellipse">
            <a:avLst/>
          </a:prstGeom>
          <a:solidFill>
            <a:srgbClr val="13849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705088" y="4059936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自建資料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8430768" y="4544568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針對特定場景(如某運動)自己標註 + 微調。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8430768" y="5276088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38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客製化落地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3D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9456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2468880" y="24688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MediaPipe 實作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2514600" y="3337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從能跑,到客製化你自己的應用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14600" y="3886200"/>
            <a:ext cx="2286000" cy="0"/>
          </a:xfrm>
          <a:prstGeom prst="line">
            <a:avLst/>
          </a:prstGeom>
          <a:noFill/>
          <a:ln w="38100">
            <a:solidFill>
              <a:srgbClr val="F5B8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MEDIAPIPE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MediaPipe 是什麼?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開源的即時感知框架 — 免訓練、跨平台,幾行程式碼就能拿到骨架。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DEF2F1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40180" y="2743200"/>
            <a:ext cx="1005840" cy="100584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1698" y="3004718"/>
            <a:ext cx="482803" cy="48280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77240" y="39319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即時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443484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手機、瀏覽器、筆電 CPU 都能跑出流暢 FPS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502152" y="237744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DEF2F1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02252" y="2743200"/>
            <a:ext cx="1005840" cy="1005840"/>
          </a:xfrm>
          <a:prstGeom prst="ellipse">
            <a:avLst/>
          </a:prstGeom>
          <a:solidFill>
            <a:srgbClr val="13849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3770" y="3004718"/>
            <a:ext cx="482803" cy="48280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639312" y="39319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開箱即用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3730752" y="443484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內建預訓練模型,不必自己蒐資料訓練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364224" y="237744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DEF2F1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164324" y="2743200"/>
            <a:ext cx="1005840" cy="1005840"/>
          </a:xfrm>
          <a:prstGeom prst="ellipse">
            <a:avLst/>
          </a:prstGeom>
          <a:solidFill>
            <a:srgbClr val="0B3D4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5842" y="3004718"/>
            <a:ext cx="482803" cy="482803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501384" y="39319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 個關鍵點</a:t>
            </a:r>
            <a:endParaRPr lang="en-US" sz="1900" dirty="0"/>
          </a:p>
        </p:txBody>
      </p:sp>
      <p:sp>
        <p:nvSpPr>
          <p:cNvPr id="19" name="Text 14"/>
          <p:cNvSpPr txBox="1"/>
          <p:nvPr/>
        </p:nvSpPr>
        <p:spPr>
          <a:xfrm>
            <a:off x="6592824" y="443484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含臉、手、腳,比 COCO 更細,還能輸出 3D 座標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226296" y="237744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DEF2F1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0026396" y="2743200"/>
            <a:ext cx="1005840" cy="1005840"/>
          </a:xfrm>
          <a:prstGeom prst="ellipse">
            <a:avLst/>
          </a:prstGeom>
          <a:solidFill>
            <a:srgbClr val="3AAFA9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914" y="3004718"/>
            <a:ext cx="482803" cy="482803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363456" y="39319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易整合</a:t>
            </a:r>
            <a:endParaRPr lang="en-US" sz="1900" dirty="0"/>
          </a:p>
        </p:txBody>
      </p:sp>
      <p:sp>
        <p:nvSpPr>
          <p:cNvPr id="24" name="Text 18"/>
          <p:cNvSpPr txBox="1"/>
          <p:nvPr/>
        </p:nvSpPr>
        <p:spPr>
          <a:xfrm>
            <a:off x="9454896" y="443484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JS / Android / iOS 一致 API</a:t>
            </a:r>
            <a:endParaRPr lang="en-US" sz="1250" dirty="0"/>
          </a:p>
        </p:txBody>
      </p:sp>
      <p:sp>
        <p:nvSpPr>
          <p:cNvPr id="25" name="Text 19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3D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MEDIAPIPE · HANDS-ON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最小可跑範例:偵測一張圖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640080"/>
          </a:xfrm>
          <a:prstGeom prst="roundRect">
            <a:avLst>
              <a:gd name="adj" fmla="val 14286"/>
            </a:avLst>
          </a:prstGeom>
          <a:solidFill>
            <a:srgbClr val="11313A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B8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500" b="1" dirty="0">
                <a:solidFill>
                  <a:srgbClr val="3AAF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mediapipe opencv-python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6949440" cy="3977640"/>
          </a:xfrm>
          <a:prstGeom prst="roundRect">
            <a:avLst>
              <a:gd name="adj" fmla="val 2299"/>
            </a:avLst>
          </a:prstGeom>
          <a:solidFill>
            <a:srgbClr val="0E2A32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68680" y="2670048"/>
            <a:ext cx="64922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E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cv2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E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mediapipe as mp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E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mp_pose = mp.solutions.pose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E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draw    = mp.solutions.drawing_utils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E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1) 建立 Pose 偵測器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E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pose = mp_pose.Pose(static_image_mode=True)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E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2) 讀圖並轉成 RGB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E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 = cv2.imread("person.jpg")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E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= cv2.cvtColor(img, cv2.COLOR_BGR2RGB)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E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3) 推論 → 拿到 33 個關鍵點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E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pose.process(rgb)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E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4) 把骨架畫回原圖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E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result.pose_landmarks: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E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draw.draw_landmarks(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E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img, result.pose_landmarks,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E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mp_pose.POSE_CONNECTIONS)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E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cv2.imwrite("out.jpg", img)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818120" y="2697480"/>
            <a:ext cx="457200" cy="457200"/>
          </a:xfrm>
          <a:prstGeom prst="ellipse">
            <a:avLst/>
          </a:prstGeom>
          <a:solidFill>
            <a:srgbClr val="138496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6992" y="2816352"/>
            <a:ext cx="219456" cy="21945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366760" y="26517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建立偵測器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366760" y="29718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C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一行就載入預訓練模型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818120" y="3611880"/>
            <a:ext cx="457200" cy="457200"/>
          </a:xfrm>
          <a:prstGeom prst="ellipse">
            <a:avLst/>
          </a:prstGeom>
          <a:solidFill>
            <a:srgbClr val="13849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6992" y="3730752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8366760" y="35661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轉換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8366760" y="38862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C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預設 BGR,務必轉換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7818120" y="4526280"/>
            <a:ext cx="457200" cy="457200"/>
          </a:xfrm>
          <a:prstGeom prst="ellipse">
            <a:avLst/>
          </a:prstGeom>
          <a:solidFill>
            <a:srgbClr val="13849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992" y="4645152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366760" y="44805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process()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8366760" y="48006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C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核心:回傳關鍵點結果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7818120" y="5440680"/>
            <a:ext cx="457200" cy="457200"/>
          </a:xfrm>
          <a:prstGeom prst="ellipse">
            <a:avLst/>
          </a:prstGeom>
          <a:solidFill>
            <a:srgbClr val="13849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6992" y="5559552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366760" y="53949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draw_landmarks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8366760" y="57150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C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內建把骨架畫上去</a:t>
            </a:r>
            <a:endParaRPr lang="en-US" sz="1150" dirty="0"/>
          </a:p>
        </p:txBody>
      </p:sp>
      <p:sp>
        <p:nvSpPr>
          <p:cNvPr id="24" name="Text 18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MEDIAPIPE · HANDS-ON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即時版:讀取攝影機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把「讀一張圖」換成「不斷讀影格」,就成了即時姿態偵測。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7040880" cy="4343400"/>
          </a:xfrm>
          <a:prstGeom prst="roundRect">
            <a:avLst>
              <a:gd name="adj" fmla="val 2105"/>
            </a:avLst>
          </a:prstGeom>
          <a:solidFill>
            <a:srgbClr val="0E2A32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2286000"/>
            <a:ext cx="658368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DE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  = cv2.VideoCapture(0)          # 打開攝影機</a:t>
            </a:r>
            <a:endParaRPr lang="en-US" sz="10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DE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pose = mp_pose.Pose()               # 影片模式(預設)</a:t>
            </a:r>
            <a:endParaRPr lang="en-US" sz="1050" dirty="0"/>
          </a:p>
          <a:p>
            <a:pPr indent="0" marL="0">
              <a:lnSpc>
                <a:spcPct val="98000"/>
              </a:lnSpc>
              <a:buNone/>
            </a:pPr>
            <a:endParaRPr lang="en-US" sz="10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DE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cap.isOpened():</a:t>
            </a:r>
            <a:endParaRPr lang="en-US" sz="10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DE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ok, frame = cap.read()</a:t>
            </a:r>
            <a:endParaRPr lang="en-US" sz="10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DE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ok:</a:t>
            </a:r>
            <a:endParaRPr lang="en-US" sz="10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DE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</a:t>
            </a:r>
            <a:endParaRPr lang="en-US" sz="1050" dirty="0"/>
          </a:p>
          <a:p>
            <a:pPr indent="0" marL="0">
              <a:lnSpc>
                <a:spcPct val="98000"/>
              </a:lnSpc>
              <a:buNone/>
            </a:pPr>
            <a:endParaRPr lang="en-US" sz="10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DE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rgb = cv2.cvtColor(frame, cv2.COLOR_BGR2RGB)</a:t>
            </a:r>
            <a:endParaRPr lang="en-US" sz="10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DE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pose.process(rgb)      # 每一影格都推論</a:t>
            </a:r>
            <a:endParaRPr lang="en-US" sz="1050" dirty="0"/>
          </a:p>
          <a:p>
            <a:pPr indent="0" marL="0">
              <a:lnSpc>
                <a:spcPct val="98000"/>
              </a:lnSpc>
              <a:buNone/>
            </a:pPr>
            <a:endParaRPr lang="en-US" sz="10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DE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result.pose_landmarks:</a:t>
            </a:r>
            <a:endParaRPr lang="en-US" sz="10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DE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draw.draw_landmarks(</a:t>
            </a:r>
            <a:endParaRPr lang="en-US" sz="10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DE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frame, result.pose_landmarks,</a:t>
            </a:r>
            <a:endParaRPr lang="en-US" sz="10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DE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mp_pose.POSE_CONNECTIONS)</a:t>
            </a:r>
            <a:endParaRPr lang="en-US" sz="1050" dirty="0"/>
          </a:p>
          <a:p>
            <a:pPr indent="0" marL="0">
              <a:lnSpc>
                <a:spcPct val="98000"/>
              </a:lnSpc>
              <a:buNone/>
            </a:pPr>
            <a:endParaRPr lang="en-US" sz="10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DE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cv2.imshow("Pose", frame)       # 顯示結果</a:t>
            </a:r>
            <a:endParaRPr lang="en-US" sz="10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DE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cv2.waitKey(1) &amp; 0xFF == 27: # 按 ESC 離開</a:t>
            </a:r>
            <a:endParaRPr lang="en-US" sz="10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DE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</a:t>
            </a:r>
            <a:endParaRPr lang="en-US" sz="1050" dirty="0"/>
          </a:p>
          <a:p>
            <a:pPr indent="0" marL="0">
              <a:lnSpc>
                <a:spcPct val="98000"/>
              </a:lnSpc>
              <a:buNone/>
            </a:pPr>
            <a:endParaRPr lang="en-US" sz="10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DE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cap.release()</a:t>
            </a:r>
            <a:endParaRPr lang="en-US" sz="10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DE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cv2.destroyAllWindows()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863840" y="2194560"/>
            <a:ext cx="3657600" cy="4343400"/>
          </a:xfrm>
          <a:prstGeom prst="roundRect">
            <a:avLst>
              <a:gd name="adj" fmla="val 2500"/>
            </a:avLst>
          </a:prstGeom>
          <a:solidFill>
            <a:srgbClr val="DEF2F1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092440" y="2377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關鍵差異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092440" y="2880360"/>
            <a:ext cx="32461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VideoCapture(0)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開啟預設攝影機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迴圈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一格一格讀進來、推論、顯示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waitKey(1)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讓畫面更新;按 ESC 結束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記得 release()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釋放攝影機資源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DE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MEDIAPIPE · CUSTOMIZE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客製化重點:從關鍵點做出你的邏輯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給你座標,「要拿座標做什麼」由你決定 — 這就是客製化的核心。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6766560" cy="4160520"/>
          </a:xfrm>
          <a:prstGeom prst="roundRect">
            <a:avLst>
              <a:gd name="adj" fmla="val 2198"/>
            </a:avLst>
          </a:prstGeom>
          <a:solidFill>
            <a:srgbClr val="0E2A32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2395728"/>
            <a:ext cx="630936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E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lm = result.pose_landmarks.landmark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E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取出右肩、右肘、右手腕 (座標已正規化 0~1)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E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 = lm[mp_pose.PoseLandmark.RIGHT_SHOULDER]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E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= lm[mp_pose.PoseLandmark.RIGHT_ELBOW]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E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 = lm[mp_pose.PoseLandmark.RIGHT_WRIST]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E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用三點算出手肘夾角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E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E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angle(a, b, c):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E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 = np.array([a.x-b.x, a.y-b.y])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E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bc = np.array([c.x-b.x, c.y-b.y])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E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cos = np.dot(ba, bc) / (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E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np.linalg.norm(ba)*np.linalg.norm(bc))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E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np.degrees(np.arccos(cos))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E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elbow = angle(sh, el, wr)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E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elbow &lt; 60: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E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print("手臂彎曲 —— 完成一下!")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589520" y="2286000"/>
            <a:ext cx="3931920" cy="41605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818120" y="2468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可以做出什麼?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818120" y="2926080"/>
            <a:ext cx="502920" cy="50292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8879" y="3056839"/>
            <a:ext cx="241402" cy="24140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412480" y="2907792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健身計次:算關節角度判斷一下深蹲/伏地挺身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818120" y="3767328"/>
            <a:ext cx="502920" cy="502920"/>
          </a:xfrm>
          <a:prstGeom prst="ellipse">
            <a:avLst/>
          </a:prstGeom>
          <a:solidFill>
            <a:srgbClr val="13849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8879" y="3898087"/>
            <a:ext cx="241402" cy="24140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8412480" y="374904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姿勢矯正:偵測駝背、翹腳並提醒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7818120" y="4608576"/>
            <a:ext cx="502920" cy="502920"/>
          </a:xfrm>
          <a:prstGeom prst="ellipse">
            <a:avLst/>
          </a:prstGeom>
          <a:solidFill>
            <a:srgbClr val="0B3D4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8879" y="4739335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12480" y="4590288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手勢控制:舉手切換投影片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7818120" y="5449824"/>
            <a:ext cx="502920" cy="502920"/>
          </a:xfrm>
          <a:prstGeom prst="ellipse">
            <a:avLst/>
          </a:prstGeom>
          <a:solidFill>
            <a:srgbClr val="3AAFA9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8879" y="5580583"/>
            <a:ext cx="241402" cy="24140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412480" y="5431536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跌倒偵測:身體重心突然變低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MEDIAPIPE · CUSTOMIZE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再進一階:換模型與自訂任務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DEF2F1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48840"/>
            <a:ext cx="822960" cy="822960"/>
          </a:xfrm>
          <a:prstGeom prst="ellipse">
            <a:avLst/>
          </a:prstGeom>
          <a:solidFill>
            <a:srgbClr val="13849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70" y="2362810"/>
            <a:ext cx="395021" cy="3950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74520" y="2121408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選擇模型複雜度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874520" y="2633472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API 提供 Lite / Full / Heavy 三種:速度與精度取捨,依裝置選擇。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45352" y="182880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DEF2F1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19672" y="2148840"/>
            <a:ext cx="822960" cy="822960"/>
          </a:xfrm>
          <a:prstGeom prst="ellipse">
            <a:avLst/>
          </a:prstGeom>
          <a:solidFill>
            <a:srgbClr val="0B3D4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3642" y="2362810"/>
            <a:ext cx="395021" cy="39502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79792" y="2121408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手勢/臉部/全身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7479792" y="2633472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除了 Pose,還有 Hands、Face Mesh、Holistic,可組合出更豐富的應用。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3950208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FFF3E8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4270248"/>
            <a:ext cx="822960" cy="82296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370" y="4484218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874520" y="4242816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Maker 微調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1874520" y="4754880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用自己的少量資料,針對特定手勢或動作分類做遷移學習(呼應前面的 fine-tune)。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45352" y="3950208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DEF2F1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19672" y="4270248"/>
            <a:ext cx="822960" cy="822960"/>
          </a:xfrm>
          <a:prstGeom prst="ellipse">
            <a:avLst/>
          </a:prstGeom>
          <a:solidFill>
            <a:srgbClr val="3AAFA9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3642" y="4484218"/>
            <a:ext cx="395021" cy="395021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79792" y="4242816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部署到多平台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7479792" y="4754880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同一套邏輯可移植到網頁 (JS) 或手機 (Android/iOS),原型直接變產品。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B3D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接下來,換你動手!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0E2A32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21408"/>
            <a:ext cx="512064" cy="512064"/>
          </a:xfrm>
          <a:prstGeom prst="ellipse">
            <a:avLst/>
          </a:prstGeom>
          <a:solidFill>
            <a:srgbClr val="F5B84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1214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3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0574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裝環境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205740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AF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mediapipe opencv-python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97180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11313A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3172968"/>
            <a:ext cx="512064" cy="512064"/>
          </a:xfrm>
          <a:prstGeom prst="ellipse">
            <a:avLst/>
          </a:prstGeom>
          <a:solidFill>
            <a:srgbClr val="F5B84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31729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3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31089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跑靜態圖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10896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AF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用一張自己的照片,輸出骨架圖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02336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0E2A32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224528"/>
            <a:ext cx="512064" cy="512064"/>
          </a:xfrm>
          <a:prstGeom prst="ellipse">
            <a:avLst/>
          </a:prstGeom>
          <a:solidFill>
            <a:srgbClr val="F5B84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2245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3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41605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開攝影機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416052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AF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即時偵測,揮手看骨架跟隨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507492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11313A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5276088"/>
            <a:ext cx="512064" cy="512064"/>
          </a:xfrm>
          <a:prstGeom prst="ellipse">
            <a:avLst/>
          </a:prstGeom>
          <a:solidFill>
            <a:srgbClr val="F5B84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400" y="52760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3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1691640" y="52120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加邏輯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4663440" y="521208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AF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算手肘角度,做一個「舉手計次器」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DE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8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今天的重點回顧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749808"/>
          </a:xfrm>
          <a:prstGeom prst="roundRect">
            <a:avLst>
              <a:gd name="adj" fmla="val 12195"/>
            </a:avLst>
          </a:prstGeom>
          <a:solidFill>
            <a:srgbClr val="E8F3F2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01952"/>
            <a:ext cx="512064" cy="512064"/>
          </a:xfrm>
          <a:prstGeom prst="ellipse">
            <a:avLst/>
          </a:prstGeom>
          <a:solidFill>
            <a:srgbClr val="0B3D4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817" y="2035089"/>
            <a:ext cx="245791" cy="24579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874520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姿態估計 = 找關鍵點、連骨架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583680" y="1874520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輸出是一組 (x, y, 信心) 座標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2651760"/>
            <a:ext cx="1088136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68680" y="2770632"/>
            <a:ext cx="512064" cy="512064"/>
          </a:xfrm>
          <a:prstGeom prst="ellipse">
            <a:avLst/>
          </a:prstGeom>
          <a:solidFill>
            <a:srgbClr val="13849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817" y="2903769"/>
            <a:ext cx="245791" cy="24579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54480" y="2743200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熱圖是現代方法的骨幹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6583680" y="2743200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把「猜座標」變成好學的「畫機率地圖」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3520440"/>
            <a:ext cx="10881360" cy="749808"/>
          </a:xfrm>
          <a:prstGeom prst="roundRect">
            <a:avLst>
              <a:gd name="adj" fmla="val 12195"/>
            </a:avLst>
          </a:prstGeom>
          <a:solidFill>
            <a:srgbClr val="E8F3F2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3639312"/>
            <a:ext cx="512064" cy="512064"/>
          </a:xfrm>
          <a:prstGeom prst="ellipse">
            <a:avLst/>
          </a:prstGeom>
          <a:solidFill>
            <a:srgbClr val="0B3D4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817" y="3772449"/>
            <a:ext cx="245791" cy="24579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3611880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評估看精度也看速度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6583680" y="3611880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PCK / OKS 比準度,FPS 比即時性,兩者常需取捨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40080" y="4389120"/>
            <a:ext cx="1088136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68680" y="4507992"/>
            <a:ext cx="512064" cy="512064"/>
          </a:xfrm>
          <a:prstGeom prst="ellipse">
            <a:avLst/>
          </a:prstGeom>
          <a:solidFill>
            <a:srgbClr val="13849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817" y="4641129"/>
            <a:ext cx="245791" cy="245791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54480" y="4480560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沒有最好,只有最適合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6583680" y="4480560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研究拚精度、產品拚速度與部署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640080" y="5257800"/>
            <a:ext cx="10881360" cy="749808"/>
          </a:xfrm>
          <a:prstGeom prst="roundRect">
            <a:avLst>
              <a:gd name="adj" fmla="val 12195"/>
            </a:avLst>
          </a:prstGeom>
          <a:solidFill>
            <a:srgbClr val="E8F3F2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68680" y="5376672"/>
            <a:ext cx="512064" cy="512064"/>
          </a:xfrm>
          <a:prstGeom prst="ellipse">
            <a:avLst/>
          </a:prstGeom>
          <a:solidFill>
            <a:srgbClr val="0B3D4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817" y="5509809"/>
            <a:ext cx="245791" cy="245791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554480" y="5349240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MediaPipe 讓入門零門檻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6583680" y="5349240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免訓練即時偵測,客製化在於「用座標寫邏輯」</a:t>
            </a:r>
            <a:endParaRPr lang="en-US" sz="1250" dirty="0"/>
          </a:p>
        </p:txBody>
      </p:sp>
      <p:sp>
        <p:nvSpPr>
          <p:cNvPr id="29" name="Text 22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B3D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15016" y="1271016"/>
            <a:ext cx="0" cy="640080"/>
          </a:xfrm>
          <a:prstGeom prst="line">
            <a:avLst/>
          </a:prstGeom>
          <a:noFill/>
          <a:ln w="25400">
            <a:solidFill>
              <a:srgbClr val="3AAFA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15016" y="1911096"/>
            <a:ext cx="-457200" cy="365760"/>
          </a:xfrm>
          <a:prstGeom prst="line">
            <a:avLst/>
          </a:prstGeom>
          <a:noFill/>
          <a:ln w="25400">
            <a:solidFill>
              <a:srgbClr val="3AAFA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15016" y="1911096"/>
            <a:ext cx="457200" cy="365760"/>
          </a:xfrm>
          <a:prstGeom prst="line">
            <a:avLst/>
          </a:prstGeom>
          <a:noFill/>
          <a:ln w="25400">
            <a:solidFill>
              <a:srgbClr val="3AAFA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15016" y="1911096"/>
            <a:ext cx="0" cy="914400"/>
          </a:xfrm>
          <a:prstGeom prst="line">
            <a:avLst/>
          </a:prstGeom>
          <a:noFill/>
          <a:ln w="25400">
            <a:solidFill>
              <a:srgbClr val="3AAFA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32720" y="1188720"/>
            <a:ext cx="164592" cy="164592"/>
          </a:xfrm>
          <a:prstGeom prst="ellipse">
            <a:avLst/>
          </a:prstGeom>
          <a:solidFill>
            <a:srgbClr val="F5B841"/>
          </a:solidFill>
          <a:ln/>
        </p:spPr>
      </p:sp>
      <p:sp>
        <p:nvSpPr>
          <p:cNvPr id="7" name="Shape 5"/>
          <p:cNvSpPr/>
          <p:nvPr/>
        </p:nvSpPr>
        <p:spPr>
          <a:xfrm>
            <a:off x="10332720" y="1828800"/>
            <a:ext cx="164592" cy="164592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8" name="Shape 6"/>
          <p:cNvSpPr/>
          <p:nvPr/>
        </p:nvSpPr>
        <p:spPr>
          <a:xfrm>
            <a:off x="9875520" y="2194560"/>
            <a:ext cx="164592" cy="164592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9" name="Shape 7"/>
          <p:cNvSpPr/>
          <p:nvPr/>
        </p:nvSpPr>
        <p:spPr>
          <a:xfrm>
            <a:off x="10789920" y="2194560"/>
            <a:ext cx="164592" cy="164592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0" name="Shape 8"/>
          <p:cNvSpPr/>
          <p:nvPr/>
        </p:nvSpPr>
        <p:spPr>
          <a:xfrm>
            <a:off x="10332720" y="2743200"/>
            <a:ext cx="164592" cy="164592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3063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有問題嗎?接下來我們一起動手玩 MediaPipe。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77240" y="3749040"/>
            <a:ext cx="2011680" cy="0"/>
          </a:xfrm>
          <a:prstGeom prst="line">
            <a:avLst/>
          </a:prstGeom>
          <a:noFill/>
          <a:ln w="38100">
            <a:solidFill>
              <a:srgbClr val="FF6B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延伸資源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43891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E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官方文件  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FC5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ai.google.dev/edge/mediapipe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E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 Keypoints Dataset  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FC5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cocodataset.org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E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With Code — Pose Estimation  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FC5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paperswithcode.com/task/pose-estimation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2026-09-02T14:26:07Z</dcterms:created>
  <dcterms:modified xsi:type="dcterms:W3CDTF">2026-09-02T14:26:07Z</dcterms:modified>
</cp:coreProperties>
</file>