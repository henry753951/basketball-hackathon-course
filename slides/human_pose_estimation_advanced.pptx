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這是進階篇,承接入門篇。入門篇建立了「關鍵點、熱圖、評估指標」的直覺;這裡沿著時間軸走過五個代表性方法,看每一篇解決了前一篇的什麼問題。仍然重直覺,但會帶到關鍵公式與架構圖。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用這頁當地圖。核心敘事:回歸座標(DeepPose)→ 發現熱圖更好學且要多階段修正(CPM)→ 用 encoder-decoder 抓多尺度(Hourglass)→ 解決多人與即時(OpenPose)→ 最後 Transformer 把架構簡化又衝上 SOTA(ViTPose)。每頁講完可回來這條線定位。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第一個里程碑。重點:它是第一個用深度學習端到端做姿態估計的工作,奠定了「回歸」這個提法。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對照入門篇「直接回歸 vs 熱圖」。用論文原圖講:左邊 initial stage 直接回歸座標,右邊 stage s 在預測點附近裁切、預測位移量、送回下一階段。cascade 是亮點但各階段獨立、不共享資訊——正是 CPM 要改的。位移公式 y^(s)=y^(s-1)+δ 對應 PDF 第4頁。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第二個里程碑。把輸出從座標改成 belief map(heatmap),並引入跨階段的空間脈絡與中繼監督。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 PDF 第10-13頁。belief map = heatmap 的別名。空間脈絡(spatial context)是 CPM 的靈魂:先定位容易的部位,用它們的 belief map 幫忙難的部位。論文原圖上排可看到同一關節的 belief map 從 stage 1 的發散逐步聚焦;下排顯示 receptive field 隨階段從 9×9 擴大到 400×400,這就是能學到長距離關係的原因。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中繼監督(intermediate supervision)是這頁重點,也是後面 Hourglass 沿用的關鍵技巧。公式對應 PDF 第14頁:F = Σ_t f_t,每個 f_t 是該階段 belief map 的逐像素 L2。跟學生說:這招讓「很深的網路」也訓得動。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第三個里程碑。用對稱的下採樣-上採樣結構,在多個尺度上抓資訊,再堆疊多個沙漏反覆修正。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 PDF 第21-23頁。用「壓縮→還原」比喻:下採樣像縮圖看整體姿勢,上採樣像放大回去標精確位置。skip connection 是關鍵——把早期高解析特徵接回來,避免定位資訊在下採樣時流失。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 PDF 第21、24頁。用論文原圖講「堆疊」最直觀:一個接一個的沙漏形狀,最後輸出 heatmap。兩個重點:(1)weights 不共享,每個沙漏獨立學;(2)每個沙漏都用同一組 ground truth 施加 loss(沿用 CPM 的中繼監督)。這種堆疊+反覆 refine 影響深遠。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第四個里程碑。前三篇都是單人(top-down 需先框人)。OpenPose 走 bottom-up,一次抓全畫面所有關節,並用 PAF 解決「哪個關節屬於哪個人」。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 PDF 第29、32頁。核心對比:top-down(前面所有方法)vs bottom-up(OpenPose)。雙分支:S 分支找關節在哪(confidence map),L 分支找肢體方向(PAF)。公式 S^t, L^t 表示每一階段兩分支都會參考上一階段的輸出。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 PDF 第30、34、35頁。PAF 直覺:每個像素記一個「這條手臂朝哪」的箭頭。要判斷「肩膀A是否接手肘B」,就沿 A→B 連線積分,看途中的向量是否都順著這個方向——是的話給高分。最後用二分圖匹配挑最佳連法。這就是 bottom-up 解決分組的關鍵。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 PDF 第31頁,全篇最好的一張流程圖。順著 (a)→(e) 講一遍:輸入整張圖,雙分支同時算出 (b) 每個關節的 confidence map 與 (c) PAF 向量場,(d) 用二分圖匹配把關節配對成人,(e) 輸出所有人的骨架。強調這是「一次前傳、一次搞定全畫面」——這就是 bottom-up 為何能即時。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第五個里程碑,也是現代主流之一。不再堆疊複雜結構,而是用一個樸素的 Vision Transformer 當骨幹,證明「簡單 + 好的預訓練」就能到 SOTA。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 PDF 第67-69頁。用論文原圖講:上半是主架構(patch embedding→L 個 transformer block→decoder→輸出);論文也給了 transformer block 內部與多種 decoder 選項。ViTPose 的定位:不是新奇架構,而是證明「最樸素的 ViT + MAE 預訓練 + 正確訓練」就能成為新 SOTA baseline。四特性是論文強調的賣點。也是第一個實作 ViT-Huge 的姿態工作。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這頁幫入門學生建立 CNN vs Transformer 的直覺,不需要懂 attention 數學。核心對比:CNN 局部、逐層擴大;Transformer 一步全局互看。點出取捨:Transformer 表達力強但吃資料,所以 ViTPose 依賴 MAE 預訓練。也可提 TokenPose 這類「為每個關節一個 token」的變體(PDF 也有涵蓋)。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全篇總結表。可讓學生用「預測形式」這一欄看出主線:只有 DeepPose 是回歸,之後全是 heatmap;OpenPose 額外加 PAF 解決多人。最後強調演進邏輯——每個方法都是為了補前一個的不足。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把五篇濃縮成三條可記憶的主軸:輸出表示、脈絡範圍、人數處理。這是希望學生離開教室後還記得的骨架。任何新論文都可以放到這三軸上定位。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收尾並預告延伸主題(這些 PDF 也涵蓋):3D(Martinez 的簡單 baseline、VideoPose3D)、Transformer 變體(TokenPose、HRFormer)、以及 HRNet 這條「全程高解析」的重要支線。有時間可再各補一頁,或當作課後閱讀。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1371600"/>
            <a:ext cx="0" cy="457200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1828800"/>
            <a:ext cx="-640080" cy="73152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1828800"/>
            <a:ext cx="640080" cy="73152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0" y="1901952"/>
            <a:ext cx="-228600" cy="566928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35640" y="1901952"/>
            <a:ext cx="228600" cy="566928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95560" y="1828800"/>
            <a:ext cx="0" cy="960120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95560" y="2788920"/>
            <a:ext cx="-457200" cy="640080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95560" y="2788920"/>
            <a:ext cx="457200" cy="640080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1552" y="1307592"/>
            <a:ext cx="128016" cy="128016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1" name="Shape 9"/>
          <p:cNvSpPr/>
          <p:nvPr/>
        </p:nvSpPr>
        <p:spPr>
          <a:xfrm>
            <a:off x="10131552" y="1764792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9491472" y="1837944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71632" y="1837944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Shape 12"/>
          <p:cNvSpPr/>
          <p:nvPr/>
        </p:nvSpPr>
        <p:spPr>
          <a:xfrm>
            <a:off x="9262872" y="2404872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00232" y="2404872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31552" y="2724912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674352" y="3364992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88752" y="3364992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1828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人體姿態估計 · 進階篇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27432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五個里程碑,看懂 2D Pose Estimation 的技術演進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77240" y="3520440"/>
            <a:ext cx="201168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E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DeepPose → CPM → Stacked Hourglass → OpenPose → ViTPose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銜接入門篇 · 適合想深入方法細節的同學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一條主線:從回歸座標到 Transformer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每一個方法,都是為了解決前一個方法的痛點而生。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77063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0B3D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15568" y="277063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3383280"/>
            <a:ext cx="804672" cy="804672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375" y="3592495"/>
            <a:ext cx="386243" cy="38624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42976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DeepPose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47091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把姿態當「回歸」,CNN 首次端到端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3657600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62072" y="251460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37560" y="277063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13849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337560" y="277063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502152" y="3383280"/>
            <a:ext cx="804672" cy="804672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367" y="3592495"/>
            <a:ext cx="386243" cy="38624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953512" y="42976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CPM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026664" y="47091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改預測 heatmap + 多階段監督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3657600"/>
            <a:ext cx="219456" cy="2194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84064" y="251460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559552" y="277063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3AAFA9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5559552" y="277063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724144" y="3383280"/>
            <a:ext cx="804672" cy="804672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359" y="3592495"/>
            <a:ext cx="386243" cy="38624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75504" y="42976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Hourglass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5248656" y="47091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+ 多尺度融合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6892" y="3657600"/>
            <a:ext cx="219456" cy="219456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306056" y="251460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781544" y="277063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FF6B4A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7781544" y="277063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7946136" y="3383280"/>
            <a:ext cx="804672" cy="804672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5351" y="3592495"/>
            <a:ext cx="386243" cy="386243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397496" y="42976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OpenPose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7470648" y="47091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+ PAF,即時多人</a:t>
            </a:r>
            <a:endParaRPr lang="en-US" sz="11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3657600"/>
            <a:ext cx="219456" cy="219456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9528048" y="251460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10003536" y="277063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F5B841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10003536" y="2770632"/>
            <a:ext cx="11338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600" dirty="0"/>
          </a:p>
        </p:txBody>
      </p:sp>
      <p:sp>
        <p:nvSpPr>
          <p:cNvPr id="40" name="Shape 30"/>
          <p:cNvSpPr/>
          <p:nvPr/>
        </p:nvSpPr>
        <p:spPr>
          <a:xfrm>
            <a:off x="10168128" y="3383280"/>
            <a:ext cx="804672" cy="804672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7343" y="3592495"/>
            <a:ext cx="386243" cy="386243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619488" y="42976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ViTPose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9692640" y="47091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 Transformer,簡單即 SOTA</a:t>
            </a:r>
            <a:endParaRPr lang="en-US" sz="1100" dirty="0"/>
          </a:p>
        </p:txBody>
      </p:sp>
      <p:sp>
        <p:nvSpPr>
          <p:cNvPr id="44" name="Text 3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38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224028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DeepPose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3200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把姿態估計變成「回歸問題」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88920" y="3749040"/>
            <a:ext cx="2286000" cy="0"/>
          </a:xfrm>
          <a:prstGeom prst="line">
            <a:avLst/>
          </a:prstGeom>
          <a:noFill/>
          <a:ln w="38100">
            <a:solidFill>
              <a:srgbClr val="1384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89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Toshev &amp; Szegedy, CVPR 2014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DEEPPOSE · 2014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核心想法:直接回歸關節座標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整張 220×220 影像丟進 CNN,最後一層直接輸出座標;再用 cascade 逐階段裁切精修。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7878" y="2194560"/>
            <a:ext cx="7165765" cy="1828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0416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圖:DeepPose 架構 — 左為初始回歸,右為裁切後的精修階段 (Toshev &amp; Szegedy, CVPR 2014)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1440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精修 = 預測「位移量」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9560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在上一階段預測點附近裁子圖,再跑一次 CNN 修正。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544068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474" y="5550408"/>
            <a:ext cx="1562331" cy="3840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97880" y="4434840"/>
            <a:ext cx="5623560" cy="1645920"/>
          </a:xfrm>
          <a:prstGeom prst="roundRect">
            <a:avLst>
              <a:gd name="adj" fmla="val 5556"/>
            </a:avLst>
          </a:prstGeom>
          <a:solidFill>
            <a:srgbClr val="FDECE8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172200" y="4663440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337" y="4796577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0" y="4645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留下的問題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0" y="498348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回歸「一個座標」難學、對位置敏感;各階段獨立、不共享資訊。→ 下一步改預測 heatmap。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224028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CPM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3200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Pose Machines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88920" y="3749040"/>
            <a:ext cx="228600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89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et al., CVPR 2016 · 多階段 heatmap + 中繼監督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CPM · 2016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兩個關鍵:belief map 與空間脈絡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731520" cy="731520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121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輸出改成 belief map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260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不再回歸 (x,y),而是每個關節輸出一張機率圖。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保留空間資訊、容忍小誤差,比回歸好學得多。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(呼應入門篇的熱圖概念)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057400"/>
            <a:ext cx="731520" cy="73152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15" y="22475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121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用「空間脈絡」互相修正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9260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好定位的部位(頭、肩)產生的 belief map,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能當作線索去幫難定位的部位(如手腕)。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越後面的階段,CNN 越深、receptive field 越大,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能學到部位間的長距離關係。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679" y="4251960"/>
            <a:ext cx="4178161" cy="19659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圖:CPM 架構 — 上排 belief map 逐階段從發散到聚焦,下排感受野隨階段擴大 (Wei et al., CVPR 2016)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CPM · 2016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中繼監督:每一階段都算 loss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深層網路容易梯度消失。CPM 在每個階段的輸出都放一個 loss,讓監督訊號直達每一層。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→ belief map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402336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FF6B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91640" y="4023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3840480"/>
            <a:ext cx="0" cy="182880"/>
          </a:xfrm>
          <a:prstGeom prst="line">
            <a:avLst/>
          </a:prstGeom>
          <a:noFill/>
          <a:ln w="25400">
            <a:solidFill>
              <a:srgbClr val="FF6B4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9312" y="2971800"/>
            <a:ext cx="292608" cy="2926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06240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29768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→ belief map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83480" y="402336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FF6B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983480" y="4023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40680" y="3840480"/>
            <a:ext cx="0" cy="182880"/>
          </a:xfrm>
          <a:prstGeom prst="line">
            <a:avLst/>
          </a:prstGeom>
          <a:noFill/>
          <a:ln w="25400">
            <a:solidFill>
              <a:srgbClr val="FF6B4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2971800"/>
            <a:ext cx="292608" cy="29260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498080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758952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5895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→ belief map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75320" y="402336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FF6B4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275320" y="4023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732520" y="3840480"/>
            <a:ext cx="0" cy="182880"/>
          </a:xfrm>
          <a:prstGeom prst="line">
            <a:avLst/>
          </a:prstGeom>
          <a:noFill/>
          <a:ln w="25400">
            <a:solidFill>
              <a:srgbClr val="FF6B4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914400" y="4892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總損失 = 所有階段的 belief-map loss 相加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914400" y="52578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每個像素比對「預測」與「目標」belief map,再對所有部位 p、所有位置 z、所有階段 t 加總。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858000" y="4892040"/>
            <a:ext cx="44805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378" y="5001768"/>
            <a:ext cx="2733803" cy="56692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AAF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224028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Stacked Hourglass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3200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沙漏形 encoder-decoder,多尺度融合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88920" y="3749040"/>
            <a:ext cx="2286000" cy="0"/>
          </a:xfrm>
          <a:prstGeom prst="line">
            <a:avLst/>
          </a:prstGeom>
          <a:noFill/>
          <a:ln w="38100">
            <a:solidFill>
              <a:srgbClr val="3AAF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89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Newell et al., ECCV 2016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HOURGLASS · 2016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沙漏結構:先壓縮,再還原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關節線索最適合在「不同尺度」下辨識。沙漏先下採樣抓全局結構,再上採樣還原精確位置。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2880360"/>
            <a:ext cx="502920" cy="1737360"/>
          </a:xfrm>
          <a:prstGeom prst="roundRect">
            <a:avLst>
              <a:gd name="adj" fmla="val 9091"/>
            </a:avLst>
          </a:prstGeom>
          <a:solidFill>
            <a:srgbClr val="0B3D4A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3200400"/>
            <a:ext cx="502920" cy="1097280"/>
          </a:xfrm>
          <a:prstGeom prst="roundRect">
            <a:avLst>
              <a:gd name="adj" fmla="val 9091"/>
            </a:avLst>
          </a:prstGeom>
          <a:solidFill>
            <a:srgbClr val="0B3D4A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3429000"/>
            <a:ext cx="502920" cy="640080"/>
          </a:xfrm>
          <a:prstGeom prst="roundRect">
            <a:avLst>
              <a:gd name="adj" fmla="val 9091"/>
            </a:avLst>
          </a:prstGeom>
          <a:solidFill>
            <a:srgbClr val="0B3D4A"/>
          </a:solidFill>
          <a:ln/>
        </p:spPr>
      </p:sp>
      <p:sp>
        <p:nvSpPr>
          <p:cNvPr id="8" name="Shape 6"/>
          <p:cNvSpPr/>
          <p:nvPr/>
        </p:nvSpPr>
        <p:spPr>
          <a:xfrm>
            <a:off x="4251960" y="361188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0" y="3429000"/>
            <a:ext cx="502920" cy="640080"/>
          </a:xfrm>
          <a:prstGeom prst="roundRect">
            <a:avLst>
              <a:gd name="adj" fmla="val 9091"/>
            </a:avLst>
          </a:prstGeom>
          <a:solidFill>
            <a:srgbClr val="138496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3200400"/>
            <a:ext cx="502920" cy="1097280"/>
          </a:xfrm>
          <a:prstGeom prst="roundRect">
            <a:avLst>
              <a:gd name="adj" fmla="val 9091"/>
            </a:avLst>
          </a:prstGeom>
          <a:solidFill>
            <a:srgbClr val="138496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0" y="2880360"/>
            <a:ext cx="502920" cy="1737360"/>
          </a:xfrm>
          <a:prstGeom prst="roundRect">
            <a:avLst>
              <a:gd name="adj" fmla="val 9091"/>
            </a:avLst>
          </a:prstGeom>
          <a:solidFill>
            <a:srgbClr val="13849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3639312"/>
            <a:ext cx="182880" cy="18288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3639312"/>
            <a:ext cx="182880" cy="18288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3639312"/>
            <a:ext cx="182880" cy="18288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639312"/>
            <a:ext cx="182880" cy="18288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3639312"/>
            <a:ext cx="182880" cy="18288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3639312"/>
            <a:ext cx="182880" cy="1828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1623060" y="2880360"/>
            <a:ext cx="0" cy="502920"/>
          </a:xfrm>
          <a:prstGeom prst="line">
            <a:avLst/>
          </a:prstGeom>
          <a:noFill/>
          <a:ln w="19050">
            <a:solidFill>
              <a:srgbClr val="F5B841"/>
            </a:solidFill>
            <a:prstDash val="dash"/>
          </a:ln>
        </p:spPr>
      </p:sp>
      <p:sp>
        <p:nvSpPr>
          <p:cNvPr id="19" name="Shape 11"/>
          <p:cNvSpPr/>
          <p:nvPr/>
        </p:nvSpPr>
        <p:spPr>
          <a:xfrm>
            <a:off x="1623060" y="2377440"/>
            <a:ext cx="5760720" cy="0"/>
          </a:xfrm>
          <a:prstGeom prst="line">
            <a:avLst/>
          </a:prstGeom>
          <a:noFill/>
          <a:ln w="19050">
            <a:solidFill>
              <a:srgbClr val="F5B841"/>
            </a:solidFill>
            <a:prstDash val="dash"/>
          </a:ln>
        </p:spPr>
      </p:sp>
      <p:sp>
        <p:nvSpPr>
          <p:cNvPr id="20" name="Shape 12"/>
          <p:cNvSpPr/>
          <p:nvPr/>
        </p:nvSpPr>
        <p:spPr>
          <a:xfrm>
            <a:off x="7383780" y="2377440"/>
            <a:ext cx="0" cy="502920"/>
          </a:xfrm>
          <a:prstGeom prst="line">
            <a:avLst/>
          </a:prstGeom>
          <a:noFill/>
          <a:ln w="19050">
            <a:solidFill>
              <a:srgbClr val="F5B841"/>
            </a:solidFill>
            <a:prstDash val="dash"/>
          </a:ln>
        </p:spPr>
      </p:sp>
      <p:sp>
        <p:nvSpPr>
          <p:cNvPr id="21" name="Shape 13"/>
          <p:cNvSpPr/>
          <p:nvPr/>
        </p:nvSpPr>
        <p:spPr>
          <a:xfrm>
            <a:off x="2628900" y="3200400"/>
            <a:ext cx="0" cy="987552"/>
          </a:xfrm>
          <a:prstGeom prst="line">
            <a:avLst/>
          </a:prstGeom>
          <a:noFill/>
          <a:ln w="19050">
            <a:solidFill>
              <a:srgbClr val="F5B841"/>
            </a:solidFill>
            <a:prstDash val="dash"/>
          </a:ln>
        </p:spPr>
      </p:sp>
      <p:sp>
        <p:nvSpPr>
          <p:cNvPr id="22" name="Shape 14"/>
          <p:cNvSpPr/>
          <p:nvPr/>
        </p:nvSpPr>
        <p:spPr>
          <a:xfrm>
            <a:off x="2628900" y="2212848"/>
            <a:ext cx="3749040" cy="0"/>
          </a:xfrm>
          <a:prstGeom prst="line">
            <a:avLst/>
          </a:prstGeom>
          <a:noFill/>
          <a:ln w="19050">
            <a:solidFill>
              <a:srgbClr val="F5B841"/>
            </a:solidFill>
            <a:prstDash val="dash"/>
          </a:ln>
        </p:spPr>
      </p:sp>
      <p:sp>
        <p:nvSpPr>
          <p:cNvPr id="23" name="Shape 15"/>
          <p:cNvSpPr/>
          <p:nvPr/>
        </p:nvSpPr>
        <p:spPr>
          <a:xfrm>
            <a:off x="6377940" y="2212848"/>
            <a:ext cx="0" cy="987552"/>
          </a:xfrm>
          <a:prstGeom prst="line">
            <a:avLst/>
          </a:prstGeom>
          <a:noFill/>
          <a:ln w="19050">
            <a:solidFill>
              <a:srgbClr val="F5B841"/>
            </a:solidFill>
            <a:prstDash val="dash"/>
          </a:ln>
        </p:spPr>
      </p:sp>
      <p:sp>
        <p:nvSpPr>
          <p:cNvPr id="24" name="Shape 16"/>
          <p:cNvSpPr/>
          <p:nvPr/>
        </p:nvSpPr>
        <p:spPr>
          <a:xfrm>
            <a:off x="3634740" y="3429000"/>
            <a:ext cx="0" cy="1380744"/>
          </a:xfrm>
          <a:prstGeom prst="line">
            <a:avLst/>
          </a:prstGeom>
          <a:noFill/>
          <a:ln w="19050">
            <a:solidFill>
              <a:srgbClr val="F5B841"/>
            </a:solidFill>
            <a:prstDash val="dash"/>
          </a:ln>
        </p:spPr>
      </p:sp>
      <p:sp>
        <p:nvSpPr>
          <p:cNvPr id="25" name="Shape 17"/>
          <p:cNvSpPr/>
          <p:nvPr/>
        </p:nvSpPr>
        <p:spPr>
          <a:xfrm>
            <a:off x="3634740" y="2048256"/>
            <a:ext cx="1737360" cy="0"/>
          </a:xfrm>
          <a:prstGeom prst="line">
            <a:avLst/>
          </a:prstGeom>
          <a:noFill/>
          <a:ln w="19050">
            <a:solidFill>
              <a:srgbClr val="F5B841"/>
            </a:solidFill>
            <a:prstDash val="dash"/>
          </a:ln>
        </p:spPr>
      </p:sp>
      <p:sp>
        <p:nvSpPr>
          <p:cNvPr id="26" name="Shape 18"/>
          <p:cNvSpPr/>
          <p:nvPr/>
        </p:nvSpPr>
        <p:spPr>
          <a:xfrm>
            <a:off x="5372100" y="2048256"/>
            <a:ext cx="0" cy="1380744"/>
          </a:xfrm>
          <a:prstGeom prst="line">
            <a:avLst/>
          </a:prstGeom>
          <a:noFill/>
          <a:ln w="19050">
            <a:solidFill>
              <a:srgbClr val="F5B841"/>
            </a:solidFill>
            <a:prstDash val="dash"/>
          </a:ln>
        </p:spPr>
      </p:sp>
      <p:sp>
        <p:nvSpPr>
          <p:cNvPr id="27" name="Text 19"/>
          <p:cNvSpPr txBox="1"/>
          <p:nvPr/>
        </p:nvSpPr>
        <p:spPr>
          <a:xfrm>
            <a:off x="128016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下採樣 (encoder)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5029200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上採樣 (decoder)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374904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9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skip connection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229600" y="27432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8458200" y="2926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connection 為何重要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458200" y="35661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下採樣會流失精確位置。把早期的高解析特徵直接接回上採樣端,才能同時擁有「全局結構 + 精準定位」。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HOURGLASS · 2016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堆疊多個沙漏 + 每個都給監督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把沙漏一個接一個串起來,每個沙漏都輸出一次 heatmap 並施加 loss——反覆 bottom-up / top-down 修正。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2809" y="2286000"/>
            <a:ext cx="5675902" cy="2148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3891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圖:堆疊多個沙漏模組,反覆進行 bottom-up / top-down 推論 (Newell et al., ECCV 2016)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05840" y="475488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80160" y="4983480"/>
            <a:ext cx="548640" cy="54864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06" y="512612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11680" y="4956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帶走一句話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011680" y="530352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沙漏 = 多尺度 encoder-decoder。堆疊 + 每個沙漏都施加 loss(中繼監督)= 反覆修正。weights 不共享,各自學。此設計成為之後多年 heatmap 方法的骨幹。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224028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OpenPose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3200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即時多人:Bottom-up + PAF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88920" y="3749040"/>
            <a:ext cx="228600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89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et al., CVPR 2017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OPENPOSE · 2017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 Bottom-up?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DECE8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Top-down 的痛點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先偵測每個人,再對每人各跑一次姿態模型。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人越多越慢;重疊、遮擋時人框易出錯。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8F3F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 的做法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一次找出畫面中「所有人的所有關節」。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速度與人數無關 → 即時。難點是關節如何分組給每個人。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雙分支多階段 CNN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57200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384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5720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1 → S: Confidence maps  (關節位置)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525780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FF6B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5257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2 → L: Part Affinity Fields (肢體方向)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4617720"/>
            <a:ext cx="5852160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7835" y="4727448"/>
            <a:ext cx="4889290" cy="5029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0" y="54406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兩個分支逐階段互相參考、反覆精修(沿用多階段 + 中繼監督的思路)。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OPENPOSE · 2017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PAF:把散落的關節「配對」成人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 是一組 2D 向量場——每個像素存一個方向,指出「這條肢體往哪走」。用它決定哪兩個關節該連。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9377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487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關節配對:PAF 幫忙選對連法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531" y="2880360"/>
            <a:ext cx="4176858" cy="1874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4754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所有可能連法 → (b) 中點法易錯 → (c) PAF 連對 (Cao et al., 2017)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138928"/>
            <a:ext cx="1936038" cy="502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806440" y="2331720"/>
            <a:ext cx="5715000" cy="3657600"/>
          </a:xfrm>
          <a:prstGeom prst="roundRect">
            <a:avLst>
              <a:gd name="adj" fmla="val 2500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03504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配對三步驟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126480" y="3017520"/>
            <a:ext cx="457200" cy="45720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2999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偵測所有候選關節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0" y="3319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map 取峰值,得到一堆點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3931920"/>
            <a:ext cx="457200" cy="45720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1264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766560" y="3913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沿連線積分打分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766560" y="42336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兩點之間若與 PAF 方向一致 → 高分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26480" y="4846320"/>
            <a:ext cx="457200" cy="45720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1264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6766560" y="4828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二分圖最大權匹配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76656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挑出總分最高的連法,拼成每個人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OPENPOSE · 2017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完整流程:一張圖看懂 bottom-up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輸入整張圖 → 雙分支同時預測 confidence maps 與 PAF → 二分圖匹配 → 一次拼出所有人的骨架。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337" y="2331720"/>
            <a:ext cx="7880846" cy="2468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6634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圖:OpenPose overall pipeline — (b) confidence maps、(c) part affinity fields、(d) bipartite matching、(e) parsing results (Cao et al., CVPR 2017)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40080" y="507492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5330952"/>
            <a:ext cx="512064" cy="512064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17" y="5464089"/>
            <a:ext cx="245791" cy="24579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52760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雙分支一次前傳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56052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S(關節)與 L(PAF)同時輸出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89120" y="507492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E8F3F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17720" y="5330952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857" y="5464089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7800" y="52760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向量場配對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257800" y="56052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 決定哪些關節屬同一人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38160" y="507492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5330952"/>
            <a:ext cx="512064" cy="512064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897" y="5464089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06840" y="52760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速度與人數無關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9006840" y="56052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多人也能即時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224028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ViTPose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3200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 Transformer,簡單即 SOTA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88920" y="3749040"/>
            <a:ext cx="2286000" cy="0"/>
          </a:xfrm>
          <a:prstGeom prst="line">
            <a:avLst/>
          </a:prstGeom>
          <a:noFill/>
          <a:ln w="38100">
            <a:solidFill>
              <a:srgbClr val="F5B8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89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al., NeurIPS 2022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VITPOSE · 2022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極簡架構:ViT 骨幹 + 輕量 decoder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把影像切成 patch 丟進 Transformer 編碼,後面只接幾層 decoder 就輸出 heatmap——結構極簡。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6119" y="2286000"/>
            <a:ext cx="3949282" cy="2194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3891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圖:ViTPose 架構 — patch embedding → transformer blocks → 輕量 decoder → heatmap (Xu et al., NeurIPS 2022)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40080" y="4846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5120640"/>
            <a:ext cx="621792" cy="621792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46" y="5282306"/>
            <a:ext cx="298460" cy="298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72768" y="5065776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Simplicity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572768" y="5394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非階層、無花俏設計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502152" y="4846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8F3F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30752" y="5120640"/>
            <a:ext cx="621792" cy="621792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418" y="5282306"/>
            <a:ext cx="298460" cy="298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34840" y="5065776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434840" y="5394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模型越大、效果越好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364224" y="4846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DEF2F1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92824" y="5120640"/>
            <a:ext cx="621792" cy="621792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490" y="5282306"/>
            <a:ext cx="298460" cy="298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96912" y="5065776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Flexibility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7296912" y="5394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適應不同輸入解析度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9226296" y="4846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8F3F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454896" y="5120640"/>
            <a:ext cx="621792" cy="621792"/>
          </a:xfrm>
          <a:prstGeom prst="ellipse">
            <a:avLst/>
          </a:prstGeom>
          <a:solidFill>
            <a:srgbClr val="F5B84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6562" y="5282306"/>
            <a:ext cx="298460" cy="2984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158984" y="5065776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Transferability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10158984" y="53949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大模型知識可蒸餾給小模型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VITPOSE · 2022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 Transformer 有效?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靠一層層擴大的感受野「間接」看到遠處;Transformer 的 self-attention 讓任意兩個位置「直接」互看。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97480"/>
            <a:ext cx="731520" cy="731520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8876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788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的看法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5204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局部卷積,逐層堆疊才能擴大感受野。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要建立「左手 ↔ 右腳」這種長距離關係,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需要很深的網路。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優點:有空間先驗、資料效率好。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42316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0B3D4A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697480"/>
            <a:ext cx="731520" cy="73152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15" y="28876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2788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的看法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35204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讓每個 patch 一步看遍全圖。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長距離的部位關係天生就好建模,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C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遮擋時也更容易靠全局脈絡推斷。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代價:需要大量資料 / 預訓練。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五大里程碑:一表看懂演進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50292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 (年)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91840" y="1828800"/>
            <a:ext cx="2103120" cy="50292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預測形式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94960" y="1828800"/>
            <a:ext cx="3291840" cy="50292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32120" y="1828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關鍵創新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2834640" cy="50292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2396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解決的痛點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2651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31720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DeepPose (2014)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91840" y="2331720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2331720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回歸 (x,y)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94960" y="2331720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2331720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端到端 + cascade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0" y="2331720"/>
            <a:ext cx="28346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23960" y="2331720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手工特徵時代的終結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118104"/>
            <a:ext cx="2651760" cy="786384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118104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(2016)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91840" y="3118104"/>
            <a:ext cx="2103120" cy="786384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3118104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94960" y="3118104"/>
            <a:ext cx="3291840" cy="786384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32120" y="3118104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空間脈絡 + 中繼監督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0" y="3118104"/>
            <a:ext cx="2834640" cy="786384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23960" y="3118104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回歸難學、深層難訓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904488"/>
            <a:ext cx="2651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3904488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Hourglass (2016)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91840" y="3904488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29000" y="3904488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394960" y="3904488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32120" y="3904488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+ 堆疊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686800" y="3904488"/>
            <a:ext cx="28346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23960" y="3904488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多尺度與精確定位兼顧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4690872"/>
            <a:ext cx="2651760" cy="786384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690872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OpenPose (2017)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291840" y="4690872"/>
            <a:ext cx="2103120" cy="786384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29000" y="4690872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+ PAF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394960" y="4690872"/>
            <a:ext cx="3291840" cy="786384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532120" y="4690872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+ 向量場配對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686800" y="4690872"/>
            <a:ext cx="2834640" cy="786384"/>
          </a:xfrm>
          <a:prstGeom prst="rect">
            <a:avLst/>
          </a:prstGeom>
          <a:solidFill>
            <a:srgbClr val="DEF2F1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23960" y="4690872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多人、即時、遮擋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5477256"/>
            <a:ext cx="2651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5477256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ViTPose (2022)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291840" y="5477256"/>
            <a:ext cx="21031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29000" y="5477256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394960" y="5477256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32120" y="5477256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 ViT + 強預訓練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686800" y="5477256"/>
            <a:ext cx="28346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823960" y="5477256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架構複雜、擴展受限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64282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趨勢:回歸 → heatmap → 多尺度/多階段 → bottom-up 即時 → Transformer 簡化。每一步都在補前一步的洞。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E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三條貫穿全場的主軸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03504" cy="603504"/>
          </a:xfrm>
          <a:prstGeom prst="ellipse">
            <a:avLst/>
          </a:prstGeom>
          <a:solidFill>
            <a:srgbClr val="0B3D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311" y="2415479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671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輸出表示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5877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回歸座標  →  heatmap  →  (+PAF / token)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3500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越來越「保留空間資訊」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33756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E8F3F2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630168"/>
            <a:ext cx="603504" cy="603504"/>
          </a:xfrm>
          <a:prstGeom prst="ellipse">
            <a:avLst/>
          </a:prstGeom>
          <a:solidFill>
            <a:srgbClr val="1384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11" y="3787079"/>
            <a:ext cx="289682" cy="2896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9164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脈絡範圍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39593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局部 → 多階段 → 多尺度 → 全局 attention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772400" y="37216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越來越能看「遠處與整體」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70916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5001768"/>
            <a:ext cx="603504" cy="60350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11" y="5158679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91640" y="49103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人數處理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691640" y="53309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單人 (top-down)  →  多人即時 (bottom-up)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7772400" y="50932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越來越貼近真實場景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1188720"/>
            <a:ext cx="0" cy="388620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1577340"/>
            <a:ext cx="-544068" cy="62179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1577340"/>
            <a:ext cx="544068" cy="62179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7212" y="1639519"/>
            <a:ext cx="-194310" cy="481889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5348" y="1639519"/>
            <a:ext cx="194310" cy="481889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0" y="1577340"/>
            <a:ext cx="0" cy="816102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2393442"/>
            <a:ext cx="-388620" cy="544068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0" y="2393442"/>
            <a:ext cx="388620" cy="544068"/>
          </a:xfrm>
          <a:prstGeom prst="line">
            <a:avLst/>
          </a:prstGeom>
          <a:noFill/>
          <a:ln w="25400">
            <a:solidFill>
              <a:srgbClr val="3AAF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77272" y="1124712"/>
            <a:ext cx="128016" cy="128016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1" name="Shape 9"/>
          <p:cNvSpPr/>
          <p:nvPr/>
        </p:nvSpPr>
        <p:spPr>
          <a:xfrm>
            <a:off x="10177272" y="1513332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9633204" y="1575511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21340" y="1575511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Shape 12"/>
          <p:cNvSpPr/>
          <p:nvPr/>
        </p:nvSpPr>
        <p:spPr>
          <a:xfrm>
            <a:off x="9438894" y="205740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15650" y="2057400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77272" y="2329434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8652" y="2873502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65892" y="2873502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從一個座標到一整個 Transformer——這就是十年的姿態估計。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3703320"/>
            <a:ext cx="201168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延伸方向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3434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姿態估計:2D→3D baseline、VideoPose3D(時序卷積)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變體:TokenPose(每關節一個 token)、HRFormer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E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高解析骨幹:HRNet(全程保留高解析、反覆多尺度融合)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2026-09-02T14:09:05Z</dcterms:created>
  <dcterms:modified xsi:type="dcterms:W3CDTF">2026-09-02T14:09:05Z</dcterms:modified>
</cp:coreProperties>
</file>