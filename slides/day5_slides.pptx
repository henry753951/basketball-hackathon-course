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206240" cy="4206240"/>
          </a:xfrm>
          <a:prstGeom prst="ellipse">
            <a:avLst/>
          </a:prstGeom>
          <a:solidFill>
            <a:srgbClr val="2B3A6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37160"/>
            <a:ext cx="1737360" cy="1737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858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8622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685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5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整合報告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與成果展示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776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把分析數字變成一份看得懂、講得出來的成果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14984" y="5266944"/>
            <a:ext cx="10161727" cy="0"/>
          </a:xfrm>
          <a:prstGeom prst="line">
            <a:avLst/>
          </a:prstGeom>
          <a:noFill/>
          <a:ln w="19050">
            <a:solidFill>
              <a:srgbClr val="2B3A6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CBD5E6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29184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座標定位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63392" y="5074920"/>
            <a:ext cx="384048" cy="384048"/>
          </a:xfrm>
          <a:prstGeom prst="ellipse">
            <a:avLst/>
          </a:prstGeom>
          <a:solidFill>
            <a:srgbClr val="CBD5E6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63392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869616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物件偵測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03824" y="5074920"/>
            <a:ext cx="384048" cy="384048"/>
          </a:xfrm>
          <a:prstGeom prst="ellipse">
            <a:avLst/>
          </a:prstGeom>
          <a:solidFill>
            <a:srgbClr val="CBD5E6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03824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10048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追蹤系統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444255" y="5074920"/>
            <a:ext cx="384048" cy="384048"/>
          </a:xfrm>
          <a:prstGeom prst="ellipse">
            <a:avLst/>
          </a:prstGeom>
          <a:solidFill>
            <a:srgbClr val="CBD5E6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44255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950479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姿態軌跡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0984687" y="5074920"/>
            <a:ext cx="384048" cy="384048"/>
          </a:xfrm>
          <a:prstGeom prst="ellipse">
            <a:avLst/>
          </a:prstGeom>
          <a:solidFill>
            <a:srgbClr val="E8622D"/>
          </a:solidFill>
          <a:ln w="15875">
            <a:solidFill>
              <a:srgbClr val="E8622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84687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490911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整合展示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籃球運動資料分析課程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5 總覽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568196"/>
            <a:ext cx="338328" cy="3383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今日目標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1417320" y="169164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Day 4 的姿態與球軌跡結果整理成摘要指標與圖表，最後包裝成一份可以繳交、展示的 showcase 壓縮檔。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514600"/>
            <a:ext cx="11094415" cy="1182624"/>
          </a:xfrm>
          <a:prstGeom prst="roundRect">
            <a:avLst>
              <a:gd name="adj" fmla="val 7732"/>
            </a:avLst>
          </a:prstGeom>
          <a:solidFill>
            <a:srgbClr val="F2F4F8"/>
          </a:solidFill>
          <a:ln/>
        </p:spPr>
      </p:sp>
      <p:sp>
        <p:nvSpPr>
          <p:cNvPr id="11" name="Shape 7"/>
          <p:cNvSpPr/>
          <p:nvPr/>
        </p:nvSpPr>
        <p:spPr>
          <a:xfrm>
            <a:off x="731520" y="2854452"/>
            <a:ext cx="502920" cy="50292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28544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2606040"/>
            <a:ext cx="9951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d5_01｜投籃分析 Pipeline 摘要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1508760" y="2935224"/>
            <a:ext cx="9951415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Day4 的姿態角度與球軌跡輸出，計算核心摘要指標，寫出摘要 JSON。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843528"/>
            <a:ext cx="11094415" cy="1182624"/>
          </a:xfrm>
          <a:prstGeom prst="roundRect">
            <a:avLst>
              <a:gd name="adj" fmla="val 7732"/>
            </a:avLst>
          </a:prstGeom>
          <a:solidFill>
            <a:srgbClr val="F2F4F8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4183380"/>
            <a:ext cx="502920" cy="50292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4183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508760" y="3934968"/>
            <a:ext cx="9951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d5_02｜成果圖表建立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1508760" y="4264152"/>
            <a:ext cx="9951415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把角度資料、球軌跡與骨架示意整理成角度折線圖、球軌跡圖與代表性骨架圖。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5172456"/>
            <a:ext cx="11094415" cy="1182624"/>
          </a:xfrm>
          <a:prstGeom prst="roundRect">
            <a:avLst>
              <a:gd name="adj" fmla="val 7732"/>
            </a:avLst>
          </a:prstGeom>
          <a:solidFill>
            <a:srgbClr val="F2F4F8"/>
          </a:solidFill>
          <a:ln/>
        </p:spPr>
      </p:sp>
      <p:sp>
        <p:nvSpPr>
          <p:cNvPr id="21" name="Shape 17"/>
          <p:cNvSpPr/>
          <p:nvPr/>
        </p:nvSpPr>
        <p:spPr>
          <a:xfrm>
            <a:off x="731520" y="5512308"/>
            <a:ext cx="502920" cy="50292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31520" y="55123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508760" y="5263896"/>
            <a:ext cx="9951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d5_03｜成果展示檔案匯出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1508760" y="5593080"/>
            <a:ext cx="9951415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選取 Day4／Day5 成果檔，複製到乾淨的 showcase 資料夾，打包成最終 zip。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5  ·  Python 籃球運動資料分析課程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今日總覽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389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 Pipeline？為什麼要多這一步？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2F4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664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白話解釋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956816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Pipeline（資料處理管線）就像工廠的生產線：原始影片先經過姿態分析、球軌跡分析這些「半成品」，Day 5 的工作是把這些半成品收集起來，計算出重點數字（摘要指標）、畫成圖表，最後包裝出貨。這一步不是要做正式的運動科學評估，而是練習「把影像分析結果轉成可以報告的數字與圖表」的完整流程。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0332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Summary 只是練習資料轉換與報告流程，不是正式運動科學評估</a:t>
            </a:r>
            <a:endParaRPr lang="en-US" sz="1350" dirty="0"/>
          </a:p>
          <a:p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圖表的目的是把表格數字變成一眼就懂的視覺資訊</a:t>
            </a:r>
            <a:endParaRPr lang="en-US" sz="1350" dirty="0"/>
          </a:p>
          <a:p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最終產出要能被一個沒看過程式碼的人直接理解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89320" y="1508760"/>
            <a:ext cx="5653735" cy="4709160"/>
          </a:xfrm>
          <a:prstGeom prst="roundRect">
            <a:avLst>
              <a:gd name="adj" fmla="val 1942"/>
            </a:avLst>
          </a:prstGeom>
          <a:solidFill>
            <a:srgbClr val="FAFBFD"/>
          </a:solidFill>
          <a:ln/>
        </p:spPr>
      </p:sp>
      <p:sp>
        <p:nvSpPr>
          <p:cNvPr id="11" name="Shape 8"/>
          <p:cNvSpPr/>
          <p:nvPr/>
        </p:nvSpPr>
        <p:spPr>
          <a:xfrm>
            <a:off x="6841504" y="1869948"/>
            <a:ext cx="3949367" cy="777240"/>
          </a:xfrm>
          <a:prstGeom prst="roundRect">
            <a:avLst>
              <a:gd name="adj" fmla="val 11765"/>
            </a:avLst>
          </a:prstGeom>
          <a:solidFill>
            <a:srgbClr val="F2F4F8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78664" y="1869948"/>
            <a:ext cx="3675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4 原始資料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（姿態角度＋球軌跡）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8172" y="2665476"/>
            <a:ext cx="256032" cy="256032"/>
          </a:xfrm>
          <a:prstGeom prst="downArrow">
            <a:avLst/>
          </a:prstGeom>
          <a:solidFill>
            <a:srgbClr val="E8622D"/>
          </a:solidFill>
          <a:ln/>
        </p:spPr>
      </p:sp>
      <p:sp>
        <p:nvSpPr>
          <p:cNvPr id="14" name="Shape 11"/>
          <p:cNvSpPr/>
          <p:nvPr/>
        </p:nvSpPr>
        <p:spPr>
          <a:xfrm>
            <a:off x="6841504" y="2939796"/>
            <a:ext cx="3949367" cy="777240"/>
          </a:xfrm>
          <a:prstGeom prst="roundRect">
            <a:avLst>
              <a:gd name="adj" fmla="val 11765"/>
            </a:avLst>
          </a:prstGeom>
          <a:solidFill>
            <a:srgbClr val="F2F4F8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78664" y="2939796"/>
            <a:ext cx="3675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d5_01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摘要 JSON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8172" y="3735324"/>
            <a:ext cx="256032" cy="256032"/>
          </a:xfrm>
          <a:prstGeom prst="downArrow">
            <a:avLst/>
          </a:prstGeom>
          <a:solidFill>
            <a:srgbClr val="E8622D"/>
          </a:solidFill>
          <a:ln/>
        </p:spPr>
      </p:sp>
      <p:sp>
        <p:nvSpPr>
          <p:cNvPr id="17" name="Shape 14"/>
          <p:cNvSpPr/>
          <p:nvPr/>
        </p:nvSpPr>
        <p:spPr>
          <a:xfrm>
            <a:off x="6841504" y="4009644"/>
            <a:ext cx="3949367" cy="777240"/>
          </a:xfrm>
          <a:prstGeom prst="roundRect">
            <a:avLst>
              <a:gd name="adj" fmla="val 11765"/>
            </a:avLst>
          </a:prstGeom>
          <a:solidFill>
            <a:srgbClr val="F2F4F8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78664" y="4009644"/>
            <a:ext cx="3675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d5_02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PNG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688172" y="4805172"/>
            <a:ext cx="256032" cy="256032"/>
          </a:xfrm>
          <a:prstGeom prst="downArrow">
            <a:avLst/>
          </a:prstGeom>
          <a:solidFill>
            <a:srgbClr val="E8622D"/>
          </a:solidFill>
          <a:ln/>
        </p:spPr>
      </p:sp>
      <p:sp>
        <p:nvSpPr>
          <p:cNvPr id="20" name="Shape 17"/>
          <p:cNvSpPr/>
          <p:nvPr/>
        </p:nvSpPr>
        <p:spPr>
          <a:xfrm>
            <a:off x="6841504" y="5079492"/>
            <a:ext cx="3949367" cy="777240"/>
          </a:xfrm>
          <a:prstGeom prst="roundRect">
            <a:avLst>
              <a:gd name="adj" fmla="val 11765"/>
            </a:avLst>
          </a:prstGeom>
          <a:solidFill>
            <a:srgbClr val="E8622D"/>
          </a:solidFill>
          <a:ln w="15875">
            <a:solidFill>
              <a:srgbClr val="E862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78664" y="5079492"/>
            <a:ext cx="3675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d5_03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showcase.zip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5  ·  Python 籃球運動資料分析課程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D5 · NOTEBOOK 1 · d5_01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投籃分析 Pipeline 摘要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34" y="2217054"/>
            <a:ext cx="284196" cy="2841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Day 4 的姿態角度與球軌跡輸出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計算可報告的核心摘要指標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輸出結構化摘要 JSON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4322978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2" name="Shape 8"/>
          <p:cNvSpPr/>
          <p:nvPr/>
        </p:nvSpPr>
        <p:spPr>
          <a:xfrm>
            <a:off x="4524146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073" y="2217054"/>
            <a:ext cx="284196" cy="2841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08778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課程流程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9010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尋找 Day 4 的結果檔案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計算摘要數值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寫出 d5_01_shooting_summary.json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8097317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7" name="Shape 12"/>
          <p:cNvSpPr/>
          <p:nvPr/>
        </p:nvSpPr>
        <p:spPr>
          <a:xfrm>
            <a:off x="8298485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11" y="2217054"/>
            <a:ext cx="284196" cy="2841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83117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完成產出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353349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d5_01_shooting_summary.json</a:t>
            </a:r>
            <a:endParaRPr lang="en-US" sz="118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5  ·  Python 籃球運動資料分析課程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D5 · NOTEBOOK 2 · d5_02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成果圖表建立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34" y="2217054"/>
            <a:ext cx="284196" cy="2841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把分析表格轉成可展示的報告圖表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建立角度折線圖與球軌跡圖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輸出一張代表性骨架示意圖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4322978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2" name="Shape 8"/>
          <p:cNvSpPr/>
          <p:nvPr/>
        </p:nvSpPr>
        <p:spPr>
          <a:xfrm>
            <a:off x="4524146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073" y="2217054"/>
            <a:ext cx="284196" cy="2841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08778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課程流程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9010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載入或補齊分析資料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產生角度與軌跡圖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儲存展示用 PNG 圖片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8097317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7" name="Shape 12"/>
          <p:cNvSpPr/>
          <p:nvPr/>
        </p:nvSpPr>
        <p:spPr>
          <a:xfrm>
            <a:off x="8298485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11" y="2217054"/>
            <a:ext cx="284196" cy="2841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83117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完成產出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353349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角度折線圖／球軌跡圖 PNG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代表性骨架示意圖</a:t>
            </a:r>
            <a:endParaRPr lang="en-US" sz="118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5  ·  Python 籃球運動資料分析課程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D5 · NOTEBOOK 3 · d5_03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成果展示檔案匯出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34" y="2217054"/>
            <a:ext cx="284196" cy="2841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選取 Day 4、Day 5 的可用成果檔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複製到乾淨的 showcase 資料夾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打包成最終繳交用 zip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4322978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2" name="Shape 8"/>
          <p:cNvSpPr/>
          <p:nvPr/>
        </p:nvSpPr>
        <p:spPr>
          <a:xfrm>
            <a:off x="4524146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073" y="2217054"/>
            <a:ext cx="284196" cy="2841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08778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課程流程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9010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showcase 資料夾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複製可用成果檔並檢查清單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壓縮成 student_showcase.zip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8097317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7" name="Shape 12"/>
          <p:cNvSpPr/>
          <p:nvPr/>
        </p:nvSpPr>
        <p:spPr>
          <a:xfrm>
            <a:off x="8298485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11" y="2217054"/>
            <a:ext cx="284196" cy="2841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83117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完成產出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353349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student_showcase.zip</a:t>
            </a:r>
            <a:endParaRPr lang="en-US" sz="118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5  ·  Python 籃球運動資料分析課程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關鍵名詞速查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" y="23774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7" y="2424989"/>
            <a:ext cx="270662" cy="2706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9808" y="28346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Pipeline（資料處理管線）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32186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把多個處理步驟串接起來，讓資料一步步從原始輸入變成最終成果。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22978" y="21945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11" name="Shape 7"/>
          <p:cNvSpPr/>
          <p:nvPr/>
        </p:nvSpPr>
        <p:spPr>
          <a:xfrm>
            <a:off x="4524146" y="23774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695" y="2424989"/>
            <a:ext cx="270662" cy="27066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24146" y="28346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Summary Metrics（摘要指標）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24146" y="32186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從詳細資料中整理出的重點數字，例如平均角度、最大球速等。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97317" y="21945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16" name="Shape 11"/>
          <p:cNvSpPr/>
          <p:nvPr/>
        </p:nvSpPr>
        <p:spPr>
          <a:xfrm>
            <a:off x="8298485" y="23774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034" y="2424989"/>
            <a:ext cx="270662" cy="27066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98485" y="28346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Showcase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8298485" y="32186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整理乾淨、可以對外展示或繳交的成果資料夾／檔案。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0233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21" name="Shape 15"/>
          <p:cNvSpPr/>
          <p:nvPr/>
        </p:nvSpPr>
        <p:spPr>
          <a:xfrm>
            <a:off x="749808" y="42062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7" y="4253789"/>
            <a:ext cx="270662" cy="27066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9808" y="46634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限制與誤差來源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749808" y="50474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分析結果可能受到遮擋、光線、球體太小、姿態關鍵點不穩定等因素影響。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322978" y="40233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26" name="Shape 19"/>
          <p:cNvSpPr/>
          <p:nvPr/>
        </p:nvSpPr>
        <p:spPr>
          <a:xfrm>
            <a:off x="4524146" y="42062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695" y="4253789"/>
            <a:ext cx="270662" cy="27066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524146" y="46634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JSON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4524146" y="50474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一種輕量的資料交換格式，方便程式之間讀寫結構化資料。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097317" y="40233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31" name="Shape 23"/>
          <p:cNvSpPr/>
          <p:nvPr/>
        </p:nvSpPr>
        <p:spPr>
          <a:xfrm>
            <a:off x="8298485" y="42062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034" y="4253789"/>
            <a:ext cx="270662" cy="27066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298485" y="46634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資料視覺化（Visualization）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8298485" y="50474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把數字資料轉成圖表，讓人可以快速理解趨勢與重點。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5  ·  Python 籃球運動資料分析課程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關鍵名詞速查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展示提醒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076706"/>
          </a:xfrm>
          <a:prstGeom prst="roundRect">
            <a:avLst>
              <a:gd name="adj" fmla="val 8493"/>
            </a:avLst>
          </a:prstGeom>
          <a:solidFill>
            <a:srgbClr val="F2F4F8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900809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46" y="1950735"/>
            <a:ext cx="284196" cy="2841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627632"/>
            <a:ext cx="10088575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展示時建議講三件事：影片怎麼拍的（正面／側面／室內／室外）？分析結果看到什麼（角度、軌跡）？這個方法有什麼限制？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795778"/>
            <a:ext cx="11094415" cy="1076706"/>
          </a:xfrm>
          <a:prstGeom prst="roundRect">
            <a:avLst>
              <a:gd name="adj" fmla="val 8493"/>
            </a:avLst>
          </a:prstGeom>
          <a:solidFill>
            <a:srgbClr val="F2F4F8"/>
          </a:solidFill>
          <a:ln/>
        </p:spPr>
      </p:sp>
      <p:sp>
        <p:nvSpPr>
          <p:cNvPr id="10" name="Shape 6"/>
          <p:cNvSpPr/>
          <p:nvPr/>
        </p:nvSpPr>
        <p:spPr>
          <a:xfrm>
            <a:off x="731520" y="3142107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6" y="3192033"/>
            <a:ext cx="284196" cy="2841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2868930"/>
            <a:ext cx="10088575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這份摘要不是正式的運動科學評估，重點是練習資料轉換與報告的流程。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4037076"/>
            <a:ext cx="11094415" cy="1076706"/>
          </a:xfrm>
          <a:prstGeom prst="roundRect">
            <a:avLst>
              <a:gd name="adj" fmla="val 8493"/>
            </a:avLst>
          </a:prstGeom>
          <a:solidFill>
            <a:srgbClr val="F2F4F8"/>
          </a:solidFill>
          <a:ln/>
        </p:spPr>
      </p:sp>
      <p:sp>
        <p:nvSpPr>
          <p:cNvPr id="14" name="Shape 9"/>
          <p:cNvSpPr/>
          <p:nvPr/>
        </p:nvSpPr>
        <p:spPr>
          <a:xfrm>
            <a:off x="731520" y="4383405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46" y="4433331"/>
            <a:ext cx="284196" cy="2841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4110228"/>
            <a:ext cx="10088575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最終成果會打包成 student_showcase.zip，方便繳交與展示。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5278374"/>
            <a:ext cx="11094415" cy="1076706"/>
          </a:xfrm>
          <a:prstGeom prst="roundRect">
            <a:avLst>
              <a:gd name="adj" fmla="val 8493"/>
            </a:avLst>
          </a:prstGeom>
          <a:solidFill>
            <a:srgbClr val="F2F4F8"/>
          </a:solidFill>
          <a:ln/>
        </p:spPr>
      </p:sp>
      <p:sp>
        <p:nvSpPr>
          <p:cNvPr id="18" name="Shape 12"/>
          <p:cNvSpPr/>
          <p:nvPr/>
        </p:nvSpPr>
        <p:spPr>
          <a:xfrm>
            <a:off x="731520" y="5624703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46" y="5674629"/>
            <a:ext cx="284196" cy="2841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25880" y="5351526"/>
            <a:ext cx="10088575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常見限制包含：遮擋、光線變化、球體太小、姿態關鍵點不穩定，展示時主動點出更能顯示你理解方法的邊界。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5  ·  Python 籃球運動資料分析課程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展示提醒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E862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5 完成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五天課程完成：從相機座標到投籃分析，你已經建立一條完整的籃球影像分析 pipeline。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2B3A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2278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課程總結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661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1 座標與 Homography → Day 2 物件偵測與 BEV → Day 3 ByteTrack 追蹤 → Day 4 姿態與球軌跡 → Day 5 整合報告，感謝參與，歡迎交流與提問。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14984" y="5266944"/>
            <a:ext cx="10161727" cy="0"/>
          </a:xfrm>
          <a:prstGeom prst="line">
            <a:avLst/>
          </a:prstGeom>
          <a:noFill/>
          <a:ln w="19050">
            <a:solidFill>
              <a:srgbClr val="2B3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CBD5E6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9184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座標定位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63392" y="5074920"/>
            <a:ext cx="384048" cy="384048"/>
          </a:xfrm>
          <a:prstGeom prst="ellipse">
            <a:avLst/>
          </a:prstGeom>
          <a:solidFill>
            <a:srgbClr val="CBD5E6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3392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69616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物件偵測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03824" y="5074920"/>
            <a:ext cx="384048" cy="384048"/>
          </a:xfrm>
          <a:prstGeom prst="ellipse">
            <a:avLst/>
          </a:prstGeom>
          <a:solidFill>
            <a:srgbClr val="CBD5E6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03824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10048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追蹤系統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444255" y="5074920"/>
            <a:ext cx="384048" cy="384048"/>
          </a:xfrm>
          <a:prstGeom prst="ellipse">
            <a:avLst/>
          </a:prstGeom>
          <a:solidFill>
            <a:srgbClr val="CBD5E6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44255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0479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姿態軌跡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984687" y="5074920"/>
            <a:ext cx="384048" cy="384048"/>
          </a:xfrm>
          <a:prstGeom prst="ellipse">
            <a:avLst/>
          </a:prstGeom>
          <a:solidFill>
            <a:srgbClr val="E8622D"/>
          </a:solidFill>
          <a:ln w="15875">
            <a:solidFill>
              <a:srgbClr val="E862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84687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490911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整合展示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籃球運動資料分析課程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 課程簡報</dc:title>
  <dc:subject>PptxGenJS Presentation</dc:subject>
  <dc:creator>Python 籃球運動資料分析課程</dc:creator>
  <cp:lastModifiedBy>Python 籃球運動資料分析課程</cp:lastModifiedBy>
  <cp:revision>1</cp:revision>
  <dcterms:created xsi:type="dcterms:W3CDTF">2026-08-26T19:45:19Z</dcterms:created>
  <dcterms:modified xsi:type="dcterms:W3CDTF">2026-08-26T19:45:19Z</dcterms:modified>
</cp:coreProperties>
</file>