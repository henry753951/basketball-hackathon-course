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371600"/>
            <a:ext cx="4206240" cy="4206240"/>
          </a:xfrm>
          <a:prstGeom prst="ellipse">
            <a:avLst/>
          </a:prstGeom>
          <a:solidFill>
            <a:srgbClr val="2B3A6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137160"/>
            <a:ext cx="1737360" cy="1737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68580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E8622D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685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2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33172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YOLO 物件偵測</a:t>
            </a:r>
            <a:endParaRPr lang="en-US" sz="3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 BBOX-to-BEV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7764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讓電腦自動找到球員，並畫到球場地圖上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014984" y="5266944"/>
            <a:ext cx="10161727" cy="0"/>
          </a:xfrm>
          <a:prstGeom prst="line">
            <a:avLst/>
          </a:prstGeom>
          <a:noFill/>
          <a:ln w="19050">
            <a:solidFill>
              <a:srgbClr val="2B3A6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5074920"/>
            <a:ext cx="384048" cy="384048"/>
          </a:xfrm>
          <a:prstGeom prst="ellipse">
            <a:avLst/>
          </a:prstGeom>
          <a:solidFill>
            <a:srgbClr val="CBD5E6"/>
          </a:solidFill>
          <a:ln w="15875">
            <a:solidFill>
              <a:srgbClr val="CBD5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29184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座標定位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363392" y="5074920"/>
            <a:ext cx="384048" cy="384048"/>
          </a:xfrm>
          <a:prstGeom prst="ellipse">
            <a:avLst/>
          </a:prstGeom>
          <a:solidFill>
            <a:srgbClr val="E8622D"/>
          </a:solidFill>
          <a:ln w="15875">
            <a:solidFill>
              <a:srgbClr val="E8622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63392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2869616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物件偵測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903824" y="5074920"/>
            <a:ext cx="384048" cy="384048"/>
          </a:xfrm>
          <a:prstGeom prst="ellipse">
            <a:avLst/>
          </a:prstGeom>
          <a:solidFill>
            <a:srgbClr val="1C2541"/>
          </a:solidFill>
          <a:ln w="15875">
            <a:solidFill>
              <a:srgbClr val="CBD5E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03824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10048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追蹤系統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444255" y="5074920"/>
            <a:ext cx="384048" cy="384048"/>
          </a:xfrm>
          <a:prstGeom prst="ellipse">
            <a:avLst/>
          </a:prstGeom>
          <a:solidFill>
            <a:srgbClr val="1C2541"/>
          </a:solidFill>
          <a:ln w="15875">
            <a:solidFill>
              <a:srgbClr val="CBD5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44255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7950479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姿態軌跡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10984687" y="5074920"/>
            <a:ext cx="384048" cy="384048"/>
          </a:xfrm>
          <a:prstGeom prst="ellipse">
            <a:avLst/>
          </a:prstGeom>
          <a:solidFill>
            <a:srgbClr val="1C2541"/>
          </a:solidFill>
          <a:ln w="15875">
            <a:solidFill>
              <a:srgbClr val="CBD5E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84687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0490911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整合展示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Python 籃球運動資料分析課程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540410"/>
            <a:ext cx="473659" cy="47365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2 總覽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2F4F8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1508760"/>
            <a:ext cx="457200" cy="45720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568196"/>
            <a:ext cx="338328" cy="33832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1732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6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今日目標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1417320" y="1691640"/>
            <a:ext cx="9997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用已訓練好的 YOLO 偵測模型在真實影片上找出球員、球等物件，並把每個偵測框的「腳底位置」自動投影到 Day 1 建立的 BEV 球場地圖。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2514600"/>
            <a:ext cx="11094415" cy="850392"/>
          </a:xfrm>
          <a:prstGeom prst="roundRect">
            <a:avLst>
              <a:gd name="adj" fmla="val 10753"/>
            </a:avLst>
          </a:prstGeom>
          <a:solidFill>
            <a:srgbClr val="F2F4F8"/>
          </a:solidFill>
          <a:ln/>
        </p:spPr>
      </p:sp>
      <p:sp>
        <p:nvSpPr>
          <p:cNvPr id="11" name="Shape 7"/>
          <p:cNvSpPr/>
          <p:nvPr/>
        </p:nvSpPr>
        <p:spPr>
          <a:xfrm>
            <a:off x="731520" y="2688336"/>
            <a:ext cx="502920" cy="502920"/>
          </a:xfrm>
          <a:prstGeom prst="ellipse">
            <a:avLst/>
          </a:prstGeom>
          <a:solidFill>
            <a:srgbClr val="1C2541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2688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508760" y="2606040"/>
            <a:ext cx="9951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d2_01｜YOLO26 Detection 推論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1508760" y="2935224"/>
            <a:ext cx="995141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載入 YOLO detector 權重，對參考影片執行偵測，輸出含框的 preview 影片與 JSON。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511296"/>
            <a:ext cx="11094415" cy="850392"/>
          </a:xfrm>
          <a:prstGeom prst="roundRect">
            <a:avLst>
              <a:gd name="adj" fmla="val 10753"/>
            </a:avLst>
          </a:prstGeom>
          <a:solidFill>
            <a:srgbClr val="F2F4F8"/>
          </a:solidFill>
          <a:ln/>
        </p:spPr>
      </p:sp>
      <p:sp>
        <p:nvSpPr>
          <p:cNvPr id="16" name="Shape 12"/>
          <p:cNvSpPr/>
          <p:nvPr/>
        </p:nvSpPr>
        <p:spPr>
          <a:xfrm>
            <a:off x="731520" y="3685032"/>
            <a:ext cx="502920" cy="502920"/>
          </a:xfrm>
          <a:prstGeom prst="ellipse">
            <a:avLst/>
          </a:prstGeom>
          <a:solidFill>
            <a:srgbClr val="1C254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685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508760" y="3602736"/>
            <a:ext cx="9951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d2_02｜YOLO Players Footpoint 與 BEV 全自動投影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1508760" y="3931920"/>
            <a:ext cx="995141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取球員 bbox 的 bottom-center footpoint，套用 Day1 Homography，一次投影到 BEV。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48640" y="4507992"/>
            <a:ext cx="11094415" cy="850392"/>
          </a:xfrm>
          <a:prstGeom prst="roundRect">
            <a:avLst>
              <a:gd name="adj" fmla="val 10753"/>
            </a:avLst>
          </a:prstGeom>
          <a:solidFill>
            <a:srgbClr val="F2F4F8"/>
          </a:solidFill>
          <a:ln/>
        </p:spPr>
      </p:sp>
      <p:sp>
        <p:nvSpPr>
          <p:cNvPr id="21" name="Shape 17"/>
          <p:cNvSpPr/>
          <p:nvPr/>
        </p:nvSpPr>
        <p:spPr>
          <a:xfrm>
            <a:off x="731520" y="4681728"/>
            <a:ext cx="502920" cy="502920"/>
          </a:xfrm>
          <a:prstGeom prst="ellipse">
            <a:avLst/>
          </a:prstGeom>
          <a:solidFill>
            <a:srgbClr val="1C2541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731520" y="4681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1508760" y="4599432"/>
            <a:ext cx="9951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d2_03｜Roboflow BBOX Dataset 與 YOLO Detection 訓練</a:t>
            </a:r>
            <a:endParaRPr lang="en-US" sz="1450" dirty="0"/>
          </a:p>
        </p:txBody>
      </p:sp>
      <p:sp>
        <p:nvSpPr>
          <p:cNvPr id="24" name="Text 20"/>
          <p:cNvSpPr txBox="1"/>
          <p:nvPr/>
        </p:nvSpPr>
        <p:spPr>
          <a:xfrm>
            <a:off x="1508760" y="4928616"/>
            <a:ext cx="995141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 data.yaml 與資料夾結構，閱讀可執行的訓練程式，輸出 trained 模型 preview。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548640" y="5504688"/>
            <a:ext cx="11094415" cy="850392"/>
          </a:xfrm>
          <a:prstGeom prst="roundRect">
            <a:avLst>
              <a:gd name="adj" fmla="val 10753"/>
            </a:avLst>
          </a:prstGeom>
          <a:solidFill>
            <a:srgbClr val="F2F4F8"/>
          </a:solidFill>
          <a:ln/>
        </p:spPr>
      </p:sp>
      <p:sp>
        <p:nvSpPr>
          <p:cNvPr id="26" name="Shape 22"/>
          <p:cNvSpPr/>
          <p:nvPr/>
        </p:nvSpPr>
        <p:spPr>
          <a:xfrm>
            <a:off x="731520" y="5678424"/>
            <a:ext cx="502920" cy="502920"/>
          </a:xfrm>
          <a:prstGeom prst="ellipse">
            <a:avLst/>
          </a:prstGeom>
          <a:solidFill>
            <a:srgbClr val="1C2541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731520" y="5678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1508760" y="5596128"/>
            <a:ext cx="9951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d2_04｜YOLO Detection、即時場地 Keypoint 與 Homography 整合</a:t>
            </a:r>
            <a:endParaRPr lang="en-US" sz="1450" dirty="0"/>
          </a:p>
        </p:txBody>
      </p:sp>
      <p:sp>
        <p:nvSpPr>
          <p:cNvPr id="29" name="Text 25"/>
          <p:cNvSpPr txBox="1"/>
          <p:nvPr/>
        </p:nvSpPr>
        <p:spPr>
          <a:xfrm>
            <a:off x="1508760" y="5925312"/>
            <a:ext cx="995141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 frame 同步做偵測與即時球場關鍵點，動態算 Homography，輸出並排分析影片。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2  ·  Python 籃球運動資料分析課程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707105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今日總覽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540410"/>
            <a:ext cx="473659" cy="47365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4389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6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核心概念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物件偵測：confidence 與 class 是什麼？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F2F4F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6642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白話解釋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956816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YOLO 就像一個很會「掃描畫面找東西」的助教：它一次掃過整張照片，同時說出「這裡有一個球員，框在這個位置，我有 92% 把握」。confidence 就是這個把握程度，class 就是它判斷的類別（球員、球、裁判…）。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703320"/>
            <a:ext cx="5212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confidence 低的框不一定是錯的，但會增加後續 tracking 誤配的風險</a:t>
            </a:r>
            <a:endParaRPr lang="en-US" sz="1350" dirty="0"/>
          </a:p>
          <a:p>
            <a:pPr marL="203200" indent="-2032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球、背號等小物件通常比球員更容易漏偵</a:t>
            </a:r>
            <a:endParaRPr lang="en-US" sz="1350" dirty="0"/>
          </a:p>
          <a:p>
            <a:pPr marL="203200" indent="-2032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 frame 都要重新推論一次，畫面才會有連續的偵測結果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989320" y="1508760"/>
            <a:ext cx="5653735" cy="4709160"/>
          </a:xfrm>
          <a:prstGeom prst="roundRect">
            <a:avLst>
              <a:gd name="adj" fmla="val 1942"/>
            </a:avLst>
          </a:prstGeom>
          <a:solidFill>
            <a:srgbClr val="FAFBFD"/>
          </a:solidFill>
          <a:ln/>
        </p:spPr>
      </p:sp>
      <p:sp>
        <p:nvSpPr>
          <p:cNvPr id="11" name="Shape 8"/>
          <p:cNvSpPr/>
          <p:nvPr/>
        </p:nvSpPr>
        <p:spPr>
          <a:xfrm>
            <a:off x="6217920" y="1737360"/>
            <a:ext cx="5196535" cy="2891333"/>
          </a:xfrm>
          <a:prstGeom prst="roundRect">
            <a:avLst>
              <a:gd name="adj" fmla="val 2530"/>
            </a:avLst>
          </a:prstGeom>
          <a:solidFill>
            <a:srgbClr val="F7F8FB"/>
          </a:solidFill>
          <a:ln w="12700">
            <a:solidFill>
              <a:srgbClr val="CBD5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33643" y="2332634"/>
            <a:ext cx="1247168" cy="1870862"/>
          </a:xfrm>
          <a:prstGeom prst="rect">
            <a:avLst/>
          </a:prstGeom>
          <a:ln w="25400">
            <a:solidFill>
              <a:srgbClr val="1C254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633643" y="2076602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1C254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633643" y="207660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 0.92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400465" y="3097987"/>
            <a:ext cx="519654" cy="680314"/>
          </a:xfrm>
          <a:prstGeom prst="rect">
            <a:avLst/>
          </a:prstGeom>
          <a:ln w="25400">
            <a:solidFill>
              <a:srgbClr val="E8622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00465" y="2841955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E8622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400465" y="2841955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ball 0.61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439772" y="2162556"/>
            <a:ext cx="1247168" cy="2040941"/>
          </a:xfrm>
          <a:prstGeom prst="rect">
            <a:avLst/>
          </a:prstGeom>
          <a:ln w="25400">
            <a:solidFill>
              <a:srgbClr val="6B728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439772" y="1906524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6B728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439772" y="19065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referee 0.88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6217920" y="4883810"/>
            <a:ext cx="5196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數字＝confidence（模型對這個判斷的把握程度，0～1）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217920" y="5351526"/>
            <a:ext cx="5196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信心值低不代表框錯，但會增加後續 tracking 誤配的風險；球、背號等小物件較容易漏偵。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2  ·  Python 籃球運動資料分析課程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707105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核心概念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586130"/>
            <a:ext cx="473659" cy="47365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6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D2 · NOTEBOOK 1 · d2_01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71323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YOLO26 Detection 推論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3545738" cy="3931920"/>
          </a:xfrm>
          <a:prstGeom prst="roundRect">
            <a:avLst>
              <a:gd name="adj" fmla="val 2579"/>
            </a:avLst>
          </a:prstGeom>
          <a:solidFill>
            <a:srgbClr val="F2F4F8"/>
          </a:solidFill>
          <a:ln/>
        </p:spPr>
      </p:sp>
      <p:sp>
        <p:nvSpPr>
          <p:cNvPr id="7" name="Shape 4"/>
          <p:cNvSpPr/>
          <p:nvPr/>
        </p:nvSpPr>
        <p:spPr>
          <a:xfrm>
            <a:off x="749808" y="2167128"/>
            <a:ext cx="384048" cy="384048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734" y="2217054"/>
            <a:ext cx="284196" cy="2841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21488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學習目標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04672" y="2743200"/>
            <a:ext cx="303367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載入 Ultralytics YOLO detector 權重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對參考影片單一 frame 執行 detection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輸出含偵測框的短片段 preview</a:t>
            </a:r>
            <a:endParaRPr lang="en-US" sz="1180" dirty="0"/>
          </a:p>
        </p:txBody>
      </p:sp>
      <p:sp>
        <p:nvSpPr>
          <p:cNvPr id="11" name="Shape 7"/>
          <p:cNvSpPr/>
          <p:nvPr/>
        </p:nvSpPr>
        <p:spPr>
          <a:xfrm>
            <a:off x="4322978" y="1965960"/>
            <a:ext cx="3545738" cy="3931920"/>
          </a:xfrm>
          <a:prstGeom prst="roundRect">
            <a:avLst>
              <a:gd name="adj" fmla="val 2579"/>
            </a:avLst>
          </a:prstGeom>
          <a:solidFill>
            <a:srgbClr val="F2F4F8"/>
          </a:solidFill>
          <a:ln/>
        </p:spPr>
      </p:sp>
      <p:sp>
        <p:nvSpPr>
          <p:cNvPr id="12" name="Shape 8"/>
          <p:cNvSpPr/>
          <p:nvPr/>
        </p:nvSpPr>
        <p:spPr>
          <a:xfrm>
            <a:off x="4524146" y="2167128"/>
            <a:ext cx="384048" cy="384048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4073" y="2217054"/>
            <a:ext cx="284196" cy="2841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08778" y="21488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課程流程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4579010" y="2743200"/>
            <a:ext cx="303367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 assets/raw/reference_videos 內的參考影片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對單一 frame 跑一次 YOLO detection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對短片段輸出 preview 影片與 JSON</a:t>
            </a:r>
            <a:endParaRPr lang="en-US" sz="1180" dirty="0"/>
          </a:p>
        </p:txBody>
      </p:sp>
      <p:sp>
        <p:nvSpPr>
          <p:cNvPr id="16" name="Shape 11"/>
          <p:cNvSpPr/>
          <p:nvPr/>
        </p:nvSpPr>
        <p:spPr>
          <a:xfrm>
            <a:off x="8097317" y="1965960"/>
            <a:ext cx="3545738" cy="3931920"/>
          </a:xfrm>
          <a:prstGeom prst="roundRect">
            <a:avLst>
              <a:gd name="adj" fmla="val 2579"/>
            </a:avLst>
          </a:prstGeom>
          <a:solidFill>
            <a:srgbClr val="F2F4F8"/>
          </a:solidFill>
          <a:ln/>
        </p:spPr>
      </p:sp>
      <p:sp>
        <p:nvSpPr>
          <p:cNvPr id="17" name="Shape 12"/>
          <p:cNvSpPr/>
          <p:nvPr/>
        </p:nvSpPr>
        <p:spPr>
          <a:xfrm>
            <a:off x="8298485" y="2167128"/>
            <a:ext cx="384048" cy="384048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11" y="2217054"/>
            <a:ext cx="284196" cy="28419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783117" y="21488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完成產出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8353349" y="2743200"/>
            <a:ext cx="303367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含 bbox 標註的 preview 影片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detection 結果 JSON</a:t>
            </a:r>
            <a:endParaRPr lang="en-US" sz="118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2  ·  Python 籃球運動資料分析課程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707105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Notebook 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586130"/>
            <a:ext cx="473659" cy="47365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6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D2 · NOTEBOOK 2 · d2_02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71323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YOLO Players Footpoint 與 BEV 全自動投影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3545738" cy="3931920"/>
          </a:xfrm>
          <a:prstGeom prst="roundRect">
            <a:avLst>
              <a:gd name="adj" fmla="val 2579"/>
            </a:avLst>
          </a:prstGeom>
          <a:solidFill>
            <a:srgbClr val="F2F4F8"/>
          </a:solidFill>
          <a:ln/>
        </p:spPr>
      </p:sp>
      <p:sp>
        <p:nvSpPr>
          <p:cNvPr id="7" name="Shape 4"/>
          <p:cNvSpPr/>
          <p:nvPr/>
        </p:nvSpPr>
        <p:spPr>
          <a:xfrm>
            <a:off x="749808" y="2167128"/>
            <a:ext cx="384048" cy="384048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734" y="2217054"/>
            <a:ext cx="284196" cy="2841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21488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學習目標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04672" y="2743200"/>
            <a:ext cx="303367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從模型輸出的 player bbox 取得 bottom-center footpoint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套用 Day 1 Homography 矩陣做投影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一次觀察所有球員在 BEV 上的相對位置</a:t>
            </a:r>
            <a:endParaRPr lang="en-US" sz="1180" dirty="0"/>
          </a:p>
        </p:txBody>
      </p:sp>
      <p:sp>
        <p:nvSpPr>
          <p:cNvPr id="11" name="Shape 7"/>
          <p:cNvSpPr/>
          <p:nvPr/>
        </p:nvSpPr>
        <p:spPr>
          <a:xfrm>
            <a:off x="4322978" y="1965960"/>
            <a:ext cx="3545738" cy="3931920"/>
          </a:xfrm>
          <a:prstGeom prst="roundRect">
            <a:avLst>
              <a:gd name="adj" fmla="val 2579"/>
            </a:avLst>
          </a:prstGeom>
          <a:solidFill>
            <a:srgbClr val="F2F4F8"/>
          </a:solidFill>
          <a:ln/>
        </p:spPr>
      </p:sp>
      <p:sp>
        <p:nvSpPr>
          <p:cNvPr id="12" name="Shape 8"/>
          <p:cNvSpPr/>
          <p:nvPr/>
        </p:nvSpPr>
        <p:spPr>
          <a:xfrm>
            <a:off x="4524146" y="2167128"/>
            <a:ext cx="384048" cy="384048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4073" y="2217054"/>
            <a:ext cx="284196" cy="2841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08778" y="21488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課程流程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4579010" y="2743200"/>
            <a:ext cx="303367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準備 Day 1 標定好的 Homography pair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對球場 frame 執行一次 YOLO detection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把所有 player footpoint 一次投影到 BEV</a:t>
            </a:r>
            <a:endParaRPr lang="en-US" sz="1180" dirty="0"/>
          </a:p>
        </p:txBody>
      </p:sp>
      <p:sp>
        <p:nvSpPr>
          <p:cNvPr id="16" name="Shape 11"/>
          <p:cNvSpPr/>
          <p:nvPr/>
        </p:nvSpPr>
        <p:spPr>
          <a:xfrm>
            <a:off x="8097317" y="1965960"/>
            <a:ext cx="3545738" cy="3931920"/>
          </a:xfrm>
          <a:prstGeom prst="roundRect">
            <a:avLst>
              <a:gd name="adj" fmla="val 2579"/>
            </a:avLst>
          </a:prstGeom>
          <a:solidFill>
            <a:srgbClr val="F2F4F8"/>
          </a:solidFill>
          <a:ln/>
        </p:spPr>
      </p:sp>
      <p:sp>
        <p:nvSpPr>
          <p:cNvPr id="17" name="Shape 12"/>
          <p:cNvSpPr/>
          <p:nvPr/>
        </p:nvSpPr>
        <p:spPr>
          <a:xfrm>
            <a:off x="8298485" y="2167128"/>
            <a:ext cx="384048" cy="384048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11" y="2217054"/>
            <a:ext cx="284196" cy="28419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783117" y="21488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完成產出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8353349" y="2743200"/>
            <a:ext cx="303367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球員位置 BEV 投影圖</a:t>
            </a:r>
            <a:endParaRPr lang="en-US" sz="118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2  ·  Python 籃球運動資料分析課程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707105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Notebook 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586130"/>
            <a:ext cx="473659" cy="47365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6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D2 · NOTEBOOK 3 · d2_03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71323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Roboflow BBOX Dataset 與 YOLO Detection 訓練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3545738" cy="3931920"/>
          </a:xfrm>
          <a:prstGeom prst="roundRect">
            <a:avLst>
              <a:gd name="adj" fmla="val 2579"/>
            </a:avLst>
          </a:prstGeom>
          <a:solidFill>
            <a:srgbClr val="F2F4F8"/>
          </a:solidFill>
          <a:ln/>
        </p:spPr>
      </p:sp>
      <p:sp>
        <p:nvSpPr>
          <p:cNvPr id="7" name="Shape 4"/>
          <p:cNvSpPr/>
          <p:nvPr/>
        </p:nvSpPr>
        <p:spPr>
          <a:xfrm>
            <a:off x="749808" y="2167128"/>
            <a:ext cx="384048" cy="384048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734" y="2217054"/>
            <a:ext cx="284196" cy="2841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21488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學習目標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04672" y="2743200"/>
            <a:ext cx="303367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 detection dataset 的 data.yaml 與 images/labels 結構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閱讀可執行的 YOLO detection 訓練程式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用已訓練 detector 對參考影片輸出 preview</a:t>
            </a:r>
            <a:endParaRPr lang="en-US" sz="1180" dirty="0"/>
          </a:p>
        </p:txBody>
      </p:sp>
      <p:sp>
        <p:nvSpPr>
          <p:cNvPr id="11" name="Shape 7"/>
          <p:cNvSpPr/>
          <p:nvPr/>
        </p:nvSpPr>
        <p:spPr>
          <a:xfrm>
            <a:off x="4322978" y="1965960"/>
            <a:ext cx="3545738" cy="3931920"/>
          </a:xfrm>
          <a:prstGeom prst="roundRect">
            <a:avLst>
              <a:gd name="adj" fmla="val 2579"/>
            </a:avLst>
          </a:prstGeom>
          <a:solidFill>
            <a:srgbClr val="F2F4F8"/>
          </a:solidFill>
          <a:ln/>
        </p:spPr>
      </p:sp>
      <p:sp>
        <p:nvSpPr>
          <p:cNvPr id="12" name="Shape 8"/>
          <p:cNvSpPr/>
          <p:nvPr/>
        </p:nvSpPr>
        <p:spPr>
          <a:xfrm>
            <a:off x="4524146" y="2167128"/>
            <a:ext cx="384048" cy="384048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4073" y="2217054"/>
            <a:ext cx="284196" cy="2841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08778" y="21488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課程流程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4579010" y="2743200"/>
            <a:ext cx="303367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 roboflow_bbox_yolo/ 的 data.yaml 結構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閱讀（預設不重跑）訓練程式碼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 trained detector 的影片 preview</a:t>
            </a:r>
            <a:endParaRPr lang="en-US" sz="1180" dirty="0"/>
          </a:p>
        </p:txBody>
      </p:sp>
      <p:sp>
        <p:nvSpPr>
          <p:cNvPr id="16" name="Shape 11"/>
          <p:cNvSpPr/>
          <p:nvPr/>
        </p:nvSpPr>
        <p:spPr>
          <a:xfrm>
            <a:off x="8097317" y="1965960"/>
            <a:ext cx="3545738" cy="3931920"/>
          </a:xfrm>
          <a:prstGeom prst="roundRect">
            <a:avLst>
              <a:gd name="adj" fmla="val 2579"/>
            </a:avLst>
          </a:prstGeom>
          <a:solidFill>
            <a:srgbClr val="F2F4F8"/>
          </a:solidFill>
          <a:ln/>
        </p:spPr>
      </p:sp>
      <p:sp>
        <p:nvSpPr>
          <p:cNvPr id="17" name="Shape 12"/>
          <p:cNvSpPr/>
          <p:nvPr/>
        </p:nvSpPr>
        <p:spPr>
          <a:xfrm>
            <a:off x="8298485" y="2167128"/>
            <a:ext cx="384048" cy="384048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11" y="2217054"/>
            <a:ext cx="284196" cy="28419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783117" y="21488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完成產出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8353349" y="2743200"/>
            <a:ext cx="303367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assets/results/training/bbox_detection/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d2_03_trained_detector_preview.mp4</a:t>
            </a:r>
            <a:endParaRPr lang="en-US" sz="118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2  ·  Python 籃球運動資料分析課程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707105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Notebook 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586130"/>
            <a:ext cx="473659" cy="47365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457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622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D2 · NOTEBOOK 4 · d2_04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71323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YOLO Detection、即時場地 Keypoint 與 Homography 整合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3545738" cy="3931920"/>
          </a:xfrm>
          <a:prstGeom prst="roundRect">
            <a:avLst>
              <a:gd name="adj" fmla="val 2579"/>
            </a:avLst>
          </a:prstGeom>
          <a:solidFill>
            <a:srgbClr val="F2F4F8"/>
          </a:solidFill>
          <a:ln/>
        </p:spPr>
      </p:sp>
      <p:sp>
        <p:nvSpPr>
          <p:cNvPr id="7" name="Shape 4"/>
          <p:cNvSpPr/>
          <p:nvPr/>
        </p:nvSpPr>
        <p:spPr>
          <a:xfrm>
            <a:off x="749808" y="2167128"/>
            <a:ext cx="384048" cy="384048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734" y="2217054"/>
            <a:ext cx="284196" cy="2841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21488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學習目標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04672" y="2743200"/>
            <a:ext cx="303367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YOLO detector 取得每個 frame 的 player bbox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用即時場地 keypoint 動態估計每個 frame 的 Homography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footpoint 投影整合成左右並排分析影片</a:t>
            </a:r>
            <a:endParaRPr lang="en-US" sz="1180" dirty="0"/>
          </a:p>
        </p:txBody>
      </p:sp>
      <p:sp>
        <p:nvSpPr>
          <p:cNvPr id="11" name="Shape 7"/>
          <p:cNvSpPr/>
          <p:nvPr/>
        </p:nvSpPr>
        <p:spPr>
          <a:xfrm>
            <a:off x="4322978" y="1965960"/>
            <a:ext cx="3545738" cy="3931920"/>
          </a:xfrm>
          <a:prstGeom prst="roundRect">
            <a:avLst>
              <a:gd name="adj" fmla="val 2579"/>
            </a:avLst>
          </a:prstGeom>
          <a:solidFill>
            <a:srgbClr val="F2F4F8"/>
          </a:solidFill>
          <a:ln/>
        </p:spPr>
      </p:sp>
      <p:sp>
        <p:nvSpPr>
          <p:cNvPr id="12" name="Shape 8"/>
          <p:cNvSpPr/>
          <p:nvPr/>
        </p:nvSpPr>
        <p:spPr>
          <a:xfrm>
            <a:off x="4524146" y="2167128"/>
            <a:ext cx="384048" cy="384048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4073" y="2217054"/>
            <a:ext cx="284196" cy="2841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08778" y="21488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課程流程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4579010" y="2743200"/>
            <a:ext cx="303367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選擇另一支參考影片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對每個 frame 同步做 detection 與即時 keypoint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整合輸出並排分析影片與 JSON</a:t>
            </a:r>
            <a:endParaRPr lang="en-US" sz="1180" dirty="0"/>
          </a:p>
        </p:txBody>
      </p:sp>
      <p:sp>
        <p:nvSpPr>
          <p:cNvPr id="16" name="Shape 11"/>
          <p:cNvSpPr/>
          <p:nvPr/>
        </p:nvSpPr>
        <p:spPr>
          <a:xfrm>
            <a:off x="8097317" y="1965960"/>
            <a:ext cx="3545738" cy="3931920"/>
          </a:xfrm>
          <a:prstGeom prst="roundRect">
            <a:avLst>
              <a:gd name="adj" fmla="val 2579"/>
            </a:avLst>
          </a:prstGeom>
          <a:solidFill>
            <a:srgbClr val="F2F4F8"/>
          </a:solidFill>
          <a:ln/>
        </p:spPr>
      </p:sp>
      <p:sp>
        <p:nvSpPr>
          <p:cNvPr id="17" name="Shape 12"/>
          <p:cNvSpPr/>
          <p:nvPr/>
        </p:nvSpPr>
        <p:spPr>
          <a:xfrm>
            <a:off x="8298485" y="2167128"/>
            <a:ext cx="384048" cy="384048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11" y="2217054"/>
            <a:ext cx="284196" cy="28419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783117" y="2148840"/>
            <a:ext cx="2631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完成產出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8353349" y="2743200"/>
            <a:ext cx="303367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d2_04_detector_keypoint_bev.mp4</a:t>
            </a:r>
            <a:endParaRPr lang="en-US" sz="1180" dirty="0"/>
          </a:p>
          <a:p>
            <a:pPr marL="203200" indent="-2032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對應投影結果 JSON</a:t>
            </a:r>
            <a:endParaRPr lang="en-US" sz="118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2  ·  Python 籃球運動資料分析課程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707105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Notebook 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540410"/>
            <a:ext cx="473659" cy="47365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關鍵名詞速查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2194560"/>
            <a:ext cx="3545738" cy="1600200"/>
          </a:xfrm>
          <a:prstGeom prst="roundRect">
            <a:avLst>
              <a:gd name="adj" fmla="val 5714"/>
            </a:avLst>
          </a:prstGeom>
          <a:solidFill>
            <a:srgbClr val="F2F4F8"/>
          </a:solidFill>
          <a:ln/>
        </p:spPr>
      </p:sp>
      <p:sp>
        <p:nvSpPr>
          <p:cNvPr id="6" name="Shape 3"/>
          <p:cNvSpPr/>
          <p:nvPr/>
        </p:nvSpPr>
        <p:spPr>
          <a:xfrm>
            <a:off x="749808" y="2377440"/>
            <a:ext cx="365760" cy="36576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7" y="2424989"/>
            <a:ext cx="270662" cy="27066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49808" y="2834640"/>
            <a:ext cx="3143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YOLO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749808" y="3218688"/>
            <a:ext cx="31434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一種即時物件偵測模型，一次辨識畫面中多個物體的類別與位置。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322978" y="2194560"/>
            <a:ext cx="3545738" cy="1600200"/>
          </a:xfrm>
          <a:prstGeom prst="roundRect">
            <a:avLst>
              <a:gd name="adj" fmla="val 5714"/>
            </a:avLst>
          </a:prstGeom>
          <a:solidFill>
            <a:srgbClr val="F2F4F8"/>
          </a:solidFill>
          <a:ln/>
        </p:spPr>
      </p:sp>
      <p:sp>
        <p:nvSpPr>
          <p:cNvPr id="11" name="Shape 7"/>
          <p:cNvSpPr/>
          <p:nvPr/>
        </p:nvSpPr>
        <p:spPr>
          <a:xfrm>
            <a:off x="4524146" y="2377440"/>
            <a:ext cx="365760" cy="36576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695" y="2424989"/>
            <a:ext cx="270662" cy="27066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524146" y="2834640"/>
            <a:ext cx="3143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Confidence（信心值）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4524146" y="3218688"/>
            <a:ext cx="31434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模型對這個偵測結果的把握程度，範圍 0～1。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8097317" y="2194560"/>
            <a:ext cx="3545738" cy="1600200"/>
          </a:xfrm>
          <a:prstGeom prst="roundRect">
            <a:avLst>
              <a:gd name="adj" fmla="val 5714"/>
            </a:avLst>
          </a:prstGeom>
          <a:solidFill>
            <a:srgbClr val="F2F4F8"/>
          </a:solidFill>
          <a:ln/>
        </p:spPr>
      </p:sp>
      <p:sp>
        <p:nvSpPr>
          <p:cNvPr id="16" name="Shape 11"/>
          <p:cNvSpPr/>
          <p:nvPr/>
        </p:nvSpPr>
        <p:spPr>
          <a:xfrm>
            <a:off x="8298485" y="2377440"/>
            <a:ext cx="365760" cy="36576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6034" y="2424989"/>
            <a:ext cx="270662" cy="27066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298485" y="2834640"/>
            <a:ext cx="3143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Class（類別）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8298485" y="3218688"/>
            <a:ext cx="31434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偵測到的物體種類，例如 player、ball、referee。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4023360"/>
            <a:ext cx="3545738" cy="1600200"/>
          </a:xfrm>
          <a:prstGeom prst="roundRect">
            <a:avLst>
              <a:gd name="adj" fmla="val 5714"/>
            </a:avLst>
          </a:prstGeom>
          <a:solidFill>
            <a:srgbClr val="F2F4F8"/>
          </a:solidFill>
          <a:ln/>
        </p:spPr>
      </p:sp>
      <p:sp>
        <p:nvSpPr>
          <p:cNvPr id="21" name="Shape 15"/>
          <p:cNvSpPr/>
          <p:nvPr/>
        </p:nvSpPr>
        <p:spPr>
          <a:xfrm>
            <a:off x="749808" y="4206240"/>
            <a:ext cx="365760" cy="36576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57" y="4253789"/>
            <a:ext cx="270662" cy="27066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49808" y="4663440"/>
            <a:ext cx="3143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Inference（推論）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749808" y="5047488"/>
            <a:ext cx="31434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使用已訓練好的模型對新資料做預測，不需再訓練。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322978" y="4023360"/>
            <a:ext cx="3545738" cy="1600200"/>
          </a:xfrm>
          <a:prstGeom prst="roundRect">
            <a:avLst>
              <a:gd name="adj" fmla="val 5714"/>
            </a:avLst>
          </a:prstGeom>
          <a:solidFill>
            <a:srgbClr val="F2F4F8"/>
          </a:solidFill>
          <a:ln/>
        </p:spPr>
      </p:sp>
      <p:sp>
        <p:nvSpPr>
          <p:cNvPr id="26" name="Shape 19"/>
          <p:cNvSpPr/>
          <p:nvPr/>
        </p:nvSpPr>
        <p:spPr>
          <a:xfrm>
            <a:off x="4524146" y="4206240"/>
            <a:ext cx="365760" cy="36576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695" y="4253789"/>
            <a:ext cx="270662" cy="270662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524146" y="4663440"/>
            <a:ext cx="3143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data.yaml</a:t>
            </a:r>
            <a:endParaRPr lang="en-US" sz="1400" dirty="0"/>
          </a:p>
        </p:txBody>
      </p:sp>
      <p:sp>
        <p:nvSpPr>
          <p:cNvPr id="29" name="Text 21"/>
          <p:cNvSpPr txBox="1"/>
          <p:nvPr/>
        </p:nvSpPr>
        <p:spPr>
          <a:xfrm>
            <a:off x="4524146" y="5047488"/>
            <a:ext cx="31434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YOLO 資料集設定檔，記錄類別名稱與 train/valid/test 路徑。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8097317" y="4023360"/>
            <a:ext cx="3545738" cy="1600200"/>
          </a:xfrm>
          <a:prstGeom prst="roundRect">
            <a:avLst>
              <a:gd name="adj" fmla="val 5714"/>
            </a:avLst>
          </a:prstGeom>
          <a:solidFill>
            <a:srgbClr val="F2F4F8"/>
          </a:solidFill>
          <a:ln/>
        </p:spPr>
      </p:sp>
      <p:sp>
        <p:nvSpPr>
          <p:cNvPr id="31" name="Shape 23"/>
          <p:cNvSpPr/>
          <p:nvPr/>
        </p:nvSpPr>
        <p:spPr>
          <a:xfrm>
            <a:off x="8298485" y="4206240"/>
            <a:ext cx="365760" cy="36576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6034" y="4253789"/>
            <a:ext cx="270662" cy="270662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8298485" y="4663440"/>
            <a:ext cx="3143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即時場地 Keypoint</a:t>
            </a:r>
            <a:endParaRPr lang="en-US" sz="1400" dirty="0"/>
          </a:p>
        </p:txBody>
      </p:sp>
      <p:sp>
        <p:nvSpPr>
          <p:cNvPr id="34" name="Text 25"/>
          <p:cNvSpPr txBox="1"/>
          <p:nvPr/>
        </p:nvSpPr>
        <p:spPr>
          <a:xfrm>
            <a:off x="8298485" y="5047488"/>
            <a:ext cx="31434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 frame 重新偵測球場關鍵點，用來即時計算 Homography。</a:t>
            </a:r>
            <a:endParaRPr lang="en-US" sz="1100" dirty="0"/>
          </a:p>
        </p:txBody>
      </p:sp>
      <p:sp>
        <p:nvSpPr>
          <p:cNvPr id="35" name="Text 26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2  ·  Python 籃球運動資料分析課程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707105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關鍵名詞速查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E862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540410"/>
            <a:ext cx="473659" cy="47365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課堂提醒與觀察重點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4415" cy="1076706"/>
          </a:xfrm>
          <a:prstGeom prst="roundRect">
            <a:avLst>
              <a:gd name="adj" fmla="val 8493"/>
            </a:avLst>
          </a:prstGeom>
          <a:solidFill>
            <a:srgbClr val="F2F4F8"/>
          </a:solidFill>
          <a:ln/>
        </p:spPr>
      </p:sp>
      <p:sp>
        <p:nvSpPr>
          <p:cNvPr id="6" name="Shape 3"/>
          <p:cNvSpPr/>
          <p:nvPr/>
        </p:nvSpPr>
        <p:spPr>
          <a:xfrm>
            <a:off x="731520" y="1900809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446" y="1950735"/>
            <a:ext cx="284196" cy="2841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1627632"/>
            <a:ext cx="10088575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如果改用別的球場 frame，要回 Day 1 重新標定 HOMOGRAPHY_PAIR_JSON，不要沿用舊的相機點位。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2795778"/>
            <a:ext cx="11094415" cy="1076706"/>
          </a:xfrm>
          <a:prstGeom prst="roundRect">
            <a:avLst>
              <a:gd name="adj" fmla="val 8493"/>
            </a:avLst>
          </a:prstGeom>
          <a:solidFill>
            <a:srgbClr val="F2F4F8"/>
          </a:solidFill>
          <a:ln/>
        </p:spPr>
      </p:sp>
      <p:sp>
        <p:nvSpPr>
          <p:cNvPr id="10" name="Shape 6"/>
          <p:cNvSpPr/>
          <p:nvPr/>
        </p:nvSpPr>
        <p:spPr>
          <a:xfrm>
            <a:off x="731520" y="3142107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46" y="3192033"/>
            <a:ext cx="284196" cy="2841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25880" y="2868930"/>
            <a:ext cx="10088575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已訓練 detector 權重位置：assets/models/detectors/yolo26n_basketball_player_best.pt。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8640" y="4037076"/>
            <a:ext cx="11094415" cy="1076706"/>
          </a:xfrm>
          <a:prstGeom prst="roundRect">
            <a:avLst>
              <a:gd name="adj" fmla="val 8493"/>
            </a:avLst>
          </a:prstGeom>
          <a:solidFill>
            <a:srgbClr val="F2F4F8"/>
          </a:solidFill>
          <a:ln/>
        </p:spPr>
      </p:sp>
      <p:sp>
        <p:nvSpPr>
          <p:cNvPr id="14" name="Shape 9"/>
          <p:cNvSpPr/>
          <p:nvPr/>
        </p:nvSpPr>
        <p:spPr>
          <a:xfrm>
            <a:off x="731520" y="4383405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446" y="4433331"/>
            <a:ext cx="284196" cy="28419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325880" y="4110228"/>
            <a:ext cx="10088575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訓練輸出會放在 assets/results/training/bbox_detection/。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48640" y="5278374"/>
            <a:ext cx="11094415" cy="1076706"/>
          </a:xfrm>
          <a:prstGeom prst="roundRect">
            <a:avLst>
              <a:gd name="adj" fmla="val 8493"/>
            </a:avLst>
          </a:prstGeom>
          <a:solidFill>
            <a:srgbClr val="F2F4F8"/>
          </a:solidFill>
          <a:ln/>
        </p:spPr>
      </p:sp>
      <p:sp>
        <p:nvSpPr>
          <p:cNvPr id="18" name="Shape 12"/>
          <p:cNvSpPr/>
          <p:nvPr/>
        </p:nvSpPr>
        <p:spPr>
          <a:xfrm>
            <a:off x="731520" y="5624703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446" y="5674629"/>
            <a:ext cx="284196" cy="28419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325880" y="5351526"/>
            <a:ext cx="10088575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本單元輸出的 BEV 點位還沒有跨 frame 的身分（ID），同一位球員在不同 frame 會被當成不同的點——這正是 Day 3 要解決的問題。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2  ·  Python 籃球運動資料分析課程</a:t>
            </a:r>
            <a:endParaRPr lang="en-US" sz="900" dirty="0"/>
          </a:p>
        </p:txBody>
      </p:sp>
      <p:sp>
        <p:nvSpPr>
          <p:cNvPr id="22" name="Text 15"/>
          <p:cNvSpPr txBox="1"/>
          <p:nvPr/>
        </p:nvSpPr>
        <p:spPr>
          <a:xfrm>
            <a:off x="707105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課堂提醒與觀察重點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E862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2 完成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2 完成：球員已經能自動被偵測並投影到 BEV，但還沒有「這是同一個人」的身分。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2B3A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32278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接下來：DAY 3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56616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Day 3 將加入 ByteTrack，讓每個球員在不同 frame 之間都擁有穩定的 track ID。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14984" y="5266944"/>
            <a:ext cx="10161727" cy="0"/>
          </a:xfrm>
          <a:prstGeom prst="line">
            <a:avLst/>
          </a:prstGeom>
          <a:noFill/>
          <a:ln w="19050">
            <a:solidFill>
              <a:srgbClr val="2B3A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5074920"/>
            <a:ext cx="384048" cy="384048"/>
          </a:xfrm>
          <a:prstGeom prst="ellipse">
            <a:avLst/>
          </a:prstGeom>
          <a:solidFill>
            <a:srgbClr val="CBD5E6"/>
          </a:solidFill>
          <a:ln w="15875">
            <a:solidFill>
              <a:srgbClr val="CBD5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29184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座標定位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63392" y="5074920"/>
            <a:ext cx="384048" cy="384048"/>
          </a:xfrm>
          <a:prstGeom prst="ellipse">
            <a:avLst/>
          </a:prstGeom>
          <a:solidFill>
            <a:srgbClr val="E8622D"/>
          </a:solidFill>
          <a:ln w="15875">
            <a:solidFill>
              <a:srgbClr val="E8622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63392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869616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物件偵測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03824" y="5074920"/>
            <a:ext cx="384048" cy="384048"/>
          </a:xfrm>
          <a:prstGeom prst="ellipse">
            <a:avLst/>
          </a:prstGeom>
          <a:solidFill>
            <a:srgbClr val="1C2541"/>
          </a:solidFill>
          <a:ln w="15875">
            <a:solidFill>
              <a:srgbClr val="CBD5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03824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10048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追蹤系統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444255" y="5074920"/>
            <a:ext cx="384048" cy="384048"/>
          </a:xfrm>
          <a:prstGeom prst="ellipse">
            <a:avLst/>
          </a:prstGeom>
          <a:solidFill>
            <a:srgbClr val="1C2541"/>
          </a:solidFill>
          <a:ln w="15875">
            <a:solidFill>
              <a:srgbClr val="CBD5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44255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0479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姿態軌跡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984687" y="5074920"/>
            <a:ext cx="384048" cy="384048"/>
          </a:xfrm>
          <a:prstGeom prst="ellipse">
            <a:avLst/>
          </a:prstGeom>
          <a:solidFill>
            <a:srgbClr val="1C2541"/>
          </a:solidFill>
          <a:ln w="15875">
            <a:solidFill>
              <a:srgbClr val="CBD5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984687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490911" y="5532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整合展示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Python 籃球運動資料分析課程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 課程簡報</dc:title>
  <dc:subject>PptxGenJS Presentation</dc:subject>
  <dc:creator>Python 籃球運動資料分析課程</dc:creator>
  <cp:lastModifiedBy>Python 籃球運動資料分析課程</cp:lastModifiedBy>
  <cp:revision>1</cp:revision>
  <dcterms:created xsi:type="dcterms:W3CDTF">2026-08-26T19:45:19Z</dcterms:created>
  <dcterms:modified xsi:type="dcterms:W3CDTF">2026-08-26T19:45:19Z</dcterms:modified>
</cp:coreProperties>
</file>